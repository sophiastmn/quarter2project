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5"/>
    <p:sldMasterId id="2147483694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</p:sldIdLst>
  <p:sldSz cy="5143500" cx="9144000"/>
  <p:notesSz cx="6858000" cy="9144000"/>
  <p:embeddedFontLst>
    <p:embeddedFont>
      <p:font typeface="DM Sans Medium"/>
      <p:regular r:id="rId55"/>
      <p:bold r:id="rId56"/>
      <p:italic r:id="rId57"/>
      <p:boldItalic r:id="rId58"/>
    </p:embeddedFont>
    <p:embeddedFont>
      <p:font typeface="Chakra Petch Medium"/>
      <p:regular r:id="rId59"/>
      <p:bold r:id="rId60"/>
      <p:italic r:id="rId61"/>
      <p:boldItalic r:id="rId62"/>
    </p:embeddedFont>
    <p:embeddedFont>
      <p:font typeface="Chakra Petch SemiBold"/>
      <p:regular r:id="rId63"/>
      <p:bold r:id="rId64"/>
      <p:italic r:id="rId65"/>
      <p:boldItalic r:id="rId66"/>
    </p:embeddedFont>
    <p:embeddedFont>
      <p:font typeface="Chakra Petch"/>
      <p:regular r:id="rId67"/>
      <p:bold r:id="rId68"/>
      <p:italic r:id="rId69"/>
      <p:boldItalic r:id="rId70"/>
    </p:embeddedFont>
    <p:embeddedFont>
      <p:font typeface="DM Sans"/>
      <p:regular r:id="rId71"/>
      <p:bold r:id="rId72"/>
      <p:italic r:id="rId73"/>
      <p:boldItalic r:id="rId7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ABB4C81-0042-400D-8A47-4D123343D0ED}">
  <a:tblStyle styleId="{CABB4C81-0042-400D-8A47-4D123343D0E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2359C1C3-1BB7-4A5B-A511-6342B78CC91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3" Type="http://schemas.openxmlformats.org/officeDocument/2006/relationships/font" Target="fonts/DMSans-italic.fntdata"/><Relationship Id="rId72" Type="http://schemas.openxmlformats.org/officeDocument/2006/relationships/font" Target="fonts/DMSans-bold.fntdata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74" Type="http://schemas.openxmlformats.org/officeDocument/2006/relationships/font" Target="fonts/DMSans-boldItalic.fntdata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71" Type="http://schemas.openxmlformats.org/officeDocument/2006/relationships/font" Target="fonts/DMSans-regular.fntdata"/><Relationship Id="rId70" Type="http://schemas.openxmlformats.org/officeDocument/2006/relationships/font" Target="fonts/ChakraPetch-boldItalic.fntdata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font" Target="fonts/ChakraPetchMedium-boldItalic.fntdata"/><Relationship Id="rId61" Type="http://schemas.openxmlformats.org/officeDocument/2006/relationships/font" Target="fonts/ChakraPetchMedium-italic.fntdata"/><Relationship Id="rId20" Type="http://schemas.openxmlformats.org/officeDocument/2006/relationships/slide" Target="slides/slide13.xml"/><Relationship Id="rId64" Type="http://schemas.openxmlformats.org/officeDocument/2006/relationships/font" Target="fonts/ChakraPetchSemiBold-bold.fntdata"/><Relationship Id="rId63" Type="http://schemas.openxmlformats.org/officeDocument/2006/relationships/font" Target="fonts/ChakraPetchSemiBold-regular.fntdata"/><Relationship Id="rId22" Type="http://schemas.openxmlformats.org/officeDocument/2006/relationships/slide" Target="slides/slide15.xml"/><Relationship Id="rId66" Type="http://schemas.openxmlformats.org/officeDocument/2006/relationships/font" Target="fonts/ChakraPetchSemiBold-boldItalic.fntdata"/><Relationship Id="rId21" Type="http://schemas.openxmlformats.org/officeDocument/2006/relationships/slide" Target="slides/slide14.xml"/><Relationship Id="rId65" Type="http://schemas.openxmlformats.org/officeDocument/2006/relationships/font" Target="fonts/ChakraPetchSemiBold-italic.fntdata"/><Relationship Id="rId24" Type="http://schemas.openxmlformats.org/officeDocument/2006/relationships/slide" Target="slides/slide17.xml"/><Relationship Id="rId68" Type="http://schemas.openxmlformats.org/officeDocument/2006/relationships/font" Target="fonts/ChakraPetch-bold.fntdata"/><Relationship Id="rId23" Type="http://schemas.openxmlformats.org/officeDocument/2006/relationships/slide" Target="slides/slide16.xml"/><Relationship Id="rId67" Type="http://schemas.openxmlformats.org/officeDocument/2006/relationships/font" Target="fonts/ChakraPetch-regular.fntdata"/><Relationship Id="rId60" Type="http://schemas.openxmlformats.org/officeDocument/2006/relationships/font" Target="fonts/ChakraPetchMedium-bold.fntdata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69" Type="http://schemas.openxmlformats.org/officeDocument/2006/relationships/font" Target="fonts/ChakraPetch-italic.fntdata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font" Target="fonts/DMSansMedium-regular.fntdata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schemas.openxmlformats.org/officeDocument/2006/relationships/font" Target="fonts/DMSansMedium-italic.fntdata"/><Relationship Id="rId12" Type="http://schemas.openxmlformats.org/officeDocument/2006/relationships/slide" Target="slides/slide5.xml"/><Relationship Id="rId56" Type="http://schemas.openxmlformats.org/officeDocument/2006/relationships/font" Target="fonts/DMSansMedium-bold.fntdata"/><Relationship Id="rId15" Type="http://schemas.openxmlformats.org/officeDocument/2006/relationships/slide" Target="slides/slide8.xml"/><Relationship Id="rId59" Type="http://schemas.openxmlformats.org/officeDocument/2006/relationships/font" Target="fonts/ChakraPetchMedium-regular.fntdata"/><Relationship Id="rId14" Type="http://schemas.openxmlformats.org/officeDocument/2006/relationships/slide" Target="slides/slide7.xml"/><Relationship Id="rId58" Type="http://schemas.openxmlformats.org/officeDocument/2006/relationships/font" Target="fonts/DMSansMedium-boldItalic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b48ec8f198_0_1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b48ec8f198_0_1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b48ec8f198_0_16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b48ec8f198_0_16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Summer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b71fba861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b71fba861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b5ba8cb535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3b5ba8cb535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b7d10aae8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b7d10aae8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Sophia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b8c4003ab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b8c4003ab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b5bf329c3d_0_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3b5bf329c3d_0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b5bf329c3d_1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b5bf329c3d_1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Sophia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b5bf329c3d_1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3b5bf329c3d_1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b48ec8f198_0_16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b48ec8f198_0_16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Summer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b48ec8f198_0_16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3b48ec8f198_0_1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Summer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b5bf329c3d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3b5bf329c3d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b619de678c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3b619de678c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Sophia - Speak about how to add more attributes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b619de678c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3b619de678c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b48ec8f198_0_16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3b48ec8f198_0_16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Summer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b62410a95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3b62410a95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b619de678c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3b619de678c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Sophia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b48ec8f198_0_16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3b48ec8f198_0_16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b619de678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3b619de678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b619de678c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3b619de678c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b619de678c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3b619de678c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Summer - All the ones with OneR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3b619de678c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7" name="Google Shape;687;g3b619de678c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3b619de678c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9" name="Google Shape;709;g3b619de678c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3b619de678c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6" name="Google Shape;736;g3b619de678c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3b619de678c_0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7" name="Google Shape;797;g3b619de678c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Sophia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3b619de678c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3" name="Google Shape;803;g3b619de678c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3b619de678c_0_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0" name="Google Shape;830;g3b619de678c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3b619de678c_0_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2" name="Google Shape;862;g3b619de678c_0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g3b606caadf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2" name="Google Shape;902;g3b606caadf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Summer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3b62410a954_2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7" name="Google Shape;907;g3b62410a954_2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3b619de678c_0_4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4" name="Google Shape;944;g3b619de678c_0_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3b62410a954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2" name="Google Shape;952;g3b62410a954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g3b62410a954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5" name="Google Shape;985;g3b62410a954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g3b62410a954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2" name="Google Shape;992;g3b62410a95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g3b62410a954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5" name="Google Shape;1025;g3b62410a954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3b62410a954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3" name="Google Shape;1033;g3b62410a954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Sophia</a:t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g3b48ec8f198_0_17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8" name="Google Shape;1038;g3b48ec8f198_0_17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g3b63837250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2" name="Google Shape;1112;g3b63837250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Summer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g3b606caadf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2" name="Google Shape;1142;g3b606caadf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7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g3b48ec8f198_0_17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9" name="Google Shape;1149;g3b48ec8f198_0_17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g3b48ec8f198_0_17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2" name="Google Shape;1162;g3b48ec8f198_0_17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Sophia</a:t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g3b48ec8f198_0_17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7" name="Google Shape;1167;g3b48ec8f198_0_17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3b6884ab42b_4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3b6884ab42b_4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g3b48ec8f198_0_17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3" name="Google Shape;1183;g3b48ec8f198_0_17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g3b4a4bc058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9" name="Google Shape;1189;g3b4a4bc058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g3b62410a954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5" name="Google Shape;1195;g3b62410a954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g3b619de678c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0" name="Google Shape;1200;g3b619de678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5" name="Google Shape;65;p1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6" name="Google Shape;66;p1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7350" lvl="0" marL="45720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indent="-387350" lvl="1" marL="91440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2pPr>
            <a:lvl3pPr indent="-387350" lvl="2" marL="137160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3pPr>
            <a:lvl4pPr indent="-387350" lvl="3" marL="182880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4pPr>
            <a:lvl5pPr indent="-387350" lvl="4" marL="228600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5pPr>
            <a:lvl6pPr indent="-387350" lvl="5" marL="274320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6pPr>
            <a:lvl7pPr indent="-387350" lvl="6" marL="320040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7pPr>
            <a:lvl8pPr indent="-387350" lvl="7" marL="365760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8pPr>
            <a:lvl9pPr indent="-387350" lvl="8" marL="411480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slide" type="title">
  <p:cSld name="TITLE">
    <p:bg>
      <p:bgPr>
        <a:solidFill>
          <a:schemeClr val="lt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/>
          <p:nvPr/>
        </p:nvSpPr>
        <p:spPr>
          <a:xfrm flipH="1">
            <a:off x="365550" y="363450"/>
            <a:ext cx="8412900" cy="4416600"/>
          </a:xfrm>
          <a:prstGeom prst="snip2DiagRect">
            <a:avLst>
              <a:gd fmla="val 0" name="adj1"/>
              <a:gd fmla="val 31816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0" name="Google Shape;70;p17"/>
          <p:cNvSpPr txBox="1"/>
          <p:nvPr>
            <p:ph type="ctrTitle"/>
          </p:nvPr>
        </p:nvSpPr>
        <p:spPr>
          <a:xfrm>
            <a:off x="1765375" y="363450"/>
            <a:ext cx="5614500" cy="33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0"/>
              <a:buFont typeface="Chakra Petch SemiBold"/>
              <a:buNone/>
              <a:defRPr sz="9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0"/>
              <a:buFont typeface="Chakra Petch SemiBold"/>
              <a:buNone/>
              <a:defRPr sz="9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0"/>
              <a:buFont typeface="Chakra Petch SemiBold"/>
              <a:buNone/>
              <a:defRPr sz="9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0"/>
              <a:buFont typeface="Chakra Petch SemiBold"/>
              <a:buNone/>
              <a:defRPr sz="9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0"/>
              <a:buFont typeface="Chakra Petch SemiBold"/>
              <a:buNone/>
              <a:defRPr sz="9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0"/>
              <a:buFont typeface="Chakra Petch SemiBold"/>
              <a:buNone/>
              <a:defRPr sz="9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0"/>
              <a:buFont typeface="Chakra Petch SemiBold"/>
              <a:buNone/>
              <a:defRPr sz="9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0"/>
              <a:buFont typeface="Chakra Petch SemiBold"/>
              <a:buNone/>
              <a:defRPr sz="9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0"/>
              <a:buFont typeface="Chakra Petch SemiBold"/>
              <a:buNone/>
              <a:defRPr sz="9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71" name="Google Shape;71;p17"/>
          <p:cNvSpPr txBox="1"/>
          <p:nvPr>
            <p:ph idx="1" type="subTitle"/>
          </p:nvPr>
        </p:nvSpPr>
        <p:spPr>
          <a:xfrm>
            <a:off x="1765375" y="4137750"/>
            <a:ext cx="5614500" cy="4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DM Sans Medium"/>
              <a:buNone/>
              <a:defRPr sz="3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DM Sans Medium"/>
              <a:buNone/>
              <a:defRPr sz="3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DM Sans Medium"/>
              <a:buNone/>
              <a:defRPr sz="3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DM Sans Medium"/>
              <a:buNone/>
              <a:defRPr sz="3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DM Sans Medium"/>
              <a:buNone/>
              <a:defRPr sz="3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DM Sans Medium"/>
              <a:buNone/>
              <a:defRPr sz="3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DM Sans Medium"/>
              <a:buNone/>
              <a:defRPr sz="3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DM Sans Medium"/>
              <a:buNone/>
              <a:defRPr sz="3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DM Sans Medium"/>
              <a:buNone/>
              <a:defRPr sz="3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72" name="Google Shape;72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with headers" type="secHead">
  <p:cSld name="SECTION_HEAD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5" name="Google Shape;75;p18"/>
          <p:cNvSpPr/>
          <p:nvPr/>
        </p:nvSpPr>
        <p:spPr>
          <a:xfrm>
            <a:off x="365550" y="363450"/>
            <a:ext cx="8412900" cy="4416600"/>
          </a:xfrm>
          <a:prstGeom prst="snip2DiagRect">
            <a:avLst>
              <a:gd fmla="val 0" name="adj1"/>
              <a:gd fmla="val 20836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6" name="Google Shape;76;p18"/>
          <p:cNvSpPr txBox="1"/>
          <p:nvPr>
            <p:ph type="title"/>
          </p:nvPr>
        </p:nvSpPr>
        <p:spPr>
          <a:xfrm>
            <a:off x="1127850" y="1691230"/>
            <a:ext cx="6885300" cy="81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7" name="Google Shape;77;p18"/>
          <p:cNvSpPr txBox="1"/>
          <p:nvPr>
            <p:ph idx="1" type="body"/>
          </p:nvPr>
        </p:nvSpPr>
        <p:spPr>
          <a:xfrm>
            <a:off x="1127850" y="2491658"/>
            <a:ext cx="6885300" cy="9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" name="Google Shape;78;p18"/>
          <p:cNvSpPr txBox="1"/>
          <p:nvPr>
            <p:ph idx="2" type="subTitle"/>
          </p:nvPr>
        </p:nvSpPr>
        <p:spPr>
          <a:xfrm>
            <a:off x="4417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79" name="Google Shape;79;p18"/>
          <p:cNvSpPr txBox="1"/>
          <p:nvPr>
            <p:ph idx="3" type="subTitle"/>
          </p:nvPr>
        </p:nvSpPr>
        <p:spPr>
          <a:xfrm>
            <a:off x="28372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80" name="Google Shape;80;p18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 with headers" type="tx">
  <p:cSld name="TITLE_AND_BODY">
    <p:bg>
      <p:bgPr>
        <a:solidFill>
          <a:schemeClr val="dk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p19"/>
          <p:cNvGrpSpPr/>
          <p:nvPr/>
        </p:nvGrpSpPr>
        <p:grpSpPr>
          <a:xfrm>
            <a:off x="0" y="0"/>
            <a:ext cx="9144000" cy="5130000"/>
            <a:chOff x="0" y="0"/>
            <a:chExt cx="9144000" cy="5130000"/>
          </a:xfrm>
        </p:grpSpPr>
        <p:sp>
          <p:nvSpPr>
            <p:cNvPr id="83" name="Google Shape;83;p19"/>
            <p:cNvSpPr/>
            <p:nvPr/>
          </p:nvSpPr>
          <p:spPr>
            <a:xfrm flipH="1">
              <a:off x="175600" y="250800"/>
              <a:ext cx="8603100" cy="4529400"/>
            </a:xfrm>
            <a:prstGeom prst="snip2DiagRect">
              <a:avLst>
                <a:gd fmla="val 0" name="adj1"/>
                <a:gd fmla="val 20836" name="adj2"/>
              </a:avLst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grpSp>
          <p:nvGrpSpPr>
            <p:cNvPr id="84" name="Google Shape;84;p19"/>
            <p:cNvGrpSpPr/>
            <p:nvPr/>
          </p:nvGrpSpPr>
          <p:grpSpPr>
            <a:xfrm>
              <a:off x="0" y="0"/>
              <a:ext cx="9144000" cy="5130000"/>
              <a:chOff x="0" y="0"/>
              <a:chExt cx="9144000" cy="5130000"/>
            </a:xfrm>
          </p:grpSpPr>
          <p:sp>
            <p:nvSpPr>
              <p:cNvPr id="85" name="Google Shape;85;p19"/>
              <p:cNvSpPr/>
              <p:nvPr/>
            </p:nvSpPr>
            <p:spPr>
              <a:xfrm>
                <a:off x="0" y="0"/>
                <a:ext cx="1425000" cy="1244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86" name="Google Shape;86;p19"/>
              <p:cNvSpPr/>
              <p:nvPr/>
            </p:nvSpPr>
            <p:spPr>
              <a:xfrm>
                <a:off x="0" y="0"/>
                <a:ext cx="9144000" cy="363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87" name="Google Shape;87;p19"/>
              <p:cNvSpPr/>
              <p:nvPr/>
            </p:nvSpPr>
            <p:spPr>
              <a:xfrm rot="5400000">
                <a:off x="-2383200" y="2383200"/>
                <a:ext cx="5130000" cy="363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</p:grpSp>
      <p:sp>
        <p:nvSpPr>
          <p:cNvPr id="88" name="Google Shape;88;p19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" name="Google Shape;89;p19"/>
          <p:cNvSpPr txBox="1"/>
          <p:nvPr>
            <p:ph idx="1" type="subTitle"/>
          </p:nvPr>
        </p:nvSpPr>
        <p:spPr>
          <a:xfrm>
            <a:off x="4417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90" name="Google Shape;90;p19"/>
          <p:cNvSpPr txBox="1"/>
          <p:nvPr>
            <p:ph idx="2" type="subTitle"/>
          </p:nvPr>
        </p:nvSpPr>
        <p:spPr>
          <a:xfrm>
            <a:off x="28372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91" name="Google Shape;91;p19"/>
          <p:cNvSpPr txBox="1"/>
          <p:nvPr>
            <p:ph type="title"/>
          </p:nvPr>
        </p:nvSpPr>
        <p:spPr>
          <a:xfrm>
            <a:off x="232050" y="2112300"/>
            <a:ext cx="8321100" cy="265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estion Text Only" type="twoColTx">
  <p:cSld name="TITLE_AND_TWO_COLUMNS">
    <p:bg>
      <p:bgPr>
        <a:solidFill>
          <a:schemeClr val="lt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4" name="Google Shape;94;p20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5" name="Google Shape;95;p20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" name="Google Shape;96;p20"/>
          <p:cNvSpPr txBox="1"/>
          <p:nvPr>
            <p:ph idx="1" type="subTitle"/>
          </p:nvPr>
        </p:nvSpPr>
        <p:spPr>
          <a:xfrm>
            <a:off x="4417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97" name="Google Shape;97;p20"/>
          <p:cNvSpPr txBox="1"/>
          <p:nvPr>
            <p:ph idx="2" type="subTitle"/>
          </p:nvPr>
        </p:nvSpPr>
        <p:spPr>
          <a:xfrm>
            <a:off x="28372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98" name="Google Shape;98;p20"/>
          <p:cNvSpPr txBox="1"/>
          <p:nvPr>
            <p:ph type="title"/>
          </p:nvPr>
        </p:nvSpPr>
        <p:spPr>
          <a:xfrm>
            <a:off x="365625" y="794973"/>
            <a:ext cx="84126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9" name="Google Shape;99;p20"/>
          <p:cNvSpPr txBox="1"/>
          <p:nvPr>
            <p:ph idx="3" type="body"/>
          </p:nvPr>
        </p:nvSpPr>
        <p:spPr>
          <a:xfrm>
            <a:off x="1022850" y="1693125"/>
            <a:ext cx="76443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00" name="Google Shape;100;p20"/>
          <p:cNvCxnSpPr/>
          <p:nvPr/>
        </p:nvCxnSpPr>
        <p:spPr>
          <a:xfrm>
            <a:off x="478850" y="2307175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" name="Google Shape;101;p20"/>
          <p:cNvCxnSpPr/>
          <p:nvPr/>
        </p:nvCxnSpPr>
        <p:spPr>
          <a:xfrm>
            <a:off x="476850" y="1693125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" name="Google Shape;102;p20"/>
          <p:cNvCxnSpPr/>
          <p:nvPr/>
        </p:nvCxnSpPr>
        <p:spPr>
          <a:xfrm>
            <a:off x="479100" y="2921234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" name="Google Shape;103;p20"/>
          <p:cNvCxnSpPr/>
          <p:nvPr/>
        </p:nvCxnSpPr>
        <p:spPr>
          <a:xfrm>
            <a:off x="479100" y="3535292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" name="Google Shape;104;p20"/>
          <p:cNvCxnSpPr/>
          <p:nvPr/>
        </p:nvCxnSpPr>
        <p:spPr>
          <a:xfrm>
            <a:off x="479100" y="4149350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" name="Google Shape;105;p20"/>
          <p:cNvSpPr txBox="1"/>
          <p:nvPr>
            <p:ph idx="4" type="body"/>
          </p:nvPr>
        </p:nvSpPr>
        <p:spPr>
          <a:xfrm>
            <a:off x="1022850" y="2307163"/>
            <a:ext cx="76443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6" name="Google Shape;106;p20"/>
          <p:cNvSpPr txBox="1"/>
          <p:nvPr>
            <p:ph idx="5" type="body"/>
          </p:nvPr>
        </p:nvSpPr>
        <p:spPr>
          <a:xfrm>
            <a:off x="1022850" y="2921225"/>
            <a:ext cx="76443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7" name="Google Shape;107;p20"/>
          <p:cNvSpPr txBox="1"/>
          <p:nvPr>
            <p:ph idx="6" type="body"/>
          </p:nvPr>
        </p:nvSpPr>
        <p:spPr>
          <a:xfrm>
            <a:off x="1022850" y="3535325"/>
            <a:ext cx="76443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8" name="Google Shape;108;p20"/>
          <p:cNvSpPr txBox="1"/>
          <p:nvPr>
            <p:ph idx="7" type="body"/>
          </p:nvPr>
        </p:nvSpPr>
        <p:spPr>
          <a:xfrm>
            <a:off x="1022850" y="4149450"/>
            <a:ext cx="76443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nswer Text Only" type="titleOnly">
  <p:cSld name="TITLE_ONLY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111" name="Google Shape;111;p21"/>
          <p:cNvCxnSpPr/>
          <p:nvPr/>
        </p:nvCxnSpPr>
        <p:spPr>
          <a:xfrm>
            <a:off x="476850" y="2306550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" name="Google Shape;112;p21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3" name="Google Shape;113;p21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4" name="Google Shape;114;p21"/>
          <p:cNvSpPr txBox="1"/>
          <p:nvPr>
            <p:ph type="title"/>
          </p:nvPr>
        </p:nvSpPr>
        <p:spPr>
          <a:xfrm>
            <a:off x="365625" y="794973"/>
            <a:ext cx="84126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9pPr>
          </a:lstStyle>
          <a:p/>
        </p:txBody>
      </p:sp>
      <p:sp>
        <p:nvSpPr>
          <p:cNvPr id="115" name="Google Shape;115;p21"/>
          <p:cNvSpPr txBox="1"/>
          <p:nvPr>
            <p:ph idx="1" type="subTitle"/>
          </p:nvPr>
        </p:nvSpPr>
        <p:spPr>
          <a:xfrm>
            <a:off x="4417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116" name="Google Shape;116;p21"/>
          <p:cNvSpPr txBox="1"/>
          <p:nvPr>
            <p:ph idx="2" type="subTitle"/>
          </p:nvPr>
        </p:nvSpPr>
        <p:spPr>
          <a:xfrm>
            <a:off x="28372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3" type="body"/>
          </p:nvPr>
        </p:nvSpPr>
        <p:spPr>
          <a:xfrm>
            <a:off x="478875" y="2398656"/>
            <a:ext cx="8190300" cy="4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sp>
        <p:nvSpPr>
          <p:cNvPr id="118" name="Google Shape;118;p21"/>
          <p:cNvSpPr txBox="1"/>
          <p:nvPr>
            <p:ph idx="4" type="subTitle"/>
          </p:nvPr>
        </p:nvSpPr>
        <p:spPr>
          <a:xfrm>
            <a:off x="478863" y="1785900"/>
            <a:ext cx="21672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estion Text + 1 Image">
  <p:cSld name="TITLE_AND_TWO_COLUMNS_1"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1" name="Google Shape;121;p22"/>
          <p:cNvSpPr/>
          <p:nvPr>
            <p:ph idx="2" type="pic"/>
          </p:nvPr>
        </p:nvSpPr>
        <p:spPr>
          <a:xfrm rot="10800000">
            <a:off x="474125" y="1837225"/>
            <a:ext cx="2661000" cy="28347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2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3" name="Google Shape;123;p22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2"/>
          <p:cNvSpPr txBox="1"/>
          <p:nvPr>
            <p:ph idx="1" type="subTitle"/>
          </p:nvPr>
        </p:nvSpPr>
        <p:spPr>
          <a:xfrm>
            <a:off x="4417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125" name="Google Shape;125;p22"/>
          <p:cNvSpPr txBox="1"/>
          <p:nvPr>
            <p:ph idx="3" type="subTitle"/>
          </p:nvPr>
        </p:nvSpPr>
        <p:spPr>
          <a:xfrm>
            <a:off x="28372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126" name="Google Shape;126;p22"/>
          <p:cNvSpPr txBox="1"/>
          <p:nvPr>
            <p:ph type="title"/>
          </p:nvPr>
        </p:nvSpPr>
        <p:spPr>
          <a:xfrm>
            <a:off x="365625" y="794973"/>
            <a:ext cx="84126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27" name="Google Shape;127;p22"/>
          <p:cNvCxnSpPr/>
          <p:nvPr/>
        </p:nvCxnSpPr>
        <p:spPr>
          <a:xfrm>
            <a:off x="476850" y="1693125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" name="Google Shape;128;p22"/>
          <p:cNvCxnSpPr/>
          <p:nvPr/>
        </p:nvCxnSpPr>
        <p:spPr>
          <a:xfrm>
            <a:off x="3239550" y="2306550"/>
            <a:ext cx="54276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" name="Google Shape;129;p22"/>
          <p:cNvCxnSpPr/>
          <p:nvPr/>
        </p:nvCxnSpPr>
        <p:spPr>
          <a:xfrm>
            <a:off x="3239550" y="2919833"/>
            <a:ext cx="54276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" name="Google Shape;130;p22"/>
          <p:cNvCxnSpPr/>
          <p:nvPr/>
        </p:nvCxnSpPr>
        <p:spPr>
          <a:xfrm>
            <a:off x="3239550" y="3533117"/>
            <a:ext cx="54276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" name="Google Shape;131;p22"/>
          <p:cNvCxnSpPr/>
          <p:nvPr/>
        </p:nvCxnSpPr>
        <p:spPr>
          <a:xfrm>
            <a:off x="3239550" y="4146400"/>
            <a:ext cx="54276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" name="Google Shape;132;p22"/>
          <p:cNvSpPr txBox="1"/>
          <p:nvPr>
            <p:ph idx="4" type="body"/>
          </p:nvPr>
        </p:nvSpPr>
        <p:spPr>
          <a:xfrm>
            <a:off x="3600750" y="1693125"/>
            <a:ext cx="50664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3" name="Google Shape;133;p22"/>
          <p:cNvSpPr txBox="1"/>
          <p:nvPr>
            <p:ph idx="5" type="body"/>
          </p:nvPr>
        </p:nvSpPr>
        <p:spPr>
          <a:xfrm>
            <a:off x="3600750" y="2307163"/>
            <a:ext cx="50664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4" name="Google Shape;134;p22"/>
          <p:cNvSpPr txBox="1"/>
          <p:nvPr>
            <p:ph idx="6" type="body"/>
          </p:nvPr>
        </p:nvSpPr>
        <p:spPr>
          <a:xfrm>
            <a:off x="3600750" y="2921225"/>
            <a:ext cx="50664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5" name="Google Shape;135;p22"/>
          <p:cNvSpPr txBox="1"/>
          <p:nvPr>
            <p:ph idx="7" type="body"/>
          </p:nvPr>
        </p:nvSpPr>
        <p:spPr>
          <a:xfrm>
            <a:off x="3600750" y="3535325"/>
            <a:ext cx="50664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6" name="Google Shape;136;p22"/>
          <p:cNvSpPr txBox="1"/>
          <p:nvPr>
            <p:ph idx="8" type="body"/>
          </p:nvPr>
        </p:nvSpPr>
        <p:spPr>
          <a:xfrm>
            <a:off x="3600750" y="4149450"/>
            <a:ext cx="50664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nswer Text + 1 Image">
  <p:cSld name="TITLE_ONLY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9" name="Google Shape;139;p23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0" name="Google Shape;140;p23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23"/>
          <p:cNvSpPr txBox="1"/>
          <p:nvPr>
            <p:ph idx="1" type="subTitle"/>
          </p:nvPr>
        </p:nvSpPr>
        <p:spPr>
          <a:xfrm>
            <a:off x="4417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142" name="Google Shape;142;p23"/>
          <p:cNvSpPr txBox="1"/>
          <p:nvPr>
            <p:ph idx="2" type="subTitle"/>
          </p:nvPr>
        </p:nvSpPr>
        <p:spPr>
          <a:xfrm>
            <a:off x="28372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143" name="Google Shape;143;p23"/>
          <p:cNvSpPr txBox="1"/>
          <p:nvPr>
            <p:ph type="title"/>
          </p:nvPr>
        </p:nvSpPr>
        <p:spPr>
          <a:xfrm>
            <a:off x="365625" y="794973"/>
            <a:ext cx="84126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9pPr>
          </a:lstStyle>
          <a:p/>
        </p:txBody>
      </p:sp>
      <p:cxnSp>
        <p:nvCxnSpPr>
          <p:cNvPr id="144" name="Google Shape;144;p23"/>
          <p:cNvCxnSpPr/>
          <p:nvPr/>
        </p:nvCxnSpPr>
        <p:spPr>
          <a:xfrm>
            <a:off x="476850" y="1693125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" name="Google Shape;145;p23"/>
          <p:cNvCxnSpPr/>
          <p:nvPr/>
        </p:nvCxnSpPr>
        <p:spPr>
          <a:xfrm>
            <a:off x="4695450" y="2306550"/>
            <a:ext cx="39717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" name="Google Shape;146;p23"/>
          <p:cNvSpPr/>
          <p:nvPr>
            <p:ph idx="3" type="pic"/>
          </p:nvPr>
        </p:nvSpPr>
        <p:spPr>
          <a:xfrm rot="10800000">
            <a:off x="474125" y="1837225"/>
            <a:ext cx="2661000" cy="28347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47" name="Google Shape;147;p23"/>
          <p:cNvCxnSpPr/>
          <p:nvPr/>
        </p:nvCxnSpPr>
        <p:spPr>
          <a:xfrm>
            <a:off x="3239550" y="2306550"/>
            <a:ext cx="54276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" name="Google Shape;148;p23"/>
          <p:cNvSpPr txBox="1"/>
          <p:nvPr>
            <p:ph idx="4" type="body"/>
          </p:nvPr>
        </p:nvSpPr>
        <p:spPr>
          <a:xfrm>
            <a:off x="3242173" y="2398650"/>
            <a:ext cx="5427600" cy="4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sp>
        <p:nvSpPr>
          <p:cNvPr id="149" name="Google Shape;149;p23"/>
          <p:cNvSpPr txBox="1"/>
          <p:nvPr>
            <p:ph idx="5" type="subTitle"/>
          </p:nvPr>
        </p:nvSpPr>
        <p:spPr>
          <a:xfrm>
            <a:off x="3242158" y="1785900"/>
            <a:ext cx="21672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estion Text + 2 Images">
  <p:cSld name="TITLE_AND_TWO_COLUMNS_1_1"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2" name="Google Shape;152;p24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3" name="Google Shape;153;p24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4" name="Google Shape;154;p24"/>
          <p:cNvSpPr txBox="1"/>
          <p:nvPr>
            <p:ph idx="1" type="subTitle"/>
          </p:nvPr>
        </p:nvSpPr>
        <p:spPr>
          <a:xfrm>
            <a:off x="4417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155" name="Google Shape;155;p24"/>
          <p:cNvSpPr txBox="1"/>
          <p:nvPr>
            <p:ph idx="2" type="subTitle"/>
          </p:nvPr>
        </p:nvSpPr>
        <p:spPr>
          <a:xfrm>
            <a:off x="28372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156" name="Google Shape;156;p24"/>
          <p:cNvSpPr txBox="1"/>
          <p:nvPr>
            <p:ph type="title"/>
          </p:nvPr>
        </p:nvSpPr>
        <p:spPr>
          <a:xfrm>
            <a:off x="365625" y="794973"/>
            <a:ext cx="84126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57" name="Google Shape;157;p24"/>
          <p:cNvCxnSpPr/>
          <p:nvPr/>
        </p:nvCxnSpPr>
        <p:spPr>
          <a:xfrm>
            <a:off x="476850" y="1693125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" name="Google Shape;158;p24"/>
          <p:cNvSpPr/>
          <p:nvPr>
            <p:ph idx="3" type="pic"/>
          </p:nvPr>
        </p:nvSpPr>
        <p:spPr>
          <a:xfrm>
            <a:off x="474225" y="1837225"/>
            <a:ext cx="2661000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159" name="Google Shape;159;p24"/>
          <p:cNvSpPr/>
          <p:nvPr>
            <p:ph idx="4" type="pic"/>
          </p:nvPr>
        </p:nvSpPr>
        <p:spPr>
          <a:xfrm>
            <a:off x="474225" y="3300325"/>
            <a:ext cx="2661000" cy="13716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60" name="Google Shape;160;p24"/>
          <p:cNvCxnSpPr/>
          <p:nvPr/>
        </p:nvCxnSpPr>
        <p:spPr>
          <a:xfrm>
            <a:off x="3239550" y="2306550"/>
            <a:ext cx="54276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" name="Google Shape;161;p24"/>
          <p:cNvCxnSpPr/>
          <p:nvPr/>
        </p:nvCxnSpPr>
        <p:spPr>
          <a:xfrm>
            <a:off x="3239550" y="2919833"/>
            <a:ext cx="54276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" name="Google Shape;162;p24"/>
          <p:cNvCxnSpPr/>
          <p:nvPr/>
        </p:nvCxnSpPr>
        <p:spPr>
          <a:xfrm>
            <a:off x="3239550" y="3533117"/>
            <a:ext cx="54276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" name="Google Shape;163;p24"/>
          <p:cNvCxnSpPr/>
          <p:nvPr/>
        </p:nvCxnSpPr>
        <p:spPr>
          <a:xfrm>
            <a:off x="3239550" y="4146400"/>
            <a:ext cx="54276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4" name="Google Shape;164;p24"/>
          <p:cNvSpPr txBox="1"/>
          <p:nvPr>
            <p:ph idx="5" type="body"/>
          </p:nvPr>
        </p:nvSpPr>
        <p:spPr>
          <a:xfrm>
            <a:off x="3600750" y="1693125"/>
            <a:ext cx="50664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5" name="Google Shape;165;p24"/>
          <p:cNvSpPr txBox="1"/>
          <p:nvPr>
            <p:ph idx="6" type="body"/>
          </p:nvPr>
        </p:nvSpPr>
        <p:spPr>
          <a:xfrm>
            <a:off x="3600750" y="2307163"/>
            <a:ext cx="50664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6" name="Google Shape;166;p24"/>
          <p:cNvSpPr txBox="1"/>
          <p:nvPr>
            <p:ph idx="7" type="body"/>
          </p:nvPr>
        </p:nvSpPr>
        <p:spPr>
          <a:xfrm>
            <a:off x="3600750" y="2921225"/>
            <a:ext cx="50664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7" name="Google Shape;167;p24"/>
          <p:cNvSpPr txBox="1"/>
          <p:nvPr>
            <p:ph idx="8" type="body"/>
          </p:nvPr>
        </p:nvSpPr>
        <p:spPr>
          <a:xfrm>
            <a:off x="3600750" y="3535325"/>
            <a:ext cx="50664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8" name="Google Shape;168;p24"/>
          <p:cNvSpPr txBox="1"/>
          <p:nvPr>
            <p:ph idx="9" type="body"/>
          </p:nvPr>
        </p:nvSpPr>
        <p:spPr>
          <a:xfrm>
            <a:off x="3600750" y="4149450"/>
            <a:ext cx="50664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nswer Text + 2 Images">
  <p:cSld name="TITLE_ONLY_1_1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1" name="Google Shape;171;p25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2" name="Google Shape;172;p25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3" name="Google Shape;173;p25"/>
          <p:cNvSpPr txBox="1"/>
          <p:nvPr>
            <p:ph idx="1" type="subTitle"/>
          </p:nvPr>
        </p:nvSpPr>
        <p:spPr>
          <a:xfrm>
            <a:off x="4417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174" name="Google Shape;174;p25"/>
          <p:cNvSpPr txBox="1"/>
          <p:nvPr>
            <p:ph idx="2" type="subTitle"/>
          </p:nvPr>
        </p:nvSpPr>
        <p:spPr>
          <a:xfrm>
            <a:off x="28372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175" name="Google Shape;175;p25"/>
          <p:cNvSpPr txBox="1"/>
          <p:nvPr>
            <p:ph type="title"/>
          </p:nvPr>
        </p:nvSpPr>
        <p:spPr>
          <a:xfrm>
            <a:off x="365625" y="794973"/>
            <a:ext cx="84126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9pPr>
          </a:lstStyle>
          <a:p/>
        </p:txBody>
      </p:sp>
      <p:cxnSp>
        <p:nvCxnSpPr>
          <p:cNvPr id="176" name="Google Shape;176;p25"/>
          <p:cNvCxnSpPr/>
          <p:nvPr/>
        </p:nvCxnSpPr>
        <p:spPr>
          <a:xfrm>
            <a:off x="476850" y="1693125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" name="Google Shape;177;p25"/>
          <p:cNvSpPr/>
          <p:nvPr>
            <p:ph idx="3" type="pic"/>
          </p:nvPr>
        </p:nvSpPr>
        <p:spPr>
          <a:xfrm>
            <a:off x="474225" y="1837225"/>
            <a:ext cx="2661000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25"/>
          <p:cNvSpPr/>
          <p:nvPr>
            <p:ph idx="4" type="pic"/>
          </p:nvPr>
        </p:nvSpPr>
        <p:spPr>
          <a:xfrm>
            <a:off x="474225" y="3300325"/>
            <a:ext cx="2661000" cy="13716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79" name="Google Shape;179;p25"/>
          <p:cNvCxnSpPr/>
          <p:nvPr/>
        </p:nvCxnSpPr>
        <p:spPr>
          <a:xfrm>
            <a:off x="4695450" y="2306550"/>
            <a:ext cx="39717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" name="Google Shape;180;p25"/>
          <p:cNvCxnSpPr/>
          <p:nvPr/>
        </p:nvCxnSpPr>
        <p:spPr>
          <a:xfrm>
            <a:off x="3239550" y="2306550"/>
            <a:ext cx="54276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25"/>
          <p:cNvSpPr txBox="1"/>
          <p:nvPr>
            <p:ph idx="5" type="body"/>
          </p:nvPr>
        </p:nvSpPr>
        <p:spPr>
          <a:xfrm>
            <a:off x="3242173" y="2398650"/>
            <a:ext cx="5427600" cy="4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sp>
        <p:nvSpPr>
          <p:cNvPr id="182" name="Google Shape;182;p25"/>
          <p:cNvSpPr txBox="1"/>
          <p:nvPr>
            <p:ph idx="6" type="subTitle"/>
          </p:nvPr>
        </p:nvSpPr>
        <p:spPr>
          <a:xfrm>
            <a:off x="3242158" y="1785900"/>
            <a:ext cx="21672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body text">
  <p:cSld name="ONE_COLUMN_TEXT">
    <p:bg>
      <p:bgPr>
        <a:solidFill>
          <a:schemeClr val="lt1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6"/>
          <p:cNvSpPr/>
          <p:nvPr/>
        </p:nvSpPr>
        <p:spPr>
          <a:xfrm>
            <a:off x="365550" y="363450"/>
            <a:ext cx="8412900" cy="4416600"/>
          </a:xfrm>
          <a:prstGeom prst="snip2DiagRect">
            <a:avLst>
              <a:gd fmla="val 0" name="adj1"/>
              <a:gd fmla="val 20836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5" name="Google Shape;185;p26"/>
          <p:cNvSpPr txBox="1"/>
          <p:nvPr>
            <p:ph idx="1" type="subTitle"/>
          </p:nvPr>
        </p:nvSpPr>
        <p:spPr>
          <a:xfrm>
            <a:off x="4417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186" name="Google Shape;186;p26"/>
          <p:cNvSpPr txBox="1"/>
          <p:nvPr>
            <p:ph idx="2" type="subTitle"/>
          </p:nvPr>
        </p:nvSpPr>
        <p:spPr>
          <a:xfrm>
            <a:off x="28372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187" name="Google Shape;187;p26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8" name="Google Shape;188;p26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9" name="Google Shape;189;p26"/>
          <p:cNvSpPr txBox="1"/>
          <p:nvPr>
            <p:ph idx="3" type="body"/>
          </p:nvPr>
        </p:nvSpPr>
        <p:spPr>
          <a:xfrm>
            <a:off x="365625" y="794977"/>
            <a:ext cx="8412600" cy="13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546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Char char="●"/>
              <a:defRPr sz="5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indent="-546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Char char="○"/>
              <a:defRPr sz="5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2pPr>
            <a:lvl3pPr indent="-546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Char char="■"/>
              <a:defRPr sz="5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3pPr>
            <a:lvl4pPr indent="-546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Char char="●"/>
              <a:defRPr sz="5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4pPr>
            <a:lvl5pPr indent="-546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Char char="○"/>
              <a:defRPr sz="5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5pPr>
            <a:lvl6pPr indent="-546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Char char="■"/>
              <a:defRPr sz="5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6pPr>
            <a:lvl7pPr indent="-546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Char char="●"/>
              <a:defRPr sz="5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7pPr>
            <a:lvl8pPr indent="-546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Char char="○"/>
              <a:defRPr sz="5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8pPr>
            <a:lvl9pPr indent="-546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Char char="■"/>
              <a:defRPr sz="5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ore overview">
  <p:cSld name="ONE_COLUMN_TEXT_1">
    <p:bg>
      <p:bgPr>
        <a:solidFill>
          <a:schemeClr val="lt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7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192" name="Google Shape;192;p27"/>
          <p:cNvCxnSpPr/>
          <p:nvPr/>
        </p:nvCxnSpPr>
        <p:spPr>
          <a:xfrm>
            <a:off x="478850" y="2307175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" name="Google Shape;193;p27"/>
          <p:cNvCxnSpPr/>
          <p:nvPr/>
        </p:nvCxnSpPr>
        <p:spPr>
          <a:xfrm>
            <a:off x="476850" y="1693125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" name="Google Shape;194;p27"/>
          <p:cNvCxnSpPr/>
          <p:nvPr/>
        </p:nvCxnSpPr>
        <p:spPr>
          <a:xfrm>
            <a:off x="479100" y="2921234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" name="Google Shape;195;p27"/>
          <p:cNvCxnSpPr/>
          <p:nvPr/>
        </p:nvCxnSpPr>
        <p:spPr>
          <a:xfrm>
            <a:off x="479100" y="3535292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" name="Google Shape;196;p27"/>
          <p:cNvCxnSpPr/>
          <p:nvPr/>
        </p:nvCxnSpPr>
        <p:spPr>
          <a:xfrm>
            <a:off x="479100" y="4149350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" name="Google Shape;197;p27"/>
          <p:cNvSpPr txBox="1"/>
          <p:nvPr>
            <p:ph idx="1" type="subTitle"/>
          </p:nvPr>
        </p:nvSpPr>
        <p:spPr>
          <a:xfrm>
            <a:off x="4417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198" name="Google Shape;198;p27"/>
          <p:cNvSpPr txBox="1"/>
          <p:nvPr>
            <p:ph idx="2" type="subTitle"/>
          </p:nvPr>
        </p:nvSpPr>
        <p:spPr>
          <a:xfrm>
            <a:off x="28372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199" name="Google Shape;199;p27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00" name="Google Shape;200;p27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1" name="Google Shape;201;p27"/>
          <p:cNvSpPr txBox="1"/>
          <p:nvPr>
            <p:ph type="title"/>
          </p:nvPr>
        </p:nvSpPr>
        <p:spPr>
          <a:xfrm>
            <a:off x="365625" y="794973"/>
            <a:ext cx="84126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02" name="Google Shape;202;p27"/>
          <p:cNvCxnSpPr/>
          <p:nvPr/>
        </p:nvCxnSpPr>
        <p:spPr>
          <a:xfrm>
            <a:off x="476850" y="1693125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" name="Google Shape;203;p27"/>
          <p:cNvSpPr txBox="1"/>
          <p:nvPr>
            <p:ph idx="3" type="body"/>
          </p:nvPr>
        </p:nvSpPr>
        <p:spPr>
          <a:xfrm>
            <a:off x="4630525" y="1693125"/>
            <a:ext cx="41106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4" name="Google Shape;204;p27"/>
          <p:cNvSpPr txBox="1"/>
          <p:nvPr>
            <p:ph idx="4" type="body"/>
          </p:nvPr>
        </p:nvSpPr>
        <p:spPr>
          <a:xfrm>
            <a:off x="4630525" y="2307163"/>
            <a:ext cx="41106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5" name="Google Shape;205;p27"/>
          <p:cNvSpPr txBox="1"/>
          <p:nvPr>
            <p:ph idx="5" type="body"/>
          </p:nvPr>
        </p:nvSpPr>
        <p:spPr>
          <a:xfrm>
            <a:off x="4630525" y="2921225"/>
            <a:ext cx="41106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6" name="Google Shape;206;p27"/>
          <p:cNvSpPr txBox="1"/>
          <p:nvPr>
            <p:ph idx="6" type="body"/>
          </p:nvPr>
        </p:nvSpPr>
        <p:spPr>
          <a:xfrm>
            <a:off x="4630525" y="3535325"/>
            <a:ext cx="41106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7" name="Google Shape;207;p27"/>
          <p:cNvSpPr txBox="1"/>
          <p:nvPr>
            <p:ph idx="7" type="body"/>
          </p:nvPr>
        </p:nvSpPr>
        <p:spPr>
          <a:xfrm>
            <a:off x="4630525" y="4149450"/>
            <a:ext cx="41106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8" name="Google Shape;208;p27"/>
          <p:cNvSpPr txBox="1"/>
          <p:nvPr>
            <p:ph idx="8" type="body"/>
          </p:nvPr>
        </p:nvSpPr>
        <p:spPr>
          <a:xfrm>
            <a:off x="396350" y="2307163"/>
            <a:ext cx="42342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9" name="Google Shape;209;p27"/>
          <p:cNvSpPr txBox="1"/>
          <p:nvPr>
            <p:ph idx="9" type="body"/>
          </p:nvPr>
        </p:nvSpPr>
        <p:spPr>
          <a:xfrm>
            <a:off x="396350" y="2921225"/>
            <a:ext cx="42342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0" name="Google Shape;210;p27"/>
          <p:cNvSpPr txBox="1"/>
          <p:nvPr>
            <p:ph idx="13" type="body"/>
          </p:nvPr>
        </p:nvSpPr>
        <p:spPr>
          <a:xfrm>
            <a:off x="396350" y="3535325"/>
            <a:ext cx="42342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1" name="Google Shape;211;p27"/>
          <p:cNvSpPr txBox="1"/>
          <p:nvPr>
            <p:ph idx="14" type="body"/>
          </p:nvPr>
        </p:nvSpPr>
        <p:spPr>
          <a:xfrm>
            <a:off x="396350" y="4149450"/>
            <a:ext cx="42342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2" name="Google Shape;212;p27"/>
          <p:cNvSpPr txBox="1"/>
          <p:nvPr>
            <p:ph idx="15" type="body"/>
          </p:nvPr>
        </p:nvSpPr>
        <p:spPr>
          <a:xfrm>
            <a:off x="396350" y="1693125"/>
            <a:ext cx="42342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8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4">
    <p:bg>
      <p:bgPr>
        <a:solidFill>
          <a:schemeClr val="dk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oogle Shape;216;p29"/>
          <p:cNvGrpSpPr/>
          <p:nvPr/>
        </p:nvGrpSpPr>
        <p:grpSpPr>
          <a:xfrm>
            <a:off x="0" y="0"/>
            <a:ext cx="9144000" cy="5130000"/>
            <a:chOff x="0" y="0"/>
            <a:chExt cx="9144000" cy="5130000"/>
          </a:xfrm>
        </p:grpSpPr>
        <p:sp>
          <p:nvSpPr>
            <p:cNvPr id="217" name="Google Shape;217;p29"/>
            <p:cNvSpPr/>
            <p:nvPr/>
          </p:nvSpPr>
          <p:spPr>
            <a:xfrm flipH="1">
              <a:off x="175600" y="250800"/>
              <a:ext cx="8603100" cy="4529400"/>
            </a:xfrm>
            <a:prstGeom prst="snip2DiagRect">
              <a:avLst>
                <a:gd fmla="val 0" name="adj1"/>
                <a:gd fmla="val 20836" name="adj2"/>
              </a:avLst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grpSp>
          <p:nvGrpSpPr>
            <p:cNvPr id="218" name="Google Shape;218;p29"/>
            <p:cNvGrpSpPr/>
            <p:nvPr/>
          </p:nvGrpSpPr>
          <p:grpSpPr>
            <a:xfrm>
              <a:off x="0" y="0"/>
              <a:ext cx="9144000" cy="5130000"/>
              <a:chOff x="0" y="0"/>
              <a:chExt cx="9144000" cy="5130000"/>
            </a:xfrm>
          </p:grpSpPr>
          <p:sp>
            <p:nvSpPr>
              <p:cNvPr id="219" name="Google Shape;219;p29"/>
              <p:cNvSpPr/>
              <p:nvPr/>
            </p:nvSpPr>
            <p:spPr>
              <a:xfrm>
                <a:off x="0" y="0"/>
                <a:ext cx="1425000" cy="1244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220" name="Google Shape;220;p29"/>
              <p:cNvSpPr/>
              <p:nvPr/>
            </p:nvSpPr>
            <p:spPr>
              <a:xfrm>
                <a:off x="0" y="0"/>
                <a:ext cx="9144000" cy="363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221" name="Google Shape;221;p29"/>
              <p:cNvSpPr/>
              <p:nvPr/>
            </p:nvSpPr>
            <p:spPr>
              <a:xfrm rot="5400000">
                <a:off x="-2383200" y="2383200"/>
                <a:ext cx="5130000" cy="363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</p:grpSp>
      <p:sp>
        <p:nvSpPr>
          <p:cNvPr id="222" name="Google Shape;222;p29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3" name="Google Shape;223;p29"/>
          <p:cNvSpPr txBox="1"/>
          <p:nvPr>
            <p:ph type="title"/>
          </p:nvPr>
        </p:nvSpPr>
        <p:spPr>
          <a:xfrm>
            <a:off x="232050" y="2112300"/>
            <a:ext cx="8321100" cy="265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CUSTOM_5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0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6" name="Google Shape;226;p30"/>
          <p:cNvSpPr/>
          <p:nvPr/>
        </p:nvSpPr>
        <p:spPr>
          <a:xfrm>
            <a:off x="365550" y="363450"/>
            <a:ext cx="8412900" cy="4416600"/>
          </a:xfrm>
          <a:prstGeom prst="snip2DiagRect">
            <a:avLst>
              <a:gd fmla="val 0" name="adj1"/>
              <a:gd fmla="val 20836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7" name="Google Shape;227;p30"/>
          <p:cNvSpPr txBox="1"/>
          <p:nvPr>
            <p:ph type="title"/>
          </p:nvPr>
        </p:nvSpPr>
        <p:spPr>
          <a:xfrm>
            <a:off x="1127850" y="1691230"/>
            <a:ext cx="6885300" cy="81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8" name="Google Shape;228;p30"/>
          <p:cNvSpPr txBox="1"/>
          <p:nvPr>
            <p:ph idx="1" type="body"/>
          </p:nvPr>
        </p:nvSpPr>
        <p:spPr>
          <a:xfrm>
            <a:off x="1127850" y="2491658"/>
            <a:ext cx="6885300" cy="9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9" name="Google Shape;229;p30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6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1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32" name="Google Shape;232;p31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3" name="Google Shape;233;p31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4" name="Google Shape;234;p31"/>
          <p:cNvSpPr txBox="1"/>
          <p:nvPr>
            <p:ph type="title"/>
          </p:nvPr>
        </p:nvSpPr>
        <p:spPr>
          <a:xfrm>
            <a:off x="365625" y="794973"/>
            <a:ext cx="84126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9pPr>
          </a:lstStyle>
          <a:p/>
        </p:txBody>
      </p:sp>
      <p:sp>
        <p:nvSpPr>
          <p:cNvPr id="235" name="Google Shape;235;p31"/>
          <p:cNvSpPr txBox="1"/>
          <p:nvPr>
            <p:ph idx="1" type="body"/>
          </p:nvPr>
        </p:nvSpPr>
        <p:spPr>
          <a:xfrm>
            <a:off x="478875" y="2398650"/>
            <a:ext cx="4036500" cy="22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sp>
        <p:nvSpPr>
          <p:cNvPr id="236" name="Google Shape;236;p31"/>
          <p:cNvSpPr txBox="1"/>
          <p:nvPr>
            <p:ph idx="2" type="body"/>
          </p:nvPr>
        </p:nvSpPr>
        <p:spPr>
          <a:xfrm>
            <a:off x="4628700" y="2398650"/>
            <a:ext cx="4036500" cy="22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cxnSp>
        <p:nvCxnSpPr>
          <p:cNvPr id="237" name="Google Shape;237;p31"/>
          <p:cNvCxnSpPr/>
          <p:nvPr/>
        </p:nvCxnSpPr>
        <p:spPr>
          <a:xfrm>
            <a:off x="476850" y="2306550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11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2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40" name="Google Shape;240;p32"/>
          <p:cNvSpPr/>
          <p:nvPr/>
        </p:nvSpPr>
        <p:spPr>
          <a:xfrm>
            <a:off x="365550" y="363450"/>
            <a:ext cx="8412900" cy="4416600"/>
          </a:xfrm>
          <a:prstGeom prst="snip2DiagRect">
            <a:avLst>
              <a:gd fmla="val 0" name="adj1"/>
              <a:gd fmla="val 20836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41" name="Google Shape;241;p32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2" name="Google Shape;242;p32"/>
          <p:cNvSpPr txBox="1"/>
          <p:nvPr>
            <p:ph type="title"/>
          </p:nvPr>
        </p:nvSpPr>
        <p:spPr>
          <a:xfrm>
            <a:off x="1127850" y="2164800"/>
            <a:ext cx="6885300" cy="81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one column text">
  <p:cSld name="CUSTOM_8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3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45" name="Google Shape;245;p33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33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47" name="Google Shape;247;p33"/>
          <p:cNvSpPr txBox="1"/>
          <p:nvPr>
            <p:ph type="title"/>
          </p:nvPr>
        </p:nvSpPr>
        <p:spPr>
          <a:xfrm>
            <a:off x="365625" y="794973"/>
            <a:ext cx="84126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9pPr>
          </a:lstStyle>
          <a:p/>
        </p:txBody>
      </p:sp>
      <p:sp>
        <p:nvSpPr>
          <p:cNvPr id="248" name="Google Shape;248;p33"/>
          <p:cNvSpPr txBox="1"/>
          <p:nvPr>
            <p:ph idx="1" type="body"/>
          </p:nvPr>
        </p:nvSpPr>
        <p:spPr>
          <a:xfrm>
            <a:off x="478875" y="2398650"/>
            <a:ext cx="8190300" cy="22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cxnSp>
        <p:nvCxnSpPr>
          <p:cNvPr id="249" name="Google Shape;249;p33"/>
          <p:cNvCxnSpPr/>
          <p:nvPr/>
        </p:nvCxnSpPr>
        <p:spPr>
          <a:xfrm>
            <a:off x="476850" y="2306550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0" name="Google Shape;250;p33"/>
          <p:cNvSpPr txBox="1"/>
          <p:nvPr>
            <p:ph idx="2" type="subTitle"/>
          </p:nvPr>
        </p:nvSpPr>
        <p:spPr>
          <a:xfrm>
            <a:off x="478863" y="1785900"/>
            <a:ext cx="21672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CUSTOM_9">
    <p:bg>
      <p:bgPr>
        <a:solidFill>
          <a:schemeClr val="lt1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2" name="Google Shape;252;p34"/>
          <p:cNvGrpSpPr/>
          <p:nvPr/>
        </p:nvGrpSpPr>
        <p:grpSpPr>
          <a:xfrm>
            <a:off x="0" y="0"/>
            <a:ext cx="9144000" cy="5130000"/>
            <a:chOff x="0" y="0"/>
            <a:chExt cx="9144000" cy="5130000"/>
          </a:xfrm>
        </p:grpSpPr>
        <p:sp>
          <p:nvSpPr>
            <p:cNvPr id="253" name="Google Shape;253;p34"/>
            <p:cNvSpPr/>
            <p:nvPr/>
          </p:nvSpPr>
          <p:spPr>
            <a:xfrm flipH="1">
              <a:off x="175600" y="250800"/>
              <a:ext cx="8603100" cy="4529400"/>
            </a:xfrm>
            <a:prstGeom prst="snip2DiagRect">
              <a:avLst>
                <a:gd fmla="val 0" name="adj1"/>
                <a:gd fmla="val 20836" name="adj2"/>
              </a:avLst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grpSp>
          <p:nvGrpSpPr>
            <p:cNvPr id="254" name="Google Shape;254;p34"/>
            <p:cNvGrpSpPr/>
            <p:nvPr/>
          </p:nvGrpSpPr>
          <p:grpSpPr>
            <a:xfrm>
              <a:off x="0" y="0"/>
              <a:ext cx="9144000" cy="5130000"/>
              <a:chOff x="0" y="0"/>
              <a:chExt cx="9144000" cy="5130000"/>
            </a:xfrm>
          </p:grpSpPr>
          <p:sp>
            <p:nvSpPr>
              <p:cNvPr id="255" name="Google Shape;255;p34"/>
              <p:cNvSpPr/>
              <p:nvPr/>
            </p:nvSpPr>
            <p:spPr>
              <a:xfrm>
                <a:off x="0" y="0"/>
                <a:ext cx="1425000" cy="12441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256" name="Google Shape;256;p34"/>
              <p:cNvSpPr/>
              <p:nvPr/>
            </p:nvSpPr>
            <p:spPr>
              <a:xfrm>
                <a:off x="0" y="0"/>
                <a:ext cx="9144000" cy="363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257" name="Google Shape;257;p34"/>
              <p:cNvSpPr/>
              <p:nvPr/>
            </p:nvSpPr>
            <p:spPr>
              <a:xfrm rot="5400000">
                <a:off x="-2383200" y="2383200"/>
                <a:ext cx="5130000" cy="363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</p:grpSp>
      <p:sp>
        <p:nvSpPr>
          <p:cNvPr id="258" name="Google Shape;258;p34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9" name="Google Shape;259;p34"/>
          <p:cNvSpPr txBox="1"/>
          <p:nvPr>
            <p:ph type="title"/>
          </p:nvPr>
        </p:nvSpPr>
        <p:spPr>
          <a:xfrm>
            <a:off x="232050" y="2112300"/>
            <a:ext cx="8321100" cy="265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0"/>
              <a:buFont typeface="Chakra Petch SemiBold"/>
              <a:buNone/>
              <a:defRPr sz="10500">
                <a:solidFill>
                  <a:schemeClr val="dk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0"/>
              <a:buFont typeface="Chakra Petch SemiBold"/>
              <a:buNone/>
              <a:defRPr sz="10500">
                <a:solidFill>
                  <a:schemeClr val="dk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0"/>
              <a:buFont typeface="Chakra Petch SemiBold"/>
              <a:buNone/>
              <a:defRPr sz="10500">
                <a:solidFill>
                  <a:schemeClr val="dk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0"/>
              <a:buFont typeface="Chakra Petch SemiBold"/>
              <a:buNone/>
              <a:defRPr sz="10500">
                <a:solidFill>
                  <a:schemeClr val="dk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0"/>
              <a:buFont typeface="Chakra Petch SemiBold"/>
              <a:buNone/>
              <a:defRPr sz="10500">
                <a:solidFill>
                  <a:schemeClr val="dk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0"/>
              <a:buFont typeface="Chakra Petch SemiBold"/>
              <a:buNone/>
              <a:defRPr sz="10500">
                <a:solidFill>
                  <a:schemeClr val="dk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0"/>
              <a:buFont typeface="Chakra Petch SemiBold"/>
              <a:buNone/>
              <a:defRPr sz="10500">
                <a:solidFill>
                  <a:schemeClr val="dk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0"/>
              <a:buFont typeface="Chakra Petch SemiBold"/>
              <a:buNone/>
              <a:defRPr sz="10500">
                <a:solidFill>
                  <a:schemeClr val="dk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0"/>
              <a:buFont typeface="Chakra Petch SemiBold"/>
              <a:buNone/>
              <a:defRPr sz="10500">
                <a:solidFill>
                  <a:schemeClr val="dk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CUSTOM_10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5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62" name="Google Shape;262;p35"/>
          <p:cNvSpPr/>
          <p:nvPr/>
        </p:nvSpPr>
        <p:spPr>
          <a:xfrm>
            <a:off x="365550" y="363450"/>
            <a:ext cx="8412900" cy="4416600"/>
          </a:xfrm>
          <a:prstGeom prst="snip2DiagRect">
            <a:avLst>
              <a:gd fmla="val 0" name="adj1"/>
              <a:gd fmla="val 20836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63" name="Google Shape;263;p35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4" name="Google Shape;264;p35"/>
          <p:cNvSpPr txBox="1"/>
          <p:nvPr>
            <p:ph type="title"/>
          </p:nvPr>
        </p:nvSpPr>
        <p:spPr>
          <a:xfrm>
            <a:off x="1127850" y="2164800"/>
            <a:ext cx="6885300" cy="81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9pPr>
          </a:lstStyle>
          <a:p/>
        </p:txBody>
      </p:sp>
      <p:sp>
        <p:nvSpPr>
          <p:cNvPr id="265" name="Google Shape;265;p35"/>
          <p:cNvSpPr txBox="1"/>
          <p:nvPr>
            <p:ph idx="1" type="subTitle"/>
          </p:nvPr>
        </p:nvSpPr>
        <p:spPr>
          <a:xfrm>
            <a:off x="1127846" y="3242075"/>
            <a:ext cx="68853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USTOM_8_1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6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68" name="Google Shape;268;p36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9" name="Google Shape;269;p36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0" name="Google Shape;270;p36"/>
          <p:cNvSpPr txBox="1"/>
          <p:nvPr>
            <p:ph idx="1" type="body"/>
          </p:nvPr>
        </p:nvSpPr>
        <p:spPr>
          <a:xfrm>
            <a:off x="478875" y="476700"/>
            <a:ext cx="8190300" cy="419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CUSTOM_12">
    <p:bg>
      <p:bgPr>
        <a:solidFill>
          <a:schemeClr val="lt1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7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73" name="Google Shape;273;p37"/>
          <p:cNvSpPr/>
          <p:nvPr/>
        </p:nvSpPr>
        <p:spPr>
          <a:xfrm>
            <a:off x="365550" y="363450"/>
            <a:ext cx="8412900" cy="4416600"/>
          </a:xfrm>
          <a:prstGeom prst="snip2DiagRect">
            <a:avLst>
              <a:gd fmla="val 0" name="adj1"/>
              <a:gd fmla="val 20836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74" name="Google Shape;274;p37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5" name="Google Shape;275;p37"/>
          <p:cNvSpPr txBox="1"/>
          <p:nvPr>
            <p:ph type="title"/>
          </p:nvPr>
        </p:nvSpPr>
        <p:spPr>
          <a:xfrm>
            <a:off x="365625" y="1430850"/>
            <a:ext cx="40365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6" name="Google Shape;276;p37"/>
          <p:cNvSpPr txBox="1"/>
          <p:nvPr>
            <p:ph idx="1" type="body"/>
          </p:nvPr>
        </p:nvSpPr>
        <p:spPr>
          <a:xfrm>
            <a:off x="4628700" y="1430850"/>
            <a:ext cx="4036500" cy="22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M Sans"/>
              <a:buChar char="●"/>
              <a:defRPr sz="2000">
                <a:solidFill>
                  <a:schemeClr val="dk1"/>
                </a:solidFill>
              </a:defRPr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M Sans"/>
              <a:buChar char="○"/>
              <a:defRPr sz="2000">
                <a:solidFill>
                  <a:schemeClr val="dk1"/>
                </a:solidFill>
              </a:defRPr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M Sans"/>
              <a:buChar char="■"/>
              <a:defRPr sz="2000">
                <a:solidFill>
                  <a:schemeClr val="dk1"/>
                </a:solidFill>
              </a:defRPr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M Sans"/>
              <a:buChar char="●"/>
              <a:defRPr sz="2000">
                <a:solidFill>
                  <a:schemeClr val="dk1"/>
                </a:solidFill>
              </a:defRPr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M Sans"/>
              <a:buChar char="○"/>
              <a:defRPr sz="2000">
                <a:solidFill>
                  <a:schemeClr val="dk1"/>
                </a:solidFill>
              </a:defRPr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M Sans"/>
              <a:buChar char="■"/>
              <a:defRPr sz="2000">
                <a:solidFill>
                  <a:schemeClr val="dk1"/>
                </a:solidFill>
              </a:defRPr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M Sans"/>
              <a:buChar char="●"/>
              <a:defRPr sz="2000">
                <a:solidFill>
                  <a:schemeClr val="dk1"/>
                </a:solidFill>
              </a:defRPr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M Sans"/>
              <a:buChar char="○"/>
              <a:defRPr sz="2000">
                <a:solidFill>
                  <a:schemeClr val="dk1"/>
                </a:solidFill>
              </a:defRPr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M Sans"/>
              <a:buChar char="■"/>
              <a:defRPr sz="2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8_2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8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79" name="Google Shape;279;p38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0" name="Google Shape;280;p38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81" name="Google Shape;281;p38"/>
          <p:cNvSpPr txBox="1"/>
          <p:nvPr>
            <p:ph type="title"/>
          </p:nvPr>
        </p:nvSpPr>
        <p:spPr>
          <a:xfrm>
            <a:off x="365625" y="794973"/>
            <a:ext cx="84126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9pPr>
          </a:lstStyle>
          <a:p/>
        </p:txBody>
      </p:sp>
      <p:cxnSp>
        <p:nvCxnSpPr>
          <p:cNvPr id="282" name="Google Shape;282;p38"/>
          <p:cNvCxnSpPr/>
          <p:nvPr/>
        </p:nvCxnSpPr>
        <p:spPr>
          <a:xfrm>
            <a:off x="476850" y="2306550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3" name="Google Shape;283;p38"/>
          <p:cNvSpPr txBox="1"/>
          <p:nvPr>
            <p:ph idx="1" type="subTitle"/>
          </p:nvPr>
        </p:nvSpPr>
        <p:spPr>
          <a:xfrm>
            <a:off x="478875" y="4147550"/>
            <a:ext cx="26229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284" name="Google Shape;284;p38"/>
          <p:cNvSpPr txBox="1"/>
          <p:nvPr>
            <p:ph idx="2" type="subTitle"/>
          </p:nvPr>
        </p:nvSpPr>
        <p:spPr>
          <a:xfrm>
            <a:off x="3260538" y="4147550"/>
            <a:ext cx="26229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285" name="Google Shape;285;p38"/>
          <p:cNvSpPr txBox="1"/>
          <p:nvPr>
            <p:ph idx="3" type="subTitle"/>
          </p:nvPr>
        </p:nvSpPr>
        <p:spPr>
          <a:xfrm>
            <a:off x="6042225" y="4147550"/>
            <a:ext cx="26229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286" name="Google Shape;286;p38"/>
          <p:cNvSpPr txBox="1"/>
          <p:nvPr>
            <p:ph idx="4" type="subTitle"/>
          </p:nvPr>
        </p:nvSpPr>
        <p:spPr>
          <a:xfrm>
            <a:off x="478875" y="3476550"/>
            <a:ext cx="26229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287" name="Google Shape;287;p38"/>
          <p:cNvSpPr txBox="1"/>
          <p:nvPr>
            <p:ph idx="5" type="subTitle"/>
          </p:nvPr>
        </p:nvSpPr>
        <p:spPr>
          <a:xfrm>
            <a:off x="3260538" y="3476550"/>
            <a:ext cx="26229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288" name="Google Shape;288;p38"/>
          <p:cNvSpPr txBox="1"/>
          <p:nvPr>
            <p:ph idx="6" type="subTitle"/>
          </p:nvPr>
        </p:nvSpPr>
        <p:spPr>
          <a:xfrm>
            <a:off x="6042225" y="3476550"/>
            <a:ext cx="26229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_AND_TWO_COLUMNS_1_2">
    <p:bg>
      <p:bgPr>
        <a:solidFill>
          <a:schemeClr val="lt1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9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91" name="Google Shape;291;p39"/>
          <p:cNvSpPr/>
          <p:nvPr>
            <p:ph idx="2" type="pic"/>
          </p:nvPr>
        </p:nvSpPr>
        <p:spPr>
          <a:xfrm rot="10800000">
            <a:off x="474125" y="1837225"/>
            <a:ext cx="2661000" cy="2834700"/>
          </a:xfrm>
          <a:prstGeom prst="rect">
            <a:avLst/>
          </a:prstGeom>
          <a:noFill/>
          <a:ln>
            <a:noFill/>
          </a:ln>
        </p:spPr>
      </p:sp>
      <p:sp>
        <p:nvSpPr>
          <p:cNvPr id="292" name="Google Shape;292;p39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93" name="Google Shape;293;p39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4" name="Google Shape;294;p39"/>
          <p:cNvSpPr txBox="1"/>
          <p:nvPr>
            <p:ph type="title"/>
          </p:nvPr>
        </p:nvSpPr>
        <p:spPr>
          <a:xfrm>
            <a:off x="365625" y="794973"/>
            <a:ext cx="84126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95" name="Google Shape;295;p39"/>
          <p:cNvCxnSpPr/>
          <p:nvPr/>
        </p:nvCxnSpPr>
        <p:spPr>
          <a:xfrm>
            <a:off x="476850" y="1693125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6" name="Google Shape;296;p39"/>
          <p:cNvSpPr txBox="1"/>
          <p:nvPr>
            <p:ph idx="1" type="body"/>
          </p:nvPr>
        </p:nvSpPr>
        <p:spPr>
          <a:xfrm>
            <a:off x="3600750" y="1693125"/>
            <a:ext cx="5066400" cy="6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6_1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0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99" name="Google Shape;299;p40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0" name="Google Shape;300;p40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1" name="Google Shape;301;p40"/>
          <p:cNvSpPr txBox="1"/>
          <p:nvPr>
            <p:ph type="title"/>
          </p:nvPr>
        </p:nvSpPr>
        <p:spPr>
          <a:xfrm>
            <a:off x="365625" y="794973"/>
            <a:ext cx="84126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9pPr>
          </a:lstStyle>
          <a:p/>
        </p:txBody>
      </p:sp>
      <p:sp>
        <p:nvSpPr>
          <p:cNvPr id="302" name="Google Shape;302;p40"/>
          <p:cNvSpPr txBox="1"/>
          <p:nvPr>
            <p:ph idx="1" type="body"/>
          </p:nvPr>
        </p:nvSpPr>
        <p:spPr>
          <a:xfrm>
            <a:off x="478875" y="2398650"/>
            <a:ext cx="4036500" cy="22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sp>
        <p:nvSpPr>
          <p:cNvPr id="303" name="Google Shape;303;p40"/>
          <p:cNvSpPr txBox="1"/>
          <p:nvPr>
            <p:ph idx="2" type="body"/>
          </p:nvPr>
        </p:nvSpPr>
        <p:spPr>
          <a:xfrm>
            <a:off x="4628700" y="2398650"/>
            <a:ext cx="4036500" cy="22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sp>
        <p:nvSpPr>
          <p:cNvPr id="304" name="Google Shape;304;p40"/>
          <p:cNvSpPr txBox="1"/>
          <p:nvPr>
            <p:ph idx="3" type="subTitle"/>
          </p:nvPr>
        </p:nvSpPr>
        <p:spPr>
          <a:xfrm>
            <a:off x="478885" y="1785900"/>
            <a:ext cx="40365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305" name="Google Shape;305;p40"/>
          <p:cNvSpPr txBox="1"/>
          <p:nvPr>
            <p:ph idx="4" type="subTitle"/>
          </p:nvPr>
        </p:nvSpPr>
        <p:spPr>
          <a:xfrm>
            <a:off x="4628700" y="1785900"/>
            <a:ext cx="40365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cxnSp>
        <p:nvCxnSpPr>
          <p:cNvPr id="306" name="Google Shape;306;p40"/>
          <p:cNvCxnSpPr/>
          <p:nvPr/>
        </p:nvCxnSpPr>
        <p:spPr>
          <a:xfrm>
            <a:off x="476850" y="2306550"/>
            <a:ext cx="40521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" name="Google Shape;307;p40"/>
          <p:cNvCxnSpPr/>
          <p:nvPr/>
        </p:nvCxnSpPr>
        <p:spPr>
          <a:xfrm>
            <a:off x="4613100" y="2306550"/>
            <a:ext cx="40521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6_1_1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1"/>
          <p:cNvSpPr txBox="1"/>
          <p:nvPr>
            <p:ph idx="1" type="subTitle"/>
          </p:nvPr>
        </p:nvSpPr>
        <p:spPr>
          <a:xfrm>
            <a:off x="478875" y="1785900"/>
            <a:ext cx="26229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310" name="Google Shape;310;p41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11" name="Google Shape;311;p41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2" name="Google Shape;312;p41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13" name="Google Shape;313;p41"/>
          <p:cNvSpPr txBox="1"/>
          <p:nvPr>
            <p:ph type="title"/>
          </p:nvPr>
        </p:nvSpPr>
        <p:spPr>
          <a:xfrm>
            <a:off x="365625" y="794973"/>
            <a:ext cx="84126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9pPr>
          </a:lstStyle>
          <a:p/>
        </p:txBody>
      </p:sp>
      <p:sp>
        <p:nvSpPr>
          <p:cNvPr id="314" name="Google Shape;314;p41"/>
          <p:cNvSpPr txBox="1"/>
          <p:nvPr>
            <p:ph idx="2" type="body"/>
          </p:nvPr>
        </p:nvSpPr>
        <p:spPr>
          <a:xfrm>
            <a:off x="478875" y="2398650"/>
            <a:ext cx="2622900" cy="22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sp>
        <p:nvSpPr>
          <p:cNvPr id="315" name="Google Shape;315;p41"/>
          <p:cNvSpPr txBox="1"/>
          <p:nvPr>
            <p:ph idx="3" type="body"/>
          </p:nvPr>
        </p:nvSpPr>
        <p:spPr>
          <a:xfrm>
            <a:off x="6042300" y="2398650"/>
            <a:ext cx="2622900" cy="22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cxnSp>
        <p:nvCxnSpPr>
          <p:cNvPr id="316" name="Google Shape;316;p41"/>
          <p:cNvCxnSpPr/>
          <p:nvPr/>
        </p:nvCxnSpPr>
        <p:spPr>
          <a:xfrm>
            <a:off x="476850" y="2306550"/>
            <a:ext cx="2623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7" name="Google Shape;317;p41"/>
          <p:cNvSpPr txBox="1"/>
          <p:nvPr>
            <p:ph idx="4" type="subTitle"/>
          </p:nvPr>
        </p:nvSpPr>
        <p:spPr>
          <a:xfrm>
            <a:off x="3260538" y="1785900"/>
            <a:ext cx="26229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318" name="Google Shape;318;p41"/>
          <p:cNvSpPr txBox="1"/>
          <p:nvPr>
            <p:ph idx="5" type="subTitle"/>
          </p:nvPr>
        </p:nvSpPr>
        <p:spPr>
          <a:xfrm>
            <a:off x="6042225" y="1785900"/>
            <a:ext cx="26229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319" name="Google Shape;319;p41"/>
          <p:cNvSpPr txBox="1"/>
          <p:nvPr>
            <p:ph idx="6" type="body"/>
          </p:nvPr>
        </p:nvSpPr>
        <p:spPr>
          <a:xfrm>
            <a:off x="3260588" y="2398650"/>
            <a:ext cx="2622900" cy="22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cxnSp>
        <p:nvCxnSpPr>
          <p:cNvPr id="320" name="Google Shape;320;p41"/>
          <p:cNvCxnSpPr/>
          <p:nvPr/>
        </p:nvCxnSpPr>
        <p:spPr>
          <a:xfrm>
            <a:off x="3260538" y="2306550"/>
            <a:ext cx="2623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1" name="Google Shape;321;p41"/>
          <p:cNvCxnSpPr/>
          <p:nvPr/>
        </p:nvCxnSpPr>
        <p:spPr>
          <a:xfrm>
            <a:off x="6042225" y="2306550"/>
            <a:ext cx="2623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6_1_2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2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24" name="Google Shape;324;p42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5" name="Google Shape;325;p42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26" name="Google Shape;326;p42"/>
          <p:cNvSpPr txBox="1"/>
          <p:nvPr>
            <p:ph type="title"/>
          </p:nvPr>
        </p:nvSpPr>
        <p:spPr>
          <a:xfrm>
            <a:off x="365625" y="794973"/>
            <a:ext cx="84126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9pPr>
          </a:lstStyle>
          <a:p/>
        </p:txBody>
      </p:sp>
      <p:sp>
        <p:nvSpPr>
          <p:cNvPr id="327" name="Google Shape;327;p42"/>
          <p:cNvSpPr txBox="1"/>
          <p:nvPr>
            <p:ph idx="1" type="body"/>
          </p:nvPr>
        </p:nvSpPr>
        <p:spPr>
          <a:xfrm>
            <a:off x="478875" y="2398650"/>
            <a:ext cx="4036500" cy="7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sp>
        <p:nvSpPr>
          <p:cNvPr id="328" name="Google Shape;328;p42"/>
          <p:cNvSpPr txBox="1"/>
          <p:nvPr>
            <p:ph idx="2" type="body"/>
          </p:nvPr>
        </p:nvSpPr>
        <p:spPr>
          <a:xfrm>
            <a:off x="4628700" y="2398650"/>
            <a:ext cx="4036500" cy="7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sp>
        <p:nvSpPr>
          <p:cNvPr id="329" name="Google Shape;329;p42"/>
          <p:cNvSpPr txBox="1"/>
          <p:nvPr>
            <p:ph idx="3" type="subTitle"/>
          </p:nvPr>
        </p:nvSpPr>
        <p:spPr>
          <a:xfrm>
            <a:off x="478885" y="1785900"/>
            <a:ext cx="40365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330" name="Google Shape;330;p42"/>
          <p:cNvSpPr txBox="1"/>
          <p:nvPr>
            <p:ph idx="4" type="subTitle"/>
          </p:nvPr>
        </p:nvSpPr>
        <p:spPr>
          <a:xfrm>
            <a:off x="4628700" y="1785900"/>
            <a:ext cx="40365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331" name="Google Shape;331;p42"/>
          <p:cNvSpPr txBox="1"/>
          <p:nvPr>
            <p:ph idx="5" type="body"/>
          </p:nvPr>
        </p:nvSpPr>
        <p:spPr>
          <a:xfrm>
            <a:off x="478875" y="3893750"/>
            <a:ext cx="4036500" cy="7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sp>
        <p:nvSpPr>
          <p:cNvPr id="332" name="Google Shape;332;p42"/>
          <p:cNvSpPr txBox="1"/>
          <p:nvPr>
            <p:ph idx="6" type="body"/>
          </p:nvPr>
        </p:nvSpPr>
        <p:spPr>
          <a:xfrm>
            <a:off x="4628700" y="3893750"/>
            <a:ext cx="4036500" cy="7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sp>
        <p:nvSpPr>
          <p:cNvPr id="333" name="Google Shape;333;p42"/>
          <p:cNvSpPr txBox="1"/>
          <p:nvPr>
            <p:ph idx="7" type="subTitle"/>
          </p:nvPr>
        </p:nvSpPr>
        <p:spPr>
          <a:xfrm>
            <a:off x="478885" y="3281000"/>
            <a:ext cx="40365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334" name="Google Shape;334;p42"/>
          <p:cNvSpPr txBox="1"/>
          <p:nvPr>
            <p:ph idx="8" type="subTitle"/>
          </p:nvPr>
        </p:nvSpPr>
        <p:spPr>
          <a:xfrm>
            <a:off x="4628700" y="3281000"/>
            <a:ext cx="40365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cxnSp>
        <p:nvCxnSpPr>
          <p:cNvPr id="335" name="Google Shape;335;p42"/>
          <p:cNvCxnSpPr/>
          <p:nvPr/>
        </p:nvCxnSpPr>
        <p:spPr>
          <a:xfrm>
            <a:off x="476850" y="2306550"/>
            <a:ext cx="40521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6" name="Google Shape;336;p42"/>
          <p:cNvCxnSpPr/>
          <p:nvPr/>
        </p:nvCxnSpPr>
        <p:spPr>
          <a:xfrm>
            <a:off x="4613100" y="2306550"/>
            <a:ext cx="40521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7" name="Google Shape;337;p42"/>
          <p:cNvCxnSpPr/>
          <p:nvPr/>
        </p:nvCxnSpPr>
        <p:spPr>
          <a:xfrm>
            <a:off x="477825" y="3801650"/>
            <a:ext cx="40521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8" name="Google Shape;338;p42"/>
          <p:cNvCxnSpPr/>
          <p:nvPr/>
        </p:nvCxnSpPr>
        <p:spPr>
          <a:xfrm>
            <a:off x="4614075" y="3801650"/>
            <a:ext cx="40521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AND_TWO_COLUMNS_1_2_1">
    <p:bg>
      <p:bgPr>
        <a:solidFill>
          <a:schemeClr val="lt1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3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41" name="Google Shape;341;p43"/>
          <p:cNvSpPr/>
          <p:nvPr>
            <p:ph idx="2" type="pic"/>
          </p:nvPr>
        </p:nvSpPr>
        <p:spPr>
          <a:xfrm rot="10800000">
            <a:off x="474175" y="1837225"/>
            <a:ext cx="8190600" cy="2834700"/>
          </a:xfrm>
          <a:prstGeom prst="rect">
            <a:avLst/>
          </a:prstGeom>
          <a:noFill/>
          <a:ln>
            <a:noFill/>
          </a:ln>
        </p:spPr>
      </p:sp>
      <p:sp>
        <p:nvSpPr>
          <p:cNvPr id="342" name="Google Shape;342;p43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43" name="Google Shape;343;p43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4" name="Google Shape;344;p43"/>
          <p:cNvSpPr txBox="1"/>
          <p:nvPr>
            <p:ph type="title"/>
          </p:nvPr>
        </p:nvSpPr>
        <p:spPr>
          <a:xfrm>
            <a:off x="365625" y="794973"/>
            <a:ext cx="84126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45" name="Google Shape;345;p43"/>
          <p:cNvCxnSpPr/>
          <p:nvPr/>
        </p:nvCxnSpPr>
        <p:spPr>
          <a:xfrm>
            <a:off x="476850" y="1693125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13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4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48" name="Google Shape;348;p44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9" name="Google Shape;349;p44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50" name="Google Shape;350;p44"/>
          <p:cNvSpPr txBox="1"/>
          <p:nvPr>
            <p:ph type="title"/>
          </p:nvPr>
        </p:nvSpPr>
        <p:spPr>
          <a:xfrm>
            <a:off x="365625" y="384301"/>
            <a:ext cx="84126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Chakra Petch Medium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Font typeface="Chakra Petch Medium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Font typeface="Chakra Petch Medium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Font typeface="Chakra Petch Medium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Font typeface="Chakra Petch Medium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Font typeface="Chakra Petch Medium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Font typeface="Chakra Petch Medium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Font typeface="Chakra Petch Medium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Font typeface="Chakra Petch Medium"/>
              <a:buNone/>
              <a:defRPr sz="4500"/>
            </a:lvl9pPr>
          </a:lstStyle>
          <a:p/>
        </p:txBody>
      </p:sp>
      <p:sp>
        <p:nvSpPr>
          <p:cNvPr id="351" name="Google Shape;351;p44"/>
          <p:cNvSpPr/>
          <p:nvPr>
            <p:ph idx="2" type="pic"/>
          </p:nvPr>
        </p:nvSpPr>
        <p:spPr>
          <a:xfrm rot="10800000">
            <a:off x="4611300" y="1290400"/>
            <a:ext cx="4053900" cy="1611300"/>
          </a:xfrm>
          <a:prstGeom prst="rect">
            <a:avLst/>
          </a:prstGeom>
          <a:noFill/>
          <a:ln>
            <a:noFill/>
          </a:ln>
        </p:spPr>
      </p:sp>
      <p:sp>
        <p:nvSpPr>
          <p:cNvPr id="352" name="Google Shape;352;p44"/>
          <p:cNvSpPr txBox="1"/>
          <p:nvPr>
            <p:ph idx="1" type="body"/>
          </p:nvPr>
        </p:nvSpPr>
        <p:spPr>
          <a:xfrm>
            <a:off x="478875" y="1903150"/>
            <a:ext cx="4036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sp>
        <p:nvSpPr>
          <p:cNvPr id="353" name="Google Shape;353;p44"/>
          <p:cNvSpPr txBox="1"/>
          <p:nvPr>
            <p:ph idx="3" type="subTitle"/>
          </p:nvPr>
        </p:nvSpPr>
        <p:spPr>
          <a:xfrm>
            <a:off x="478885" y="1290400"/>
            <a:ext cx="40365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354" name="Google Shape;354;p44"/>
          <p:cNvSpPr txBox="1"/>
          <p:nvPr>
            <p:ph idx="4" type="body"/>
          </p:nvPr>
        </p:nvSpPr>
        <p:spPr>
          <a:xfrm>
            <a:off x="4628700" y="3668300"/>
            <a:ext cx="4036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sp>
        <p:nvSpPr>
          <p:cNvPr id="355" name="Google Shape;355;p44"/>
          <p:cNvSpPr txBox="1"/>
          <p:nvPr>
            <p:ph idx="5" type="subTitle"/>
          </p:nvPr>
        </p:nvSpPr>
        <p:spPr>
          <a:xfrm>
            <a:off x="4628700" y="3055550"/>
            <a:ext cx="40365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cxnSp>
        <p:nvCxnSpPr>
          <p:cNvPr id="356" name="Google Shape;356;p44"/>
          <p:cNvCxnSpPr/>
          <p:nvPr/>
        </p:nvCxnSpPr>
        <p:spPr>
          <a:xfrm>
            <a:off x="476850" y="1811050"/>
            <a:ext cx="40521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7" name="Google Shape;357;p44"/>
          <p:cNvCxnSpPr/>
          <p:nvPr/>
        </p:nvCxnSpPr>
        <p:spPr>
          <a:xfrm>
            <a:off x="4614075" y="3576200"/>
            <a:ext cx="40521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8" name="Google Shape;358;p44"/>
          <p:cNvSpPr/>
          <p:nvPr>
            <p:ph idx="6" type="pic"/>
          </p:nvPr>
        </p:nvSpPr>
        <p:spPr>
          <a:xfrm rot="10800000">
            <a:off x="470175" y="3055550"/>
            <a:ext cx="4053900" cy="1611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13_1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5"/>
          <p:cNvSpPr txBox="1"/>
          <p:nvPr>
            <p:ph idx="1" type="body"/>
          </p:nvPr>
        </p:nvSpPr>
        <p:spPr>
          <a:xfrm>
            <a:off x="478875" y="1903150"/>
            <a:ext cx="26229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sp>
        <p:nvSpPr>
          <p:cNvPr id="361" name="Google Shape;361;p45"/>
          <p:cNvSpPr txBox="1"/>
          <p:nvPr>
            <p:ph idx="2" type="body"/>
          </p:nvPr>
        </p:nvSpPr>
        <p:spPr>
          <a:xfrm>
            <a:off x="6042300" y="1903150"/>
            <a:ext cx="26229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sp>
        <p:nvSpPr>
          <p:cNvPr id="362" name="Google Shape;362;p45"/>
          <p:cNvSpPr txBox="1"/>
          <p:nvPr>
            <p:ph idx="3" type="body"/>
          </p:nvPr>
        </p:nvSpPr>
        <p:spPr>
          <a:xfrm>
            <a:off x="3260588" y="1903150"/>
            <a:ext cx="26229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sp>
        <p:nvSpPr>
          <p:cNvPr id="363" name="Google Shape;363;p45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64" name="Google Shape;364;p45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5" name="Google Shape;365;p45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66" name="Google Shape;366;p45"/>
          <p:cNvSpPr txBox="1"/>
          <p:nvPr>
            <p:ph type="title"/>
          </p:nvPr>
        </p:nvSpPr>
        <p:spPr>
          <a:xfrm>
            <a:off x="365625" y="384301"/>
            <a:ext cx="84126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Chakra Petch Medium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Font typeface="Chakra Petch Medium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Font typeface="Chakra Petch Medium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Font typeface="Chakra Petch Medium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Font typeface="Chakra Petch Medium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Font typeface="Chakra Petch Medium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Font typeface="Chakra Petch Medium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Font typeface="Chakra Petch Medium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Font typeface="Chakra Petch Medium"/>
              <a:buNone/>
              <a:defRPr sz="4500"/>
            </a:lvl9pPr>
          </a:lstStyle>
          <a:p/>
        </p:txBody>
      </p:sp>
      <p:sp>
        <p:nvSpPr>
          <p:cNvPr id="367" name="Google Shape;367;p45"/>
          <p:cNvSpPr/>
          <p:nvPr>
            <p:ph idx="4" type="pic"/>
          </p:nvPr>
        </p:nvSpPr>
        <p:spPr>
          <a:xfrm rot="10800000">
            <a:off x="470275" y="3055550"/>
            <a:ext cx="2618700" cy="1611300"/>
          </a:xfrm>
          <a:prstGeom prst="rect">
            <a:avLst/>
          </a:prstGeom>
          <a:noFill/>
          <a:ln>
            <a:noFill/>
          </a:ln>
        </p:spPr>
      </p:sp>
      <p:sp>
        <p:nvSpPr>
          <p:cNvPr id="368" name="Google Shape;368;p45"/>
          <p:cNvSpPr txBox="1"/>
          <p:nvPr>
            <p:ph idx="5" type="subTitle"/>
          </p:nvPr>
        </p:nvSpPr>
        <p:spPr>
          <a:xfrm>
            <a:off x="478875" y="1290400"/>
            <a:ext cx="26229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cxnSp>
        <p:nvCxnSpPr>
          <p:cNvPr id="369" name="Google Shape;369;p45"/>
          <p:cNvCxnSpPr/>
          <p:nvPr/>
        </p:nvCxnSpPr>
        <p:spPr>
          <a:xfrm>
            <a:off x="476850" y="1811050"/>
            <a:ext cx="2623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0" name="Google Shape;370;p45"/>
          <p:cNvSpPr txBox="1"/>
          <p:nvPr>
            <p:ph idx="6" type="subTitle"/>
          </p:nvPr>
        </p:nvSpPr>
        <p:spPr>
          <a:xfrm>
            <a:off x="3260538" y="1290400"/>
            <a:ext cx="26229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371" name="Google Shape;371;p45"/>
          <p:cNvSpPr txBox="1"/>
          <p:nvPr>
            <p:ph idx="7" type="subTitle"/>
          </p:nvPr>
        </p:nvSpPr>
        <p:spPr>
          <a:xfrm>
            <a:off x="6042225" y="1290400"/>
            <a:ext cx="26229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cxnSp>
        <p:nvCxnSpPr>
          <p:cNvPr id="372" name="Google Shape;372;p45"/>
          <p:cNvCxnSpPr/>
          <p:nvPr/>
        </p:nvCxnSpPr>
        <p:spPr>
          <a:xfrm>
            <a:off x="3260538" y="1811050"/>
            <a:ext cx="2623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3" name="Google Shape;373;p45"/>
          <p:cNvCxnSpPr/>
          <p:nvPr/>
        </p:nvCxnSpPr>
        <p:spPr>
          <a:xfrm>
            <a:off x="6042225" y="1811050"/>
            <a:ext cx="2623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4" name="Google Shape;374;p45"/>
          <p:cNvSpPr/>
          <p:nvPr>
            <p:ph idx="8" type="pic"/>
          </p:nvPr>
        </p:nvSpPr>
        <p:spPr>
          <a:xfrm rot="10800000">
            <a:off x="3262575" y="3055550"/>
            <a:ext cx="2618700" cy="1611300"/>
          </a:xfrm>
          <a:prstGeom prst="rect">
            <a:avLst/>
          </a:prstGeom>
          <a:noFill/>
          <a:ln>
            <a:noFill/>
          </a:ln>
        </p:spPr>
      </p:sp>
      <p:sp>
        <p:nvSpPr>
          <p:cNvPr id="375" name="Google Shape;375;p45"/>
          <p:cNvSpPr/>
          <p:nvPr>
            <p:ph idx="9" type="pic"/>
          </p:nvPr>
        </p:nvSpPr>
        <p:spPr>
          <a:xfrm rot="10800000">
            <a:off x="6054875" y="3055550"/>
            <a:ext cx="2618700" cy="1611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TITLE_AND_TWO_COLUMNS_1_2_1_1">
    <p:bg>
      <p:bgPr>
        <a:solidFill>
          <a:schemeClr val="lt1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6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78" name="Google Shape;378;p46"/>
          <p:cNvSpPr/>
          <p:nvPr>
            <p:ph idx="2" type="pic"/>
          </p:nvPr>
        </p:nvSpPr>
        <p:spPr>
          <a:xfrm rot="10800000">
            <a:off x="2100" y="300"/>
            <a:ext cx="9139800" cy="5142900"/>
          </a:xfrm>
          <a:prstGeom prst="rect">
            <a:avLst/>
          </a:prstGeom>
          <a:noFill/>
          <a:ln>
            <a:noFill/>
          </a:ln>
        </p:spPr>
      </p:sp>
      <p:sp>
        <p:nvSpPr>
          <p:cNvPr id="379" name="Google Shape;379;p46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80" name="Google Shape;380;p46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1" name="Google Shape;381;p46"/>
          <p:cNvSpPr/>
          <p:nvPr/>
        </p:nvSpPr>
        <p:spPr>
          <a:xfrm>
            <a:off x="365550" y="363450"/>
            <a:ext cx="8412900" cy="4416600"/>
          </a:xfrm>
          <a:prstGeom prst="snip2DiagRect">
            <a:avLst>
              <a:gd fmla="val 0" name="adj1"/>
              <a:gd fmla="val 20836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TITLE_AND_TWO_COLUMNS_1_2_1_2">
    <p:bg>
      <p:bgPr>
        <a:solidFill>
          <a:schemeClr val="lt1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7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84" name="Google Shape;384;p47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85" name="Google Shape;385;p47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6" name="Google Shape;386;p47"/>
          <p:cNvSpPr txBox="1"/>
          <p:nvPr>
            <p:ph type="title"/>
          </p:nvPr>
        </p:nvSpPr>
        <p:spPr>
          <a:xfrm>
            <a:off x="365625" y="384301"/>
            <a:ext cx="84126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hakra Petch Medium"/>
              <a:buNone/>
              <a:defRPr sz="4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hakra Petch Medium"/>
              <a:buNone/>
              <a:defRPr sz="4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hakra Petch Medium"/>
              <a:buNone/>
              <a:defRPr sz="4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hakra Petch Medium"/>
              <a:buNone/>
              <a:defRPr sz="4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hakra Petch Medium"/>
              <a:buNone/>
              <a:defRPr sz="4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hakra Petch Medium"/>
              <a:buNone/>
              <a:defRPr sz="4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hakra Petch Medium"/>
              <a:buNone/>
              <a:defRPr sz="4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hakra Petch Medium"/>
              <a:buNone/>
              <a:defRPr sz="4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7" name="Google Shape;387;p47"/>
          <p:cNvSpPr/>
          <p:nvPr>
            <p:ph idx="2" type="pic"/>
          </p:nvPr>
        </p:nvSpPr>
        <p:spPr>
          <a:xfrm rot="10800000">
            <a:off x="470275" y="3608750"/>
            <a:ext cx="2618700" cy="10581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47"/>
          <p:cNvSpPr/>
          <p:nvPr>
            <p:ph idx="3" type="pic"/>
          </p:nvPr>
        </p:nvSpPr>
        <p:spPr>
          <a:xfrm rot="10800000">
            <a:off x="3262575" y="3608750"/>
            <a:ext cx="2618700" cy="1058100"/>
          </a:xfrm>
          <a:prstGeom prst="rect">
            <a:avLst/>
          </a:prstGeom>
          <a:noFill/>
          <a:ln>
            <a:noFill/>
          </a:ln>
        </p:spPr>
      </p:sp>
      <p:sp>
        <p:nvSpPr>
          <p:cNvPr id="389" name="Google Shape;389;p47"/>
          <p:cNvSpPr/>
          <p:nvPr>
            <p:ph idx="4" type="pic"/>
          </p:nvPr>
        </p:nvSpPr>
        <p:spPr>
          <a:xfrm rot="10800000">
            <a:off x="6054875" y="3608750"/>
            <a:ext cx="2618700" cy="1058100"/>
          </a:xfrm>
          <a:prstGeom prst="rect">
            <a:avLst/>
          </a:prstGeom>
          <a:noFill/>
          <a:ln>
            <a:noFill/>
          </a:ln>
        </p:spPr>
      </p:sp>
      <p:sp>
        <p:nvSpPr>
          <p:cNvPr id="390" name="Google Shape;390;p47"/>
          <p:cNvSpPr/>
          <p:nvPr>
            <p:ph idx="5" type="pic"/>
          </p:nvPr>
        </p:nvSpPr>
        <p:spPr>
          <a:xfrm rot="10800000">
            <a:off x="470275" y="2449575"/>
            <a:ext cx="2618700" cy="1058100"/>
          </a:xfrm>
          <a:prstGeom prst="rect">
            <a:avLst/>
          </a:prstGeom>
          <a:noFill/>
          <a:ln>
            <a:noFill/>
          </a:ln>
        </p:spPr>
      </p:sp>
      <p:sp>
        <p:nvSpPr>
          <p:cNvPr id="391" name="Google Shape;391;p47"/>
          <p:cNvSpPr/>
          <p:nvPr>
            <p:ph idx="6" type="pic"/>
          </p:nvPr>
        </p:nvSpPr>
        <p:spPr>
          <a:xfrm rot="10800000">
            <a:off x="3262575" y="2449575"/>
            <a:ext cx="2618700" cy="1058100"/>
          </a:xfrm>
          <a:prstGeom prst="rect">
            <a:avLst/>
          </a:prstGeom>
          <a:noFill/>
          <a:ln>
            <a:noFill/>
          </a:ln>
        </p:spPr>
      </p:sp>
      <p:sp>
        <p:nvSpPr>
          <p:cNvPr id="392" name="Google Shape;392;p47"/>
          <p:cNvSpPr/>
          <p:nvPr>
            <p:ph idx="7" type="pic"/>
          </p:nvPr>
        </p:nvSpPr>
        <p:spPr>
          <a:xfrm rot="10800000">
            <a:off x="6054875" y="2449575"/>
            <a:ext cx="2618700" cy="1058100"/>
          </a:xfrm>
          <a:prstGeom prst="rect">
            <a:avLst/>
          </a:prstGeom>
          <a:noFill/>
          <a:ln>
            <a:noFill/>
          </a:ln>
        </p:spPr>
      </p:sp>
      <p:sp>
        <p:nvSpPr>
          <p:cNvPr id="393" name="Google Shape;393;p47"/>
          <p:cNvSpPr/>
          <p:nvPr>
            <p:ph idx="8" type="pic"/>
          </p:nvPr>
        </p:nvSpPr>
        <p:spPr>
          <a:xfrm rot="10800000">
            <a:off x="470275" y="1290401"/>
            <a:ext cx="2618700" cy="1058100"/>
          </a:xfrm>
          <a:prstGeom prst="rect">
            <a:avLst/>
          </a:prstGeom>
          <a:noFill/>
          <a:ln>
            <a:noFill/>
          </a:ln>
        </p:spPr>
      </p:sp>
      <p:sp>
        <p:nvSpPr>
          <p:cNvPr id="394" name="Google Shape;394;p47"/>
          <p:cNvSpPr/>
          <p:nvPr>
            <p:ph idx="9" type="pic"/>
          </p:nvPr>
        </p:nvSpPr>
        <p:spPr>
          <a:xfrm rot="10800000">
            <a:off x="3262575" y="1290401"/>
            <a:ext cx="2618700" cy="1058100"/>
          </a:xfrm>
          <a:prstGeom prst="rect">
            <a:avLst/>
          </a:prstGeom>
          <a:noFill/>
          <a:ln>
            <a:noFill/>
          </a:ln>
        </p:spPr>
      </p:sp>
      <p:sp>
        <p:nvSpPr>
          <p:cNvPr id="395" name="Google Shape;395;p47"/>
          <p:cNvSpPr/>
          <p:nvPr>
            <p:ph idx="13" type="pic"/>
          </p:nvPr>
        </p:nvSpPr>
        <p:spPr>
          <a:xfrm rot="10800000">
            <a:off x="6054875" y="1290401"/>
            <a:ext cx="2618700" cy="1058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theme" Target="../theme/theme1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65625" y="947373"/>
            <a:ext cx="8412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hakra Petch Medium"/>
              <a:buNone/>
              <a:defRPr sz="5000">
                <a:solidFill>
                  <a:schemeClr val="lt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hakra Petch Medium"/>
              <a:buNone/>
              <a:defRPr sz="5000">
                <a:solidFill>
                  <a:schemeClr val="lt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hakra Petch Medium"/>
              <a:buNone/>
              <a:defRPr sz="5000">
                <a:solidFill>
                  <a:schemeClr val="lt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hakra Petch Medium"/>
              <a:buNone/>
              <a:defRPr sz="5000">
                <a:solidFill>
                  <a:schemeClr val="lt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hakra Petch Medium"/>
              <a:buNone/>
              <a:defRPr sz="5000">
                <a:solidFill>
                  <a:schemeClr val="lt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hakra Petch Medium"/>
              <a:buNone/>
              <a:defRPr sz="5000">
                <a:solidFill>
                  <a:schemeClr val="lt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hakra Petch Medium"/>
              <a:buNone/>
              <a:defRPr sz="5000">
                <a:solidFill>
                  <a:schemeClr val="lt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hakra Petch Medium"/>
              <a:buNone/>
              <a:defRPr sz="5000">
                <a:solidFill>
                  <a:schemeClr val="lt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hakra Petch Medium"/>
              <a:buNone/>
              <a:defRPr sz="5000">
                <a:solidFill>
                  <a:schemeClr val="lt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78863" y="2519283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7350" lvl="0" marL="457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DM Sans"/>
              <a:buChar char="●"/>
              <a:defRPr sz="2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8735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DM Sans"/>
              <a:buChar char="○"/>
              <a:defRPr sz="2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873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DM Sans"/>
              <a:buChar char="■"/>
              <a:defRPr sz="2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8735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DM Sans"/>
              <a:buChar char="●"/>
              <a:defRPr sz="2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873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DM Sans"/>
              <a:buChar char="○"/>
              <a:defRPr sz="2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8735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DM Sans"/>
              <a:buChar char="■"/>
              <a:defRPr sz="2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873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DM Sans"/>
              <a:buChar char="●"/>
              <a:defRPr sz="2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8735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DM Sans"/>
              <a:buChar char="○"/>
              <a:defRPr sz="2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873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DM Sans"/>
              <a:buChar char="■"/>
              <a:defRPr sz="2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doi.org/10.1080/1331677x.2021.1875866" TargetMode="Externa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8"/>
          <p:cNvSpPr txBox="1"/>
          <p:nvPr>
            <p:ph type="ctrTitle"/>
          </p:nvPr>
        </p:nvSpPr>
        <p:spPr>
          <a:xfrm>
            <a:off x="924350" y="1051025"/>
            <a:ext cx="7871700" cy="278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Quarter 2 </a:t>
            </a:r>
            <a:r>
              <a:rPr lang="en" sz="4000"/>
              <a:t>Project</a:t>
            </a:r>
            <a:r>
              <a:rPr lang="en" sz="4000"/>
              <a:t>:</a:t>
            </a:r>
            <a:endParaRPr sz="4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800"/>
              <a:t>Handling Multi-Valued Attributes with Sub-Models</a:t>
            </a:r>
            <a:endParaRPr sz="5800"/>
          </a:p>
        </p:txBody>
      </p:sp>
      <p:sp>
        <p:nvSpPr>
          <p:cNvPr id="401" name="Google Shape;401;p48"/>
          <p:cNvSpPr txBox="1"/>
          <p:nvPr>
            <p:ph idx="1" type="subTitle"/>
          </p:nvPr>
        </p:nvSpPr>
        <p:spPr>
          <a:xfrm>
            <a:off x="573975" y="4137750"/>
            <a:ext cx="6805800" cy="4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Summer Alwood &amp; Sophia Stidman</a:t>
            </a:r>
            <a:endParaRPr/>
          </a:p>
        </p:txBody>
      </p:sp>
      <p:sp>
        <p:nvSpPr>
          <p:cNvPr id="402" name="Google Shape;402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9"/>
          <p:cNvSpPr txBox="1"/>
          <p:nvPr>
            <p:ph type="title"/>
          </p:nvPr>
        </p:nvSpPr>
        <p:spPr>
          <a:xfrm>
            <a:off x="232050" y="2112300"/>
            <a:ext cx="8321100" cy="265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50"/>
          <p:cNvSpPr txBox="1"/>
          <p:nvPr>
            <p:ph idx="2" type="subTitle"/>
          </p:nvPr>
        </p:nvSpPr>
        <p:spPr>
          <a:xfrm>
            <a:off x="4417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50"/>
          <p:cNvSpPr txBox="1"/>
          <p:nvPr>
            <p:ph idx="3" type="subTitle"/>
          </p:nvPr>
        </p:nvSpPr>
        <p:spPr>
          <a:xfrm>
            <a:off x="28372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50"/>
          <p:cNvSpPr txBox="1"/>
          <p:nvPr>
            <p:ph type="title"/>
          </p:nvPr>
        </p:nvSpPr>
        <p:spPr>
          <a:xfrm>
            <a:off x="1127850" y="1691230"/>
            <a:ext cx="6885300" cy="81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Problem:</a:t>
            </a:r>
            <a:endParaRPr/>
          </a:p>
        </p:txBody>
      </p:sp>
      <p:sp>
        <p:nvSpPr>
          <p:cNvPr id="415" name="Google Shape;415;p50"/>
          <p:cNvSpPr txBox="1"/>
          <p:nvPr>
            <p:ph idx="1" type="body"/>
          </p:nvPr>
        </p:nvSpPr>
        <p:spPr>
          <a:xfrm>
            <a:off x="1127850" y="2491658"/>
            <a:ext cx="6885300" cy="9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Chakra Petch"/>
                <a:ea typeface="Chakra Petch"/>
                <a:cs typeface="Chakra Petch"/>
                <a:sym typeface="Chakra Petch"/>
              </a:rPr>
              <a:t>Multi-valued data handling with Machine Learning algorithms</a:t>
            </a:r>
            <a:endParaRPr sz="3500">
              <a:latin typeface="Chakra Petch"/>
              <a:ea typeface="Chakra Petch"/>
              <a:cs typeface="Chakra Petch"/>
              <a:sym typeface="Chakra Petch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51"/>
          <p:cNvSpPr txBox="1"/>
          <p:nvPr>
            <p:ph idx="3" type="body"/>
          </p:nvPr>
        </p:nvSpPr>
        <p:spPr>
          <a:xfrm>
            <a:off x="365700" y="401002"/>
            <a:ext cx="8412600" cy="13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</a:t>
            </a:r>
            <a:r>
              <a:rPr lang="en"/>
              <a:t> Solutions</a:t>
            </a:r>
            <a:endParaRPr/>
          </a:p>
        </p:txBody>
      </p:sp>
      <p:graphicFrame>
        <p:nvGraphicFramePr>
          <p:cNvPr id="421" name="Google Shape;421;p51"/>
          <p:cNvGraphicFramePr/>
          <p:nvPr/>
        </p:nvGraphicFramePr>
        <p:xfrm>
          <a:off x="1082550" y="136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{CABB4C81-0042-400D-8A47-4D123343D0ED}</a:tableStyleId>
              </a:tblPr>
              <a:tblGrid>
                <a:gridCol w="660000"/>
                <a:gridCol w="731575"/>
                <a:gridCol w="731575"/>
                <a:gridCol w="731575"/>
                <a:gridCol w="731575"/>
                <a:gridCol w="731575"/>
                <a:gridCol w="731575"/>
                <a:gridCol w="731575"/>
                <a:gridCol w="842550"/>
                <a:gridCol w="731575"/>
              </a:tblGrid>
              <a:tr h="198950"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ORIGINAL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gridSpan="6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One-Hot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</a:tr>
              <a:tr h="248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A1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A2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Class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A1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A2=1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A2=2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A2=3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A2=4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Class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198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1,2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198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1,2,4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48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3,4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198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1,2,3,4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48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98950">
                <a:tc gridSpan="6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Create Columns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Proposed Solution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 hMerge="1"/>
                <a:tc hMerge="1"/>
              </a:tr>
              <a:tr h="198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A1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A2,1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A2,2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A2,3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A2,4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Class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A1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A2-pred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Class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198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52"/>
          <p:cNvSpPr txBox="1"/>
          <p:nvPr>
            <p:ph idx="1" type="subTitle"/>
          </p:nvPr>
        </p:nvSpPr>
        <p:spPr>
          <a:xfrm>
            <a:off x="4417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52"/>
          <p:cNvSpPr txBox="1"/>
          <p:nvPr>
            <p:ph idx="2" type="subTitle"/>
          </p:nvPr>
        </p:nvSpPr>
        <p:spPr>
          <a:xfrm>
            <a:off x="28372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52"/>
          <p:cNvSpPr txBox="1"/>
          <p:nvPr>
            <p:ph type="title"/>
          </p:nvPr>
        </p:nvSpPr>
        <p:spPr>
          <a:xfrm>
            <a:off x="365625" y="794973"/>
            <a:ext cx="84126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Related Works</a:t>
            </a:r>
            <a:endParaRPr/>
          </a:p>
        </p:txBody>
      </p:sp>
      <p:sp>
        <p:nvSpPr>
          <p:cNvPr id="429" name="Google Shape;429;p52"/>
          <p:cNvSpPr txBox="1"/>
          <p:nvPr>
            <p:ph idx="3" type="body"/>
          </p:nvPr>
        </p:nvSpPr>
        <p:spPr>
          <a:xfrm>
            <a:off x="1022850" y="1693125"/>
            <a:ext cx="76443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Multi-valued data → Single value data</a:t>
            </a:r>
            <a:endParaRPr/>
          </a:p>
        </p:txBody>
      </p:sp>
      <p:sp>
        <p:nvSpPr>
          <p:cNvPr id="430" name="Google Shape;430;p52"/>
          <p:cNvSpPr txBox="1"/>
          <p:nvPr>
            <p:ph idx="4" type="body"/>
          </p:nvPr>
        </p:nvSpPr>
        <p:spPr>
          <a:xfrm>
            <a:off x="1774650" y="2307175"/>
            <a:ext cx="68925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projection into continuous space [1]</a:t>
            </a:r>
            <a:endParaRPr/>
          </a:p>
        </p:txBody>
      </p:sp>
      <p:sp>
        <p:nvSpPr>
          <p:cNvPr id="431" name="Google Shape;431;p52"/>
          <p:cNvSpPr txBox="1"/>
          <p:nvPr>
            <p:ph idx="5" type="body"/>
          </p:nvPr>
        </p:nvSpPr>
        <p:spPr>
          <a:xfrm>
            <a:off x="1774650" y="2921225"/>
            <a:ext cx="68925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Sending values into aggregate function [3]</a:t>
            </a:r>
            <a:endParaRPr/>
          </a:p>
        </p:txBody>
      </p:sp>
      <p:sp>
        <p:nvSpPr>
          <p:cNvPr id="432" name="Google Shape;432;p52"/>
          <p:cNvSpPr txBox="1"/>
          <p:nvPr>
            <p:ph idx="6" type="body"/>
          </p:nvPr>
        </p:nvSpPr>
        <p:spPr>
          <a:xfrm>
            <a:off x="1022850" y="3535325"/>
            <a:ext cx="76443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Multi-valued decision trees [2][4]</a:t>
            </a:r>
            <a:endParaRPr/>
          </a:p>
        </p:txBody>
      </p:sp>
      <p:sp>
        <p:nvSpPr>
          <p:cNvPr id="433" name="Google Shape;433;p52"/>
          <p:cNvSpPr txBox="1"/>
          <p:nvPr>
            <p:ph idx="7" type="body"/>
          </p:nvPr>
        </p:nvSpPr>
        <p:spPr>
          <a:xfrm>
            <a:off x="1022850" y="4149450"/>
            <a:ext cx="76443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3"/>
          <p:cNvSpPr/>
          <p:nvPr/>
        </p:nvSpPr>
        <p:spPr>
          <a:xfrm>
            <a:off x="6041325" y="1180300"/>
            <a:ext cx="2488200" cy="13914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lt1"/>
                </a:solidFill>
                <a:latin typeface="Chakra Petch"/>
                <a:ea typeface="Chakra Petch"/>
                <a:cs typeface="Chakra Petch"/>
                <a:sym typeface="Chakra Petch"/>
              </a:rPr>
              <a:t>FCPD 2024 crime data</a:t>
            </a:r>
            <a:endParaRPr sz="1800">
              <a:solidFill>
                <a:schemeClr val="lt1"/>
              </a:solidFill>
              <a:latin typeface="Chakra Petch"/>
              <a:ea typeface="Chakra Petch"/>
              <a:cs typeface="Chakra Petch"/>
              <a:sym typeface="Chakra Petch"/>
            </a:endParaRPr>
          </a:p>
        </p:txBody>
      </p:sp>
      <p:sp>
        <p:nvSpPr>
          <p:cNvPr id="439" name="Google Shape;439;p53"/>
          <p:cNvSpPr txBox="1"/>
          <p:nvPr>
            <p:ph idx="4294967295" type="body"/>
          </p:nvPr>
        </p:nvSpPr>
        <p:spPr>
          <a:xfrm>
            <a:off x="756249" y="1051600"/>
            <a:ext cx="3327300" cy="375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33859 Instances (Arrest Charges)</a:t>
            </a:r>
            <a:endParaRPr sz="1500">
              <a:solidFill>
                <a:schemeClr val="dk2"/>
              </a:solidFill>
            </a:endParaRPr>
          </a:p>
        </p:txBody>
      </p:sp>
      <p:pic>
        <p:nvPicPr>
          <p:cNvPr id="440" name="Google Shape;440;p53"/>
          <p:cNvPicPr preferRelativeResize="0"/>
          <p:nvPr/>
        </p:nvPicPr>
        <p:blipFill rotWithShape="1">
          <a:blip r:embed="rId3">
            <a:alphaModFix/>
          </a:blip>
          <a:srcRect b="0" l="0" r="0" t="4961"/>
          <a:stretch/>
        </p:blipFill>
        <p:spPr>
          <a:xfrm>
            <a:off x="1361225" y="3609750"/>
            <a:ext cx="7168300" cy="95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6250" y="1427488"/>
            <a:ext cx="3815739" cy="1702675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53"/>
          <p:cNvSpPr/>
          <p:nvPr/>
        </p:nvSpPr>
        <p:spPr>
          <a:xfrm rot="5400000">
            <a:off x="4920250" y="2230875"/>
            <a:ext cx="1046400" cy="15474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43" name="Google Shape;443;p53"/>
          <p:cNvSpPr txBox="1"/>
          <p:nvPr>
            <p:ph idx="4294967295" type="title"/>
          </p:nvPr>
        </p:nvSpPr>
        <p:spPr>
          <a:xfrm>
            <a:off x="365700" y="355373"/>
            <a:ext cx="84126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Transform </a:t>
            </a:r>
            <a:r>
              <a:rPr lang="en" sz="3000"/>
              <a:t>(simplified)</a:t>
            </a:r>
            <a:endParaRPr sz="3000"/>
          </a:p>
        </p:txBody>
      </p:sp>
      <p:sp>
        <p:nvSpPr>
          <p:cNvPr id="444" name="Google Shape;444;p53"/>
          <p:cNvSpPr txBox="1"/>
          <p:nvPr>
            <p:ph idx="3" type="body"/>
          </p:nvPr>
        </p:nvSpPr>
        <p:spPr>
          <a:xfrm>
            <a:off x="365700" y="367601"/>
            <a:ext cx="8412600" cy="81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Dataset - Transformation </a:t>
            </a:r>
            <a:r>
              <a:rPr lang="en" sz="2400"/>
              <a:t>(simplified)</a:t>
            </a:r>
            <a:endParaRPr sz="2400"/>
          </a:p>
        </p:txBody>
      </p:sp>
      <p:sp>
        <p:nvSpPr>
          <p:cNvPr id="445" name="Google Shape;445;p53"/>
          <p:cNvSpPr txBox="1"/>
          <p:nvPr>
            <p:ph idx="4294967295" type="body"/>
          </p:nvPr>
        </p:nvSpPr>
        <p:spPr>
          <a:xfrm>
            <a:off x="1361235" y="3233846"/>
            <a:ext cx="4108500" cy="3759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19818 Arrest Instances (unique ArrestID)</a:t>
            </a:r>
            <a:endParaRPr sz="15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F9C9C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4"/>
          <p:cNvSpPr txBox="1"/>
          <p:nvPr>
            <p:ph idx="6" type="body"/>
          </p:nvPr>
        </p:nvSpPr>
        <p:spPr>
          <a:xfrm>
            <a:off x="534150" y="3526275"/>
            <a:ext cx="80757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37 Attributes (5 Multi-Valued Attributes)</a:t>
            </a:r>
            <a:endParaRPr/>
          </a:p>
        </p:txBody>
      </p:sp>
      <p:sp>
        <p:nvSpPr>
          <p:cNvPr id="451" name="Google Shape;451;p54"/>
          <p:cNvSpPr txBox="1"/>
          <p:nvPr>
            <p:ph type="title"/>
          </p:nvPr>
        </p:nvSpPr>
        <p:spPr>
          <a:xfrm>
            <a:off x="365625" y="794973"/>
            <a:ext cx="84126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</a:t>
            </a:r>
            <a:endParaRPr/>
          </a:p>
        </p:txBody>
      </p:sp>
      <p:sp>
        <p:nvSpPr>
          <p:cNvPr id="452" name="Google Shape;452;p54"/>
          <p:cNvSpPr txBox="1"/>
          <p:nvPr>
            <p:ph idx="3" type="body"/>
          </p:nvPr>
        </p:nvSpPr>
        <p:spPr>
          <a:xfrm>
            <a:off x="534150" y="1684075"/>
            <a:ext cx="80757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Class: Arrest_Type </a:t>
            </a:r>
            <a:r>
              <a:rPr lang="en" sz="1666"/>
              <a:t>(On-View Arrest, Summoned/Cited, Taken into Custody)</a:t>
            </a:r>
            <a:endParaRPr sz="1666"/>
          </a:p>
        </p:txBody>
      </p:sp>
      <p:sp>
        <p:nvSpPr>
          <p:cNvPr id="453" name="Google Shape;453;p54"/>
          <p:cNvSpPr txBox="1"/>
          <p:nvPr>
            <p:ph idx="4" type="body"/>
          </p:nvPr>
        </p:nvSpPr>
        <p:spPr>
          <a:xfrm>
            <a:off x="534150" y="2298113"/>
            <a:ext cx="80757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Contains information concerning the…</a:t>
            </a:r>
            <a:endParaRPr/>
          </a:p>
        </p:txBody>
      </p:sp>
      <p:sp>
        <p:nvSpPr>
          <p:cNvPr id="454" name="Google Shape;454;p54"/>
          <p:cNvSpPr txBox="1"/>
          <p:nvPr>
            <p:ph idx="5" type="body"/>
          </p:nvPr>
        </p:nvSpPr>
        <p:spPr>
          <a:xfrm>
            <a:off x="534150" y="2912175"/>
            <a:ext cx="80757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Location, Arrest/Charge, Arrestee, Officer &amp; Station</a:t>
            </a:r>
            <a:endParaRPr/>
          </a:p>
        </p:txBody>
      </p:sp>
      <p:sp>
        <p:nvSpPr>
          <p:cNvPr id="455" name="Google Shape;455;p54"/>
          <p:cNvSpPr txBox="1"/>
          <p:nvPr>
            <p:ph idx="7" type="body"/>
          </p:nvPr>
        </p:nvSpPr>
        <p:spPr>
          <a:xfrm>
            <a:off x="534150" y="4140400"/>
            <a:ext cx="80757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</a:t>
            </a:r>
            <a:endParaRPr/>
          </a:p>
        </p:txBody>
      </p:sp>
      <p:sp>
        <p:nvSpPr>
          <p:cNvPr id="456" name="Google Shape;456;p54"/>
          <p:cNvSpPr txBox="1"/>
          <p:nvPr>
            <p:ph idx="7" type="body"/>
          </p:nvPr>
        </p:nvSpPr>
        <p:spPr>
          <a:xfrm>
            <a:off x="534150" y="4140400"/>
            <a:ext cx="82998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</a:t>
            </a:r>
            <a:r>
              <a:rPr lang="en" sz="1647"/>
              <a:t>Statute, Statute_Description, IBR_Code </a:t>
            </a:r>
            <a:r>
              <a:rPr lang="en" sz="924"/>
              <a:t>(removed)</a:t>
            </a:r>
            <a:r>
              <a:rPr lang="en" sz="1647"/>
              <a:t>, IBRDescription, FelonyMisdmenor</a:t>
            </a:r>
            <a:endParaRPr sz="1647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5"/>
          <p:cNvSpPr/>
          <p:nvPr/>
        </p:nvSpPr>
        <p:spPr>
          <a:xfrm>
            <a:off x="307900" y="3822450"/>
            <a:ext cx="1010100" cy="1125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62" name="Google Shape;462;p55"/>
          <p:cNvSpPr txBox="1"/>
          <p:nvPr>
            <p:ph idx="3" type="body"/>
          </p:nvPr>
        </p:nvSpPr>
        <p:spPr>
          <a:xfrm>
            <a:off x="394475" y="216975"/>
            <a:ext cx="7480800" cy="13716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/>
              <a:t>Why not One-Hot?</a:t>
            </a:r>
            <a:endParaRPr sz="2400"/>
          </a:p>
        </p:txBody>
      </p:sp>
      <p:grpSp>
        <p:nvGrpSpPr>
          <p:cNvPr id="463" name="Google Shape;463;p55"/>
          <p:cNvGrpSpPr/>
          <p:nvPr/>
        </p:nvGrpSpPr>
        <p:grpSpPr>
          <a:xfrm>
            <a:off x="650550" y="919800"/>
            <a:ext cx="8246950" cy="3994200"/>
            <a:chOff x="650550" y="919800"/>
            <a:chExt cx="8246950" cy="3994200"/>
          </a:xfrm>
        </p:grpSpPr>
        <p:sp>
          <p:nvSpPr>
            <p:cNvPr id="464" name="Google Shape;464;p55"/>
            <p:cNvSpPr txBox="1"/>
            <p:nvPr/>
          </p:nvSpPr>
          <p:spPr>
            <a:xfrm>
              <a:off x="650550" y="919800"/>
              <a:ext cx="2784000" cy="3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['18.2-266' '18.2-272(C)' '18.2-268.3' '18.2-272(B)' '18.2-250(A)(a)'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'18.2-388' '18.2-57(A)' '18.2-95(ii)' '46.2-301' '82-1-6[18.2-266.1]'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'46.2-707' '46.2-300' '5-4-1' '3.2-6570(A)' '18.2-137(A)' '46.2-894'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'18.2-119' '18.2-57.2(A)' '18.2-51.6' '18.2-47(A)' '18.2-137(B)(i)'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'5-1-1' '18.2-460(B)' '18.2-415' '18.2-51' '18.2-308' '18.2-282(A)'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'6-2-1/15.2-915' '18.2-272' '18.2-152.7:1' '18.2-96(2)' '16.1-253.2'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'18.2-103' '16.1-291' '18.2-111' '18.2-460(E)' '54.1-3466' '19.2-100'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'46.2-852' '46.2-302' '82-1-6[18.2-266]' '18.2-147' '82-1-6[18.2-268.3]'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'46.2-896' '18.2-94' '18.2-371.1(B)' '19.2-128(C)' '46.2-613(2)'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'18.2-121' '18.2-280(A)' '33.2-802' '19.2-123' '18.2-308.2:2(K)'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'18.2-57(C)' '18.2-96(1)' '18.2-456' '18.2-248(C)' '19.2-128(B)'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'18.2-308.2(A)' '18.2-248.1(a)(2)' '19.2-82.1' '18.2-250(A)(b)'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'18.2-460(A)' '18.2-186.3(B1)' '18.2-195(1)' '18.2-192(1)(a)'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'18.2-186.3(A)' '18.2-195(4)' '18.2-117' '18.2-57.2' '18.2-60.4'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'18.2-91' '18.2-429(B)' '18.2-178' '18.2-186.3(D)' '18.2-193' '18.2-168'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'18.2-204.2(C)' '18.2-308.4(A)' '18.2-422' '18.2-42' '46.2-817'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'82-1-29.1' '46.2-859' '18.2-46.6(A)' '18.2-102' '18.2-60.3(A)'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'18.2-371.2(B)' '18.2-60(A)(1)' '19.2-306' '18.2-323.1' '18.2-279'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'18.2-108.01(A)' '18.2-23(B)' '82-1-6[18.2-272]' '18.2-58' '19.2-99'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'18.2-83' '18.2-52' '18.2-456(6)' '18.2-308.2:1' '18.2-387.1'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'46.2-391(D)(2a)(i)' '18.2-188' '18.2-51.2(A)' '18.2-137(B)(ii)'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'46.2-833' '18.2-371(i)' '18.2-67.4(A)(II)' '18.2-164(B)' '16.1-279.1'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'18.2-461' '16.1-253' '18.2-41' '18.2-427' '18.2-200.1' '54.1-1115'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'18.2-49.1(B)' '19.2-358' '18.2-128(A)' '19.2-303.3' '18.2-248.1(a)(1)'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'53.1-203(5)' '82-1-6[46.2-862]' '18.2-308.4(B)' '18.2-347' '18.2-248.01'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'18.2-308.1(A)' '18.2-212' '18.2-174' '18.2-287.4(i)' '18.2-67.1'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'18.2-264(b)' '18.2-160.1' '46.2-818' '58.1-4018.1' '58.1-4018'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'18.2-308.2:2' '46.2-910(B)' '5-6-6(D)(1)' '53.1-203(6)' '18.2-447'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'18.2-308.1:4(B)' '18.2-51.3' '18.2-31(8)' '18.2-31(7)' '18.2-355(1)'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'18.2-404' '46.2-1247' '46.2-831' '18.2-160.2' '18.2-60(B)' '18.2-248(F)'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'63.2-1509' '5-6-6(D)(7)' '46.2-897' '53.1-162' '18.2-355(4)'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'18.2-47(D)' '18.2-374.4' '18.2-419' '3.2-6545' 'Z-46.2-301' '18.2-119.1'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'Z-46.2-826' '18.2-308(H)' '4.1-304' '46.2-335(H)' '46.2-865'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'Z-46.2-802' '18.2-429(A)' '46.2-863' '18.2-67.1(A)(1)' '18.2-248(H)'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'18.2-19' '82-1-6[46.2-861.1(A)]' '27-100' '18.2-196.1(C)'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dk1"/>
                </a:solidFill>
              </a:endParaRPr>
            </a:p>
          </p:txBody>
        </p:sp>
        <p:sp>
          <p:nvSpPr>
            <p:cNvPr id="465" name="Google Shape;465;p55"/>
            <p:cNvSpPr txBox="1"/>
            <p:nvPr/>
          </p:nvSpPr>
          <p:spPr>
            <a:xfrm>
              <a:off x="3167900" y="919800"/>
              <a:ext cx="3000000" cy="388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'18.2-366(B)' '18.2-67.3' '18.2-67.2' '18.2-61' '4.1-1109(A)' '5-1-27'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'19.2-303.2' '18.2-374.1(B)(1)' '18.2-374.3(D)' '18.2-370(A)'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'46.2-817(B)' '3.2-6570(F)' '18.2-81' '82-1-6[46.2-300]' '18.2-95(i)'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'18.2-108' '5-1-4' '18.2-104' '46.2-722' '18.2-181' '18.2-371(ii)'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'5-1-25' '46.2-1075' '18.2-89' '18.2-371.1(A)' '40.1-103' '18.2-32'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'18.2-460(C)' '4.1-308' '18.2-53.1' '18.2-460(D)' '18.2-57.2(B)'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'18.2-164(A)' '18.2-170' '18.2-173' '18.2-248.1(a)(3)' '108.1-4-1'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'18.2-248(E2)' '19.2-152.4:1' '4.1-305(A)' '18.2-311.1' '53.1-149'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'16.1-250' '18.2-370.1(A)' '18.2-197' '18.2-268.2' '18.2-172' '18.2-51.1'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'85-1-6' '18.2-258' '46.2-1074' '18.2-248(E1)' '82-1-6[46.2-301]'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'18.2-204.2(B)' '18.2-186(A)' '18.2-308.1:6' '46.2-862(i)'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'18.2-61(A)(i)' '18.2-67.2(A)(2)' '18.2-308.5:1' '18.2-287.4(ii)'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'46.2-862' '18.2-118' '82-1-6[46.2-862(ii)]' '46.2-888(C)' '46.2-612(1)'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'82-1-6[46.2-868.1]' '16.1-278.16' '18.2-266.1' '18.2-322' '18.2-146'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'18.2-63' '82-3-24' '18.2-48(i)' '18.2-414.1' '18.2-246.3(A)'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'18.2-46.6(C)' '18.2-282.1' '18.2-370(D)(i)' '18.2-361(B)' '18.2-102.1'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'46.2-1077.01' '18.2-98' '18.2-286.1' '6-1-2' '18.2-264(a)'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'18.2-374.1:1(A)' '18.2-57.02' '60.2-518(A)(1)' '18.2-387'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'46.2-612(B)(1)' '18.2-308.4(C)' '82-1-6[46.2-894]' '18.2-105.2'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'46.2-853' '18.2-108.1' '4.1-1107' '18.2-96' '18.2-46.2' '18.2-371.2(A)'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'19.2-295.2(B)' '18.2-250(A)(b1)' '18.2-374.1:1(C)' '3.2-6503'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'18.2-95(iii)' '18.2-97' '18.2-182' '18.2-250(A)(c)' '18.2-374'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'18.2-189' '82-1-6[46.2-896]' '82-1-6[46.2-862(i)]' '82-1-6[46.2-613(2)]'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'18.2-374.3' '18.2-386.1' '18.2-192(1)(b)' '18.2-92' '18.2-59(i)'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'18.2-46.3(A)' '18.2-308.2:01(A)' '18.2-255.2' '18.2-130(A)'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'18.2-366(A)' '18.2-270.1' '18.2-36' '18.2-138' '18.2-108.01(B)'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'18.2-51.4(A)' '18.2-128(B)' '41.1-2-2' '41.1-2-4' '31-2-1' '5-1-1(B)'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'19.2-298.02' '18.2-195.2(A)' '18.2-58.1(A)' '18.2-61(A)(iii)'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'53.1-203(9)' '18.2-61(A)(ii)' '18.2-374.1:1(C)(I)' '46.2-328'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'46.2-910(A)' '18.2-374.1:1(B)' '18.2-206' '19.2-305.2' '18.2-56.1(A)'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'46.2-105.2(A)' '18.2-103.1' '18.2-255(A)(i)' '18.2-472.1' '18.2-429'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'18.2-60.5' '18.2-67.4(A)(i)' '18.2-86' '18.2-36.1(A)' '5-1-2'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'82-1-6[46.2-852]' '16.1-292(A)' '4.1-1109(B)' '4.1-306' '46.2-938'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'41.1-4-2' '58.1-4018.1(A)' '82-1-6[46.2-854]' '18.2-441.1' '46.2-860'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'Z-0' '46.2-329' '15.2-1812.2(A)' '18.2-196.1(A)' '18.2-311' '18.2-462.1'</a:t>
              </a:r>
              <a:endParaRPr/>
            </a:p>
          </p:txBody>
        </p:sp>
        <p:sp>
          <p:nvSpPr>
            <p:cNvPr id="466" name="Google Shape;466;p55"/>
            <p:cNvSpPr txBox="1"/>
            <p:nvPr/>
          </p:nvSpPr>
          <p:spPr>
            <a:xfrm>
              <a:off x="5897500" y="919800"/>
              <a:ext cx="3000000" cy="399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18.2-84' '18.2-308.1:3' '18.2-361(A)' '46.2-895' 'WARR-90Z-10'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'18.2-51.2(B)' '82-1-6[46.2-817]' '18.2-55' '4.1-1105.1' '18.2-462(A)'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'18.2-283.1' '53.1-203(7)' '18.2-258.1(A)' '18.2-57.01' '5.1-22'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'18.2-386.2' '82-3-14' '18.2-154' '18.2-195(2)' '18.2-374.3(A)'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'18.2-456(1)' '46.2-902.1' '18.2-57.3' '18.2-56.2(A)' '18.2-48(ii)'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'18.2-56.1(A)(1)' '18.2-67.2(A)(1)' '18.2-152.7' '16.1-253.1' '10.1-1143'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'18.2-137' '18.2-93' '18.2-374.1(B)(2)' '53.1-203(10)' '18.2-108(A)'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'18.2-323.02' '19.2-124' '18.2-77(A)(i)' '82-1-6[46.2-613(5)]' '46.2-857'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'WARR-90Z-13' '16.1-69.24' '18.2-152.3(1)' '18.2-456(5)' '18.2-313.1'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'3.2-6540(E)' '18.2-403.1(1)' '18.2-308.012' '19.2-135' '18.2-67.3(A)(1)'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'54.1-102' '46.2-817(A)' '46.2-862(ii)' '46.2-868.1' '18.2-67.3(A)(3)(c)'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'18.2-374.3(C)' '18.2-308.4' '18.2-308.1(B)' '41.1-2-15' '18.2-60.3(B)'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'82-1-6[46.2-715]' '18.2-308.2:01(B)' '18.2-138.1' '82-3-17'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'82-1-6[46.2-859]' '18.2-49.1(A)' '18.2-87' nan '46.2-861' '18.2-271.1'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'18.2-165.2' '22.1-254' '5-1-20' '46.2-1052' '46.2-1171' '18.2-152.3(2)'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'18.2-152.4(A)(3)' '82-1-6[46.2-817(A)]' '4.1-1100(C)' '18.2-251.4(2)'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'31-2-3(A)' '18.2-272(A)' '19.2-152.8' '18.2-144.1' '18.2-369(A)'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'46.2-605' '46.2-348' '46.2-105.2' '18.2-346(B)' '83-4-12' '18.2-109'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'49CFR392.4' '18.2-346(A)' '18.2-370.2(B)' '18.2-23(A)' '22.1-263'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'29.1-738.01' '18.2-290' '18.2-90' '18.2-280(B)' '4.1-302' '18.2-140'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'18.2-192(1)(d)' '18.2-416' 'BURG-90Z' '18.2-357' '18.2-357.1(A)'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'18.2-67.1(A)(2)' '46.2-391(D)(1)' '46.2-819.4' '5-6-6(A)' '27-97'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'29.1-703' '4.1-324' '18.2-67.3(A)(2)' '18.2-152.4(A)(4)'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'18.2-152.4(A)(1)' '82-1-6(18.2-266)' '82-1-6[46.2-853]' '18.2-251.3'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'46.2-618' '59.1-92.12' '59.1-92.12(1)' '59.1-92.12(2)' '46.2-861.1(A)'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'5-1-26' '18.2-312' '18.2-151.1' '46.2-301.1' '18.2-22(A1)' '18.2-77(B)'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'18.2-370(C)' '18.2-357.1' '18.2-57(B)' '18.2-115' '18.2-474'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'18.2-499(A)' '37.2-429' '18.2-478' '46.2-1565' '18.2-159' '4.1-309(B)'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'82-6-10' '18.2-51.6 (A)' '18.2-280(C)' '40.1-29' '18.2-438' '18.2-434'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'46.2-391(D)(2a)(ii)' 'Z-82-4-24' '18.2-47(B)' '29.1-702' '29.1-335'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'18.2-369(B)' '18.2-50' '4.1-1101(D)(1)(II)' '18.2-248.1(c)'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'18.2-374.3(B)' '29.1-735' '18.2-248(E3)' '18.2-248.1(d)' '31-1-2'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'46.2-864' '53.1-203(1)' '18.2-308.7' '18.2-152.4(A)(6)' '46.2-612'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18.2-251.4(1)' '40.1-112' '54.1-111' '82-1-29' '18.2-146.1'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'82-1-6[46.2-1093]' '18.2-95' '46.2-335(C)' '18.2-54.2' '18.2-54.1'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</a:rPr>
                <a:t> '5-1-15']</a:t>
              </a:r>
              <a:endParaRPr/>
            </a:p>
          </p:txBody>
        </p:sp>
      </p:grpSp>
      <p:sp>
        <p:nvSpPr>
          <p:cNvPr id="467" name="Google Shape;467;p55"/>
          <p:cNvSpPr/>
          <p:nvPr/>
        </p:nvSpPr>
        <p:spPr>
          <a:xfrm>
            <a:off x="2472216" y="2296418"/>
            <a:ext cx="4141800" cy="894600"/>
          </a:xfrm>
          <a:prstGeom prst="roundRect">
            <a:avLst>
              <a:gd fmla="val 16667" name="adj"/>
            </a:avLst>
          </a:prstGeom>
          <a:solidFill>
            <a:srgbClr val="631212">
              <a:alpha val="75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rPr>
              <a:t>528 unique values</a:t>
            </a:r>
            <a:endParaRPr sz="3600">
              <a:solidFill>
                <a:schemeClr val="dk1"/>
              </a:solidFill>
              <a:latin typeface="Chakra Petch Medium"/>
              <a:ea typeface="Chakra Petch Medium"/>
              <a:cs typeface="Chakra Petch Medium"/>
              <a:sym typeface="Chakra Petch Medium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rPr>
              <a:t>(Statute)</a:t>
            </a:r>
            <a:endParaRPr sz="2000">
              <a:solidFill>
                <a:schemeClr val="dk1"/>
              </a:solidFill>
              <a:latin typeface="Chakra Petch Medium"/>
              <a:ea typeface="Chakra Petch Medium"/>
              <a:cs typeface="Chakra Petch Medium"/>
              <a:sym typeface="Chakra Petch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56"/>
          <p:cNvSpPr txBox="1"/>
          <p:nvPr>
            <p:ph idx="3" type="body"/>
          </p:nvPr>
        </p:nvSpPr>
        <p:spPr>
          <a:xfrm>
            <a:off x="365700" y="390152"/>
            <a:ext cx="8412600" cy="13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/>
              <a:t>Why not One-Hot</a:t>
            </a:r>
            <a:r>
              <a:rPr lang="en" sz="4700"/>
              <a:t>?</a:t>
            </a:r>
            <a:endParaRPr sz="2400"/>
          </a:p>
        </p:txBody>
      </p:sp>
      <p:graphicFrame>
        <p:nvGraphicFramePr>
          <p:cNvPr id="473" name="Google Shape;473;p56"/>
          <p:cNvGraphicFramePr/>
          <p:nvPr/>
        </p:nvGraphicFramePr>
        <p:xfrm>
          <a:off x="554925" y="1125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{2359C1C3-1BB7-4A5B-A511-6342B78CC911}</a:tableStyleId>
              </a:tblPr>
              <a:tblGrid>
                <a:gridCol w="503100"/>
                <a:gridCol w="993250"/>
                <a:gridCol w="503800"/>
                <a:gridCol w="419750"/>
                <a:gridCol w="419750"/>
                <a:gridCol w="419750"/>
                <a:gridCol w="419750"/>
                <a:gridCol w="676350"/>
                <a:gridCol w="568375"/>
              </a:tblGrid>
              <a:tr h="432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2024017852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9/16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N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38.843619</a:t>
                      </a:r>
                      <a:endParaRPr sz="9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-77.31145</a:t>
                      </a:r>
                      <a:endParaRPr sz="9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1971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Statute_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Description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 gridSpan="8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['PRODUCE CHILD PORN AGE &lt;15', 'PRODUCE CHILD PORN AGE &lt;15', 'PRODUCE CHILD PORN AGE &lt;15', 'PRODUCE CHILD PORN AGE &lt;15', 'PRODUCE CHILD PORN AGE &lt;15', 'PRODUCE CHILD PORN AGE &lt;15', 'PRODUCE CHILD PORN AGE &lt;15', 'PRODUCE CHILD PORN AGE &lt;15', 'PRODUCE CHILD PORN AGE &lt;15', 'PRODUCE CHILD PORN AGE &lt;15', 'PRODUCE CHILD PORN AGE &lt;15', 'PRODUCE CHILD PORN AGE &lt;15', 'PRODUCE CHILD PORN AGE &lt;15', 'PRODUCE CHILD PORN AGE &lt;15', 'PRODUCE CHILD PORN AGE &lt;15', 'PRODUCE CHILD PORN AGE &lt;15', 'PRODUCE CHILD PORN AGE &lt;15', 'PRODUCE CHILD PORN AGE &lt;15', 'PRODUCE CHILD PORN AGE &lt;15', 'PRODUCE CHILD PORN AGE &lt;15', 'PRODUCE CHILD PORN AGE &lt;15', 'PRODUCE CHILD PORN AGE &lt;15', 'PRODUCE CHILD PORN AGE &lt;15', 'PRODUCE CHILD PORN AGE &lt;15', 'PRODUCE CHILD PORN AGE &lt;15', 'COMPUTER: USE TO COMMIT CERTAIN SEX.OFF. W/MINOR', 'COMPUTER: USE TO COMMIT CERTAIN SEX.OFF. W/MINOR', 'COMPUTER: USE TO COMMIT CERTAIN SEX.OFF. W/MINOR', 'COMPUTER: USE TO COMMIT CERTAIN SEX.OFF. W/MINOR', 'COMPUTER: USE TO COMMIT CERTAIN SEX.OFF. W/MINOR', 'COMPUTER: USE TO COMMIT CERTAIN SEX.OFF. W/MINOR', 'COMPUTER: USE TO COMMIT CERTAIN SEX.OFF. W/MINOR', 'COMPUTER: USE TO COMMIT CERTAIN SEX.OFF. W/MINOR', 'COMPUTER: USE TO COMMIT CERTAIN SEX.OFF. W/MINOR', 'COMPUTER: USE TO COMMIT CERTAIN SEX.OFF. W/MINOR', 'COMPUTER: USE TO COMMIT CERTAIN SEX.OFF. W/MINOR', 'COMPUTER: USE TO COMMIT CERTAIN SEX.OFF. W/MINOR', 'COMPUTER: USE TO COMMIT CERTAIN SEX.OFF. W/MINOR', 'COMPUTER: USE TO COMMIT CERTAIN SEX.OFF. W/MINOR', 'COMPUTER: USE TO COMMIT CERTAIN SEX.OFF. W/MINOR', 'COMPUTER: USE TO COMMIT CERTAIN SEX.OFF. W/MINOR', 'COMPUTER: USE TO COMMIT CERTAIN SEX.OFF. W/MINOR', 'COMPUTER: USE TO COMMIT CERTAIN SEX.OFF. W/MINOR', 'COMPUTER: USE TO COMMIT CERTAIN SEX.OFF. W/MINOR', 'COMPUTER: USE TO COMMIT CERTAIN SEX.OFF. W/MINOR', 'COMPUTER: USE TO COMMIT CERTAIN SEX.OFF. W/MINOR', 'COMPUTER: USE TO COMMIT CERTAIN SEX.OFF. W/MINOR', 'COMPUTER: USE TO COMMIT CERTAIN SEX.OFF. W/MINOR', 'COMPUTER: USE TO COMMIT CERTAIN SEX.OFF. W/MINOR', 'COMPUTER: USE TO COMMIT CERTAIN SEX.OFF. W/MINOR', 'PRODUCE CHILD PORN AGE &lt;15, OFFENDER 7+ YRS', 'PRODUCE CHILD PORN &lt;15, OFFNDR 7+ YR, 2ND OFFENS', 'PRODUCE CHILD PORN &lt;15, OFFNDR 7+ YR, 2ND OFFENS', 'PRODUCE CHILD PORN &lt;15, OFFNDR 7+ YR, 2ND OFFENS', 'PRODUCE CHILD PORN &lt;15, OFFNDR 7+ YR, 2ND OFFENS', 'PRODUCE CHILD PORN &lt;15, OFFNDR 7+ YR, 2ND OFFENS', 'PRODUCE CHILD PORN &lt;15, OFFNDR 7+ YR, 2ND OFFENS', 'PRODUCE CHILD PORN AGE &lt;15', 'PRODUCE CHILD PORN 15+, OFFNDR 7+ YR, 2ND OFFENS', 'PRODUCE CHILD PORN &lt;15, OFFNDR 7+ YR, 2ND OFFENS', 'PRODUCE CHILD PORN &lt;15, OFFNDR 7+ YR, 2ND OFFENS', 'PRODUCE CHILD PORN &lt;15, OFFNDR 7+ YR, 2ND OFFENS', 'PRODUCE CHILD PORN &lt;15, OFFNDR 7+ YR, 2ND OFFENS', 'PRODUCE CHILD PORN &lt;15, OFFNDR 7+ YR, 2ND OFFENS', 'PRODUCE CHILD PORN &lt;15, OFFNDR 7+ YR, 2ND OFFENS', 'PRODUCE CHILD PORN &lt;15, OFFNDR 7+ YR, 2ND OFFENS', 'PRODUCE CHILD PORN &lt;15, OFFNDR 7+ YR, 2ND OFFENS', 'PRODUCE CHILD PORN &lt;15, OFFNDR 7+ YR, 2ND OFFENS', 'PRODUCE CHILD PORN &lt;15, OFFNDR 7+ YR, 2ND OFFENS', 'PRODUCE CHILD PORN &lt;15, OFFNDR 7+ YR, 2ND OFFENS', 'PRODUCE CHILD PORN &lt;15, OFFNDR 7+ YR, 2ND OFFENS', 'PRODUCE CHILD PORN &lt;15, OFFNDR 7+ YR, 2ND OFFENS', 'PRODUCE CHILD PORN &lt;15, OFFNDR 7+ YR, 2ND OFFENS', 'PRODUCE CHILD PORN &lt;15, OFFNDR 7+ YR, 2ND OFFENS', 'PRODUCE CHILD PORN &lt;15, OFFNDR 7+ YR, 2ND OFFENS', 'AGGRAVATED SEXUAL BATTERY: VICTIM &lt;13 YRS', 'AGGRAVATED SEXUAL BATTERY: VICTIM &lt;13 YRS', 'INDECENT LIBERTIES: W/CHILD &lt;15Y', 'PROSTITUTION: CAUSE PERSON TO ENTER BAWDY PLACE', 'PROSTITUTION: CAUSE PERSON TO ENTER BAWDY PLACE'</a:t>
                      </a:r>
                      <a:endParaRPr sz="5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4CB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sp>
        <p:nvSpPr>
          <p:cNvPr id="474" name="Google Shape;474;p56"/>
          <p:cNvSpPr/>
          <p:nvPr/>
        </p:nvSpPr>
        <p:spPr>
          <a:xfrm>
            <a:off x="6400375" y="509025"/>
            <a:ext cx="2222400" cy="9504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M Sans"/>
                <a:ea typeface="DM Sans"/>
                <a:cs typeface="DM Sans"/>
                <a:sym typeface="DM Sans"/>
              </a:rPr>
              <a:t>This Guy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M Sans"/>
                <a:ea typeface="DM Sans"/>
                <a:cs typeface="DM Sans"/>
                <a:sym typeface="DM Sans"/>
              </a:rPr>
              <a:t>(most arrest charges)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75" name="Google Shape;475;p56"/>
          <p:cNvSpPr/>
          <p:nvPr/>
        </p:nvSpPr>
        <p:spPr>
          <a:xfrm flipH="1" rot="-5400000">
            <a:off x="5720050" y="871825"/>
            <a:ext cx="725700" cy="453600"/>
          </a:xfrm>
          <a:prstGeom prst="bentArrow">
            <a:avLst>
              <a:gd fmla="val 25000" name="adj1"/>
              <a:gd fmla="val 25000" name="adj2"/>
              <a:gd fmla="val 25000" name="adj3"/>
              <a:gd fmla="val 47727" name="adj4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aphicFrame>
        <p:nvGraphicFramePr>
          <p:cNvPr id="476" name="Google Shape;476;p56"/>
          <p:cNvGraphicFramePr/>
          <p:nvPr/>
        </p:nvGraphicFramePr>
        <p:xfrm>
          <a:off x="5638625" y="1558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{2359C1C3-1BB7-4A5B-A511-6342B78CC911}</a:tableStyleId>
              </a:tblPr>
              <a:tblGrid>
                <a:gridCol w="2601300"/>
                <a:gridCol w="382850"/>
              </a:tblGrid>
              <a:tr h="303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Statute_Desc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#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EA9999"/>
                    </a:solidFill>
                  </a:tcPr>
                </a:tc>
              </a:tr>
              <a:tr h="315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PRODUCE CHILD PORN AGE &lt;15</a:t>
                      </a:r>
                      <a:endParaRPr sz="700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26</a:t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  <a:tr h="400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'COMPUTER: USE TO COMMIT CERTAIN SEX.OFF. W/MINOR</a:t>
                      </a:r>
                      <a:endParaRPr sz="700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25</a:t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  <a:tr h="400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PRODUCE CHILD PORN AGE &lt;15, OFFENDER 7+ YRS [2ND OFFENS]</a:t>
                      </a:r>
                      <a:endParaRPr sz="700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23</a:t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  <a:tr h="303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AGGRAVATED SEXUAL BATTERY: VICTIM &lt;13 YRS'</a:t>
                      </a:r>
                      <a:endParaRPr sz="700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2</a:t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  <a:tr h="400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'PROSTITUTION: CAUSE PERSON TO ENTER BAWDY PLACE'</a:t>
                      </a:r>
                      <a:endParaRPr sz="7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2</a:t>
                      </a:r>
                      <a:endParaRPr sz="8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00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PRODUCE CHILD PORN 15+, OFFNDR 7+ YR, [2ND OFFENS]</a:t>
                      </a:r>
                      <a:endParaRPr sz="7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03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INDECENT LIBERTIES: W/CHILD &lt;15Y</a:t>
                      </a:r>
                      <a:endParaRPr sz="7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</a:t>
                      </a:r>
                      <a:endParaRPr sz="8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477" name="Google Shape;477;p56"/>
          <p:cNvSpPr/>
          <p:nvPr/>
        </p:nvSpPr>
        <p:spPr>
          <a:xfrm>
            <a:off x="1328325" y="4195525"/>
            <a:ext cx="4150500" cy="4722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DM Sans"/>
                <a:ea typeface="DM Sans"/>
                <a:cs typeface="DM Sans"/>
                <a:sym typeface="DM Sans"/>
              </a:rPr>
              <a:t>Total Charges: </a:t>
            </a:r>
            <a:r>
              <a:rPr lang="en" sz="1700" u="sng">
                <a:latin typeface="DM Sans"/>
                <a:ea typeface="DM Sans"/>
                <a:cs typeface="DM Sans"/>
                <a:sym typeface="DM Sans"/>
              </a:rPr>
              <a:t>80</a:t>
            </a:r>
            <a:endParaRPr sz="17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TAKEN INTO CUSTODY</a:t>
            </a:r>
            <a:endParaRPr sz="170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7"/>
          <p:cNvSpPr txBox="1"/>
          <p:nvPr>
            <p:ph type="title"/>
          </p:nvPr>
        </p:nvSpPr>
        <p:spPr>
          <a:xfrm>
            <a:off x="232050" y="2112300"/>
            <a:ext cx="8321100" cy="265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58"/>
          <p:cNvSpPr txBox="1"/>
          <p:nvPr>
            <p:ph idx="3" type="body"/>
          </p:nvPr>
        </p:nvSpPr>
        <p:spPr>
          <a:xfrm>
            <a:off x="365700" y="377526"/>
            <a:ext cx="8412600" cy="9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Algorithm</a:t>
            </a:r>
            <a:endParaRPr/>
          </a:p>
        </p:txBody>
      </p:sp>
      <p:sp>
        <p:nvSpPr>
          <p:cNvPr id="488" name="Google Shape;488;p58"/>
          <p:cNvSpPr/>
          <p:nvPr/>
        </p:nvSpPr>
        <p:spPr>
          <a:xfrm>
            <a:off x="1930675" y="1215050"/>
            <a:ext cx="6187200" cy="3249900"/>
          </a:xfrm>
          <a:prstGeom prst="roundRect">
            <a:avLst>
              <a:gd fmla="val 16667" name="adj"/>
            </a:avLst>
          </a:prstGeom>
          <a:solidFill>
            <a:srgbClr val="FFD4C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89" name="Google Shape;489;p58"/>
          <p:cNvSpPr/>
          <p:nvPr/>
        </p:nvSpPr>
        <p:spPr>
          <a:xfrm>
            <a:off x="2339417" y="1368800"/>
            <a:ext cx="674400" cy="3786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8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850" lIns="80850" spcFirstLastPara="1" rIns="80850" wrap="square" tIns="80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38">
                <a:latin typeface="Verdana"/>
                <a:ea typeface="Verdana"/>
                <a:cs typeface="Verdana"/>
                <a:sym typeface="Verdana"/>
              </a:rPr>
              <a:t>Data</a:t>
            </a:r>
            <a:endParaRPr sz="1238"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490" name="Google Shape;490;p58"/>
          <p:cNvCxnSpPr>
            <a:endCxn id="491" idx="1"/>
          </p:cNvCxnSpPr>
          <p:nvPr/>
        </p:nvCxnSpPr>
        <p:spPr>
          <a:xfrm>
            <a:off x="3014275" y="1558150"/>
            <a:ext cx="467400" cy="5400"/>
          </a:xfrm>
          <a:prstGeom prst="straightConnector1">
            <a:avLst/>
          </a:prstGeom>
          <a:noFill/>
          <a:ln cap="flat" cmpd="sng" w="1685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91" name="Google Shape;491;p58"/>
          <p:cNvSpPr/>
          <p:nvPr/>
        </p:nvSpPr>
        <p:spPr>
          <a:xfrm>
            <a:off x="3481675" y="1324300"/>
            <a:ext cx="2348700" cy="4785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8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850" lIns="80850" spcFirstLastPara="1" rIns="80850" wrap="square" tIns="80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38">
                <a:latin typeface="Verdana"/>
                <a:ea typeface="Verdana"/>
                <a:cs typeface="Verdana"/>
                <a:sym typeface="Verdana"/>
              </a:rPr>
              <a:t>Multi-valued Attributes</a:t>
            </a:r>
            <a:endParaRPr sz="1238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38">
                <a:latin typeface="Verdana"/>
                <a:ea typeface="Verdana"/>
                <a:cs typeface="Verdana"/>
                <a:sym typeface="Verdana"/>
              </a:rPr>
              <a:t>(&amp; copies of  single-valued attributes that we’re passing to the simple classifier)</a:t>
            </a:r>
            <a:endParaRPr sz="738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92" name="Google Shape;492;p58"/>
          <p:cNvSpPr/>
          <p:nvPr/>
        </p:nvSpPr>
        <p:spPr>
          <a:xfrm>
            <a:off x="2052105" y="2283879"/>
            <a:ext cx="1251300" cy="474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8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850" lIns="80850" spcFirstLastPara="1" rIns="80850" wrap="square" tIns="80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38">
                <a:latin typeface="Verdana"/>
                <a:ea typeface="Verdana"/>
                <a:cs typeface="Verdana"/>
                <a:sym typeface="Verdana"/>
              </a:rPr>
              <a:t>Other Attributes</a:t>
            </a:r>
            <a:endParaRPr sz="1238"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493" name="Google Shape;493;p58"/>
          <p:cNvCxnSpPr>
            <a:stCxn id="489" idx="2"/>
            <a:endCxn id="492" idx="0"/>
          </p:cNvCxnSpPr>
          <p:nvPr/>
        </p:nvCxnSpPr>
        <p:spPr>
          <a:xfrm>
            <a:off x="2676617" y="1747400"/>
            <a:ext cx="1200" cy="536400"/>
          </a:xfrm>
          <a:prstGeom prst="straightConnector1">
            <a:avLst/>
          </a:prstGeom>
          <a:noFill/>
          <a:ln cap="flat" cmpd="sng" w="1685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94" name="Google Shape;494;p58"/>
          <p:cNvSpPr/>
          <p:nvPr/>
        </p:nvSpPr>
        <p:spPr>
          <a:xfrm>
            <a:off x="6094589" y="1331708"/>
            <a:ext cx="1662600" cy="4749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8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850" lIns="80850" spcFirstLastPara="1" rIns="80850" wrap="square" tIns="80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38">
                <a:latin typeface="Verdana"/>
                <a:ea typeface="Verdana"/>
                <a:cs typeface="Verdana"/>
                <a:sym typeface="Verdana"/>
              </a:rPr>
              <a:t>Simple Classifier</a:t>
            </a:r>
            <a:endParaRPr sz="1238"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495" name="Google Shape;495;p58"/>
          <p:cNvGrpSpPr/>
          <p:nvPr/>
        </p:nvGrpSpPr>
        <p:grpSpPr>
          <a:xfrm>
            <a:off x="5957461" y="1806372"/>
            <a:ext cx="1936856" cy="1183141"/>
            <a:chOff x="5600700" y="3605100"/>
            <a:chExt cx="2673000" cy="1441800"/>
          </a:xfrm>
        </p:grpSpPr>
        <p:sp>
          <p:nvSpPr>
            <p:cNvPr id="496" name="Google Shape;496;p58"/>
            <p:cNvSpPr/>
            <p:nvPr/>
          </p:nvSpPr>
          <p:spPr>
            <a:xfrm>
              <a:off x="5600700" y="3605100"/>
              <a:ext cx="2673000" cy="1441800"/>
            </a:xfrm>
            <a:prstGeom prst="roundRect">
              <a:avLst>
                <a:gd fmla="val 16667" name="adj"/>
              </a:avLst>
            </a:prstGeom>
            <a:solidFill>
              <a:srgbClr val="F4CCCC"/>
            </a:solidFill>
            <a:ln cap="flat" cmpd="sng" w="8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8650" lIns="78650" spcFirstLastPara="1" rIns="78650" wrap="square" tIns="786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4"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497" name="Google Shape;497;p58"/>
            <p:cNvSpPr/>
            <p:nvPr/>
          </p:nvSpPr>
          <p:spPr>
            <a:xfrm>
              <a:off x="5732575" y="3798275"/>
              <a:ext cx="1019700" cy="316500"/>
            </a:xfrm>
            <a:prstGeom prst="roundRect">
              <a:avLst>
                <a:gd fmla="val 16667" name="adj"/>
              </a:avLst>
            </a:prstGeom>
            <a:solidFill>
              <a:srgbClr val="FFF2CC"/>
            </a:solidFill>
            <a:ln cap="flat" cmpd="sng" w="8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8650" lIns="78650" spcFirstLastPara="1" rIns="78650" wrap="square" tIns="786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4">
                  <a:latin typeface="Verdana"/>
                  <a:ea typeface="Verdana"/>
                  <a:cs typeface="Verdana"/>
                  <a:sym typeface="Verdana"/>
                </a:rPr>
                <a:t>Val. 1</a:t>
              </a:r>
              <a:endParaRPr sz="1204"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498" name="Google Shape;498;p58"/>
            <p:cNvSpPr/>
            <p:nvPr/>
          </p:nvSpPr>
          <p:spPr>
            <a:xfrm>
              <a:off x="5732575" y="4188075"/>
              <a:ext cx="1019700" cy="316500"/>
            </a:xfrm>
            <a:prstGeom prst="roundRect">
              <a:avLst>
                <a:gd fmla="val 16667" name="adj"/>
              </a:avLst>
            </a:prstGeom>
            <a:solidFill>
              <a:srgbClr val="FFF2CC"/>
            </a:solidFill>
            <a:ln cap="flat" cmpd="sng" w="8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8650" lIns="78650" spcFirstLastPara="1" rIns="78650" wrap="square" tIns="786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4">
                  <a:latin typeface="Verdana"/>
                  <a:ea typeface="Verdana"/>
                  <a:cs typeface="Verdana"/>
                  <a:sym typeface="Verdana"/>
                </a:rPr>
                <a:t>Val. 2</a:t>
              </a:r>
              <a:endParaRPr sz="1204"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499" name="Google Shape;499;p58"/>
            <p:cNvSpPr/>
            <p:nvPr/>
          </p:nvSpPr>
          <p:spPr>
            <a:xfrm>
              <a:off x="5732575" y="4577875"/>
              <a:ext cx="1019700" cy="316500"/>
            </a:xfrm>
            <a:prstGeom prst="roundRect">
              <a:avLst>
                <a:gd fmla="val 16667" name="adj"/>
              </a:avLst>
            </a:prstGeom>
            <a:solidFill>
              <a:srgbClr val="FFF2CC"/>
            </a:solidFill>
            <a:ln cap="flat" cmpd="sng" w="8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8650" lIns="78650" spcFirstLastPara="1" rIns="78650" wrap="square" tIns="786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4">
                  <a:latin typeface="Verdana"/>
                  <a:ea typeface="Verdana"/>
                  <a:cs typeface="Verdana"/>
                  <a:sym typeface="Verdana"/>
                </a:rPr>
                <a:t>Val. 3</a:t>
              </a:r>
              <a:endParaRPr sz="1204"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500" name="Google Shape;500;p58"/>
            <p:cNvSpPr/>
            <p:nvPr/>
          </p:nvSpPr>
          <p:spPr>
            <a:xfrm>
              <a:off x="7025050" y="3798275"/>
              <a:ext cx="1137000" cy="316500"/>
            </a:xfrm>
            <a:prstGeom prst="roundRect">
              <a:avLst>
                <a:gd fmla="val 16667" name="adj"/>
              </a:avLst>
            </a:prstGeom>
            <a:solidFill>
              <a:srgbClr val="B6D7A8"/>
            </a:solidFill>
            <a:ln cap="flat" cmpd="sng" w="8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8650" lIns="78650" spcFirstLastPara="1" rIns="78650" wrap="square" tIns="786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4">
                  <a:latin typeface="Verdana"/>
                  <a:ea typeface="Verdana"/>
                  <a:cs typeface="Verdana"/>
                  <a:sym typeface="Verdana"/>
                </a:rPr>
                <a:t>Pred. 1</a:t>
              </a:r>
              <a:endParaRPr sz="1204"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501" name="Google Shape;501;p58"/>
            <p:cNvSpPr/>
            <p:nvPr/>
          </p:nvSpPr>
          <p:spPr>
            <a:xfrm>
              <a:off x="7025050" y="4188075"/>
              <a:ext cx="1137000" cy="316500"/>
            </a:xfrm>
            <a:prstGeom prst="roundRect">
              <a:avLst>
                <a:gd fmla="val 16667" name="adj"/>
              </a:avLst>
            </a:prstGeom>
            <a:solidFill>
              <a:srgbClr val="B6D7A8"/>
            </a:solidFill>
            <a:ln cap="flat" cmpd="sng" w="8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8650" lIns="78650" spcFirstLastPara="1" rIns="78650" wrap="square" tIns="786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4">
                  <a:latin typeface="Verdana"/>
                  <a:ea typeface="Verdana"/>
                  <a:cs typeface="Verdana"/>
                  <a:sym typeface="Verdana"/>
                </a:rPr>
                <a:t>Pred. 2</a:t>
              </a:r>
              <a:endParaRPr sz="1204"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502" name="Google Shape;502;p58"/>
            <p:cNvSpPr/>
            <p:nvPr/>
          </p:nvSpPr>
          <p:spPr>
            <a:xfrm>
              <a:off x="7025050" y="4577875"/>
              <a:ext cx="1137000" cy="316500"/>
            </a:xfrm>
            <a:prstGeom prst="roundRect">
              <a:avLst>
                <a:gd fmla="val 16667" name="adj"/>
              </a:avLst>
            </a:prstGeom>
            <a:solidFill>
              <a:srgbClr val="B6D7A8"/>
            </a:solidFill>
            <a:ln cap="flat" cmpd="sng" w="8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8650" lIns="78650" spcFirstLastPara="1" rIns="78650" wrap="square" tIns="786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4"/>
                <a:t>Pred. 3</a:t>
              </a:r>
              <a:endParaRPr sz="1204"/>
            </a:p>
          </p:txBody>
        </p:sp>
        <p:cxnSp>
          <p:nvCxnSpPr>
            <p:cNvPr id="503" name="Google Shape;503;p58"/>
            <p:cNvCxnSpPr>
              <a:stCxn id="497" idx="3"/>
              <a:endCxn id="500" idx="1"/>
            </p:cNvCxnSpPr>
            <p:nvPr/>
          </p:nvCxnSpPr>
          <p:spPr>
            <a:xfrm>
              <a:off x="6752275" y="3956525"/>
              <a:ext cx="272700" cy="0"/>
            </a:xfrm>
            <a:prstGeom prst="straightConnector1">
              <a:avLst/>
            </a:prstGeom>
            <a:noFill/>
            <a:ln cap="flat" cmpd="sng" w="8200">
              <a:solidFill>
                <a:srgbClr val="000000"/>
              </a:solidFill>
              <a:prstDash val="dash"/>
              <a:round/>
              <a:headEnd len="med" w="med" type="none"/>
              <a:tailEnd len="med" w="med" type="triangle"/>
            </a:ln>
          </p:spPr>
        </p:cxnSp>
        <p:cxnSp>
          <p:nvCxnSpPr>
            <p:cNvPr id="504" name="Google Shape;504;p58"/>
            <p:cNvCxnSpPr>
              <a:stCxn id="498" idx="3"/>
              <a:endCxn id="501" idx="1"/>
            </p:cNvCxnSpPr>
            <p:nvPr/>
          </p:nvCxnSpPr>
          <p:spPr>
            <a:xfrm>
              <a:off x="6752275" y="4346325"/>
              <a:ext cx="272700" cy="0"/>
            </a:xfrm>
            <a:prstGeom prst="straightConnector1">
              <a:avLst/>
            </a:prstGeom>
            <a:noFill/>
            <a:ln cap="flat" cmpd="sng" w="8200">
              <a:solidFill>
                <a:srgbClr val="000000"/>
              </a:solidFill>
              <a:prstDash val="dash"/>
              <a:round/>
              <a:headEnd len="med" w="med" type="none"/>
              <a:tailEnd len="med" w="med" type="triangle"/>
            </a:ln>
          </p:spPr>
        </p:cxnSp>
        <p:cxnSp>
          <p:nvCxnSpPr>
            <p:cNvPr id="505" name="Google Shape;505;p58"/>
            <p:cNvCxnSpPr>
              <a:stCxn id="499" idx="3"/>
              <a:endCxn id="502" idx="1"/>
            </p:cNvCxnSpPr>
            <p:nvPr/>
          </p:nvCxnSpPr>
          <p:spPr>
            <a:xfrm>
              <a:off x="6752275" y="4736125"/>
              <a:ext cx="272700" cy="0"/>
            </a:xfrm>
            <a:prstGeom prst="straightConnector1">
              <a:avLst/>
            </a:prstGeom>
            <a:noFill/>
            <a:ln cap="flat" cmpd="sng" w="8200">
              <a:solidFill>
                <a:srgbClr val="000000"/>
              </a:solidFill>
              <a:prstDash val="dash"/>
              <a:round/>
              <a:headEnd len="med" w="med" type="none"/>
              <a:tailEnd len="med" w="med" type="triangle"/>
            </a:ln>
          </p:spPr>
        </p:cxnSp>
      </p:grpSp>
      <p:cxnSp>
        <p:nvCxnSpPr>
          <p:cNvPr id="506" name="Google Shape;506;p58"/>
          <p:cNvCxnSpPr>
            <a:stCxn id="491" idx="3"/>
            <a:endCxn id="494" idx="1"/>
          </p:cNvCxnSpPr>
          <p:nvPr/>
        </p:nvCxnSpPr>
        <p:spPr>
          <a:xfrm>
            <a:off x="5830375" y="1563550"/>
            <a:ext cx="264300" cy="5700"/>
          </a:xfrm>
          <a:prstGeom prst="straightConnector1">
            <a:avLst/>
          </a:prstGeom>
          <a:noFill/>
          <a:ln cap="flat" cmpd="sng" w="1685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07" name="Google Shape;507;p58"/>
          <p:cNvSpPr/>
          <p:nvPr/>
        </p:nvSpPr>
        <p:spPr>
          <a:xfrm>
            <a:off x="4226999" y="2102525"/>
            <a:ext cx="1377300" cy="591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8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650" lIns="78650" spcFirstLastPara="1" rIns="78650" wrap="square" tIns="786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38">
                <a:latin typeface="Verdana"/>
                <a:ea typeface="Verdana"/>
                <a:cs typeface="Verdana"/>
                <a:sym typeface="Verdana"/>
              </a:rPr>
              <a:t>Soft Predictor (mode)</a:t>
            </a:r>
            <a:endParaRPr sz="1238"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508" name="Google Shape;508;p58"/>
          <p:cNvCxnSpPr>
            <a:stCxn id="496" idx="1"/>
            <a:endCxn id="507" idx="3"/>
          </p:cNvCxnSpPr>
          <p:nvPr/>
        </p:nvCxnSpPr>
        <p:spPr>
          <a:xfrm flipH="1">
            <a:off x="5604361" y="2397943"/>
            <a:ext cx="353100" cy="300"/>
          </a:xfrm>
          <a:prstGeom prst="straightConnector1">
            <a:avLst/>
          </a:prstGeom>
          <a:noFill/>
          <a:ln cap="flat" cmpd="sng" w="1685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09" name="Google Shape;509;p58"/>
          <p:cNvSpPr/>
          <p:nvPr/>
        </p:nvSpPr>
        <p:spPr>
          <a:xfrm>
            <a:off x="3225914" y="3047984"/>
            <a:ext cx="1251300" cy="3786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8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850" lIns="80850" spcFirstLastPara="1" rIns="80850" wrap="square" tIns="80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38">
                <a:latin typeface="Verdana"/>
                <a:ea typeface="Verdana"/>
                <a:cs typeface="Verdana"/>
                <a:sym typeface="Verdana"/>
              </a:rPr>
              <a:t>Combined Data</a:t>
            </a:r>
            <a:endParaRPr sz="1238"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510" name="Google Shape;510;p58"/>
          <p:cNvCxnSpPr>
            <a:stCxn id="492" idx="2"/>
            <a:endCxn id="509" idx="1"/>
          </p:cNvCxnSpPr>
          <p:nvPr/>
        </p:nvCxnSpPr>
        <p:spPr>
          <a:xfrm flipH="1" rot="-5400000">
            <a:off x="2712555" y="2723979"/>
            <a:ext cx="478500" cy="548100"/>
          </a:xfrm>
          <a:prstGeom prst="bentConnector2">
            <a:avLst/>
          </a:prstGeom>
          <a:noFill/>
          <a:ln cap="flat" cmpd="sng" w="1685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11" name="Google Shape;511;p58"/>
          <p:cNvCxnSpPr>
            <a:stCxn id="507" idx="1"/>
            <a:endCxn id="509" idx="0"/>
          </p:cNvCxnSpPr>
          <p:nvPr/>
        </p:nvCxnSpPr>
        <p:spPr>
          <a:xfrm flipH="1">
            <a:off x="3851699" y="2398325"/>
            <a:ext cx="375300" cy="649800"/>
          </a:xfrm>
          <a:prstGeom prst="bentConnector2">
            <a:avLst/>
          </a:prstGeom>
          <a:noFill/>
          <a:ln cap="flat" cmpd="sng" w="1685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12" name="Google Shape;512;p58"/>
          <p:cNvSpPr/>
          <p:nvPr/>
        </p:nvSpPr>
        <p:spPr>
          <a:xfrm>
            <a:off x="4504999" y="3715713"/>
            <a:ext cx="1251300" cy="4749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8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850" lIns="80850" spcFirstLastPara="1" rIns="80850" wrap="square" tIns="80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38">
                <a:latin typeface="Verdana"/>
                <a:ea typeface="Verdana"/>
                <a:cs typeface="Verdana"/>
                <a:sym typeface="Verdana"/>
              </a:rPr>
              <a:t>Regular Classifier</a:t>
            </a:r>
            <a:endParaRPr sz="1238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13" name="Google Shape;513;p58"/>
          <p:cNvSpPr/>
          <p:nvPr/>
        </p:nvSpPr>
        <p:spPr>
          <a:xfrm>
            <a:off x="6289356" y="3715713"/>
            <a:ext cx="1377300" cy="474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8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650" lIns="78650" spcFirstLastPara="1" rIns="78650" wrap="square" tIns="786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38">
                <a:latin typeface="Verdana"/>
                <a:ea typeface="Verdana"/>
                <a:cs typeface="Verdana"/>
                <a:sym typeface="Verdana"/>
              </a:rPr>
              <a:t>Final Prediction</a:t>
            </a:r>
            <a:endParaRPr sz="1238"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514" name="Google Shape;514;p58"/>
          <p:cNvCxnSpPr>
            <a:stCxn id="509" idx="2"/>
            <a:endCxn id="512" idx="1"/>
          </p:cNvCxnSpPr>
          <p:nvPr/>
        </p:nvCxnSpPr>
        <p:spPr>
          <a:xfrm flipH="1" rot="-5400000">
            <a:off x="3915014" y="3363134"/>
            <a:ext cx="526500" cy="653400"/>
          </a:xfrm>
          <a:prstGeom prst="bentConnector2">
            <a:avLst/>
          </a:prstGeom>
          <a:noFill/>
          <a:ln cap="flat" cmpd="sng" w="1685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15" name="Google Shape;515;p58"/>
          <p:cNvCxnSpPr>
            <a:stCxn id="512" idx="3"/>
            <a:endCxn id="513" idx="1"/>
          </p:cNvCxnSpPr>
          <p:nvPr/>
        </p:nvCxnSpPr>
        <p:spPr>
          <a:xfrm>
            <a:off x="5756299" y="3953163"/>
            <a:ext cx="533100" cy="0"/>
          </a:xfrm>
          <a:prstGeom prst="straightConnector1">
            <a:avLst/>
          </a:prstGeom>
          <a:noFill/>
          <a:ln cap="flat" cmpd="sng" w="1685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59"/>
          <p:cNvSpPr txBox="1"/>
          <p:nvPr>
            <p:ph idx="3" type="body"/>
          </p:nvPr>
        </p:nvSpPr>
        <p:spPr>
          <a:xfrm>
            <a:off x="365700" y="375626"/>
            <a:ext cx="8412600" cy="9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 sz="3500"/>
          </a:p>
        </p:txBody>
      </p:sp>
      <p:sp>
        <p:nvSpPr>
          <p:cNvPr id="521" name="Google Shape;521;p59"/>
          <p:cNvSpPr/>
          <p:nvPr/>
        </p:nvSpPr>
        <p:spPr>
          <a:xfrm>
            <a:off x="664425" y="1317225"/>
            <a:ext cx="7948500" cy="2964300"/>
          </a:xfrm>
          <a:prstGeom prst="roundRect">
            <a:avLst>
              <a:gd fmla="val 16667" name="adj"/>
            </a:avLst>
          </a:prstGeom>
          <a:solidFill>
            <a:srgbClr val="FFD4C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522" name="Google Shape;522;p59"/>
          <p:cNvCxnSpPr/>
          <p:nvPr/>
        </p:nvCxnSpPr>
        <p:spPr>
          <a:xfrm flipH="1" rot="10800000">
            <a:off x="4007174" y="1755900"/>
            <a:ext cx="654900" cy="6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graphicFrame>
        <p:nvGraphicFramePr>
          <p:cNvPr id="523" name="Google Shape;523;p59"/>
          <p:cNvGraphicFramePr/>
          <p:nvPr/>
        </p:nvGraphicFramePr>
        <p:xfrm>
          <a:off x="2744804" y="2997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{CABB4C81-0042-400D-8A47-4D123343D0ED}</a:tableStyleId>
              </a:tblPr>
              <a:tblGrid>
                <a:gridCol w="328775"/>
                <a:gridCol w="328775"/>
                <a:gridCol w="480550"/>
              </a:tblGrid>
              <a:tr h="248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ID</a:t>
                      </a:r>
                      <a:endParaRPr b="1"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A1</a:t>
                      </a:r>
                      <a:endParaRPr b="1"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Class</a:t>
                      </a:r>
                      <a:endParaRPr b="1"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198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24" name="Google Shape;524;p59"/>
          <p:cNvGraphicFramePr/>
          <p:nvPr/>
        </p:nvGraphicFramePr>
        <p:xfrm>
          <a:off x="4667579" y="1486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{CABB4C81-0042-400D-8A47-4D123343D0ED}</a:tableStyleId>
              </a:tblPr>
              <a:tblGrid>
                <a:gridCol w="676900"/>
                <a:gridCol w="547475"/>
              </a:tblGrid>
              <a:tr h="248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A2</a:t>
                      </a:r>
                      <a:endParaRPr b="1"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Class</a:t>
                      </a:r>
                      <a:endParaRPr b="1"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198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1,2,3,4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  <p:cxnSp>
        <p:nvCxnSpPr>
          <p:cNvPr id="525" name="Google Shape;525;p59"/>
          <p:cNvCxnSpPr/>
          <p:nvPr/>
        </p:nvCxnSpPr>
        <p:spPr>
          <a:xfrm>
            <a:off x="3135375" y="2001750"/>
            <a:ext cx="21900" cy="985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26" name="Google Shape;526;p59"/>
          <p:cNvSpPr/>
          <p:nvPr/>
        </p:nvSpPr>
        <p:spPr>
          <a:xfrm>
            <a:off x="6743475" y="1837652"/>
            <a:ext cx="1707600" cy="11256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8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725" lIns="76725" spcFirstLastPara="1" rIns="76725" wrap="square" tIns="76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4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27" name="Google Shape;527;p59"/>
          <p:cNvSpPr/>
          <p:nvPr/>
        </p:nvSpPr>
        <p:spPr>
          <a:xfrm>
            <a:off x="6827721" y="1959819"/>
            <a:ext cx="651000" cy="2001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8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725" lIns="76725" spcFirstLastPara="1" rIns="76725" wrap="square" tIns="76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74">
                <a:latin typeface="Verdana"/>
                <a:ea typeface="Verdana"/>
                <a:cs typeface="Verdana"/>
                <a:sym typeface="Verdana"/>
              </a:rPr>
              <a:t>1</a:t>
            </a:r>
            <a:endParaRPr sz="1174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28" name="Google Shape;528;p59"/>
          <p:cNvSpPr/>
          <p:nvPr/>
        </p:nvSpPr>
        <p:spPr>
          <a:xfrm>
            <a:off x="6827721" y="2206314"/>
            <a:ext cx="651000" cy="2001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8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725" lIns="76725" spcFirstLastPara="1" rIns="76725" wrap="square" tIns="76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74">
                <a:latin typeface="Verdana"/>
                <a:ea typeface="Verdana"/>
                <a:cs typeface="Verdana"/>
                <a:sym typeface="Verdana"/>
              </a:rPr>
              <a:t>2</a:t>
            </a:r>
            <a:endParaRPr sz="1174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29" name="Google Shape;529;p59"/>
          <p:cNvSpPr/>
          <p:nvPr/>
        </p:nvSpPr>
        <p:spPr>
          <a:xfrm>
            <a:off x="6827721" y="2452809"/>
            <a:ext cx="651000" cy="2001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8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725" lIns="76725" spcFirstLastPara="1" rIns="76725" wrap="square" tIns="76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74">
                <a:latin typeface="Verdana"/>
                <a:ea typeface="Verdana"/>
                <a:cs typeface="Verdana"/>
                <a:sym typeface="Verdana"/>
              </a:rPr>
              <a:t>3</a:t>
            </a:r>
            <a:endParaRPr sz="1174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30" name="Google Shape;530;p59"/>
          <p:cNvSpPr/>
          <p:nvPr/>
        </p:nvSpPr>
        <p:spPr>
          <a:xfrm>
            <a:off x="7653287" y="1959819"/>
            <a:ext cx="726300" cy="2004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8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725" lIns="76725" spcFirstLastPara="1" rIns="76725" wrap="square" tIns="76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74">
                <a:latin typeface="Verdana"/>
                <a:ea typeface="Verdana"/>
                <a:cs typeface="Verdana"/>
                <a:sym typeface="Verdana"/>
              </a:rPr>
              <a:t>T</a:t>
            </a:r>
            <a:endParaRPr sz="1174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31" name="Google Shape;531;p59"/>
          <p:cNvSpPr/>
          <p:nvPr/>
        </p:nvSpPr>
        <p:spPr>
          <a:xfrm>
            <a:off x="7653287" y="2206314"/>
            <a:ext cx="726300" cy="2004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8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725" lIns="76725" spcFirstLastPara="1" rIns="76725" wrap="square" tIns="76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74">
                <a:latin typeface="Verdana"/>
                <a:ea typeface="Verdana"/>
                <a:cs typeface="Verdana"/>
                <a:sym typeface="Verdana"/>
              </a:rPr>
              <a:t>T</a:t>
            </a:r>
            <a:endParaRPr sz="1174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32" name="Google Shape;532;p59"/>
          <p:cNvSpPr/>
          <p:nvPr/>
        </p:nvSpPr>
        <p:spPr>
          <a:xfrm>
            <a:off x="7653287" y="2452809"/>
            <a:ext cx="726300" cy="2004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8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725" lIns="76725" spcFirstLastPara="1" rIns="76725" wrap="square" tIns="76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74"/>
              <a:t>F</a:t>
            </a:r>
            <a:endParaRPr sz="1174"/>
          </a:p>
        </p:txBody>
      </p:sp>
      <p:cxnSp>
        <p:nvCxnSpPr>
          <p:cNvPr id="533" name="Google Shape;533;p59"/>
          <p:cNvCxnSpPr>
            <a:stCxn id="527" idx="3"/>
            <a:endCxn id="530" idx="1"/>
          </p:cNvCxnSpPr>
          <p:nvPr/>
        </p:nvCxnSpPr>
        <p:spPr>
          <a:xfrm>
            <a:off x="7478721" y="2059869"/>
            <a:ext cx="174600" cy="300"/>
          </a:xfrm>
          <a:prstGeom prst="straightConnector1">
            <a:avLst/>
          </a:prstGeom>
          <a:noFill/>
          <a:ln cap="flat" cmpd="sng" w="8025">
            <a:solidFill>
              <a:srgbClr val="000000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534" name="Google Shape;534;p59"/>
          <p:cNvCxnSpPr>
            <a:stCxn id="528" idx="3"/>
            <a:endCxn id="531" idx="1"/>
          </p:cNvCxnSpPr>
          <p:nvPr/>
        </p:nvCxnSpPr>
        <p:spPr>
          <a:xfrm>
            <a:off x="7478721" y="2306364"/>
            <a:ext cx="174600" cy="300"/>
          </a:xfrm>
          <a:prstGeom prst="straightConnector1">
            <a:avLst/>
          </a:prstGeom>
          <a:noFill/>
          <a:ln cap="flat" cmpd="sng" w="8025">
            <a:solidFill>
              <a:srgbClr val="000000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535" name="Google Shape;535;p59"/>
          <p:cNvCxnSpPr>
            <a:stCxn id="529" idx="3"/>
            <a:endCxn id="532" idx="1"/>
          </p:cNvCxnSpPr>
          <p:nvPr/>
        </p:nvCxnSpPr>
        <p:spPr>
          <a:xfrm>
            <a:off x="7478721" y="2552859"/>
            <a:ext cx="174600" cy="300"/>
          </a:xfrm>
          <a:prstGeom prst="straightConnector1">
            <a:avLst/>
          </a:prstGeom>
          <a:noFill/>
          <a:ln cap="flat" cmpd="sng" w="8025">
            <a:solidFill>
              <a:srgbClr val="000000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536" name="Google Shape;536;p59"/>
          <p:cNvSpPr/>
          <p:nvPr/>
        </p:nvSpPr>
        <p:spPr>
          <a:xfrm>
            <a:off x="6827737" y="2699323"/>
            <a:ext cx="651000" cy="2001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8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725" lIns="76725" spcFirstLastPara="1" rIns="76725" wrap="square" tIns="76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74">
                <a:latin typeface="Verdana"/>
                <a:ea typeface="Verdana"/>
                <a:cs typeface="Verdana"/>
                <a:sym typeface="Verdana"/>
              </a:rPr>
              <a:t>4</a:t>
            </a:r>
            <a:endParaRPr sz="1174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37" name="Google Shape;537;p59"/>
          <p:cNvSpPr/>
          <p:nvPr/>
        </p:nvSpPr>
        <p:spPr>
          <a:xfrm>
            <a:off x="7653256" y="2699323"/>
            <a:ext cx="726300" cy="2001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8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725" lIns="76725" spcFirstLastPara="1" rIns="76725" wrap="square" tIns="76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74"/>
              <a:t>T</a:t>
            </a:r>
            <a:endParaRPr sz="1174"/>
          </a:p>
        </p:txBody>
      </p:sp>
      <p:cxnSp>
        <p:nvCxnSpPr>
          <p:cNvPr id="538" name="Google Shape;538;p59"/>
          <p:cNvCxnSpPr/>
          <p:nvPr/>
        </p:nvCxnSpPr>
        <p:spPr>
          <a:xfrm>
            <a:off x="7510117" y="2797294"/>
            <a:ext cx="174000" cy="0"/>
          </a:xfrm>
          <a:prstGeom prst="straightConnector1">
            <a:avLst/>
          </a:prstGeom>
          <a:noFill/>
          <a:ln cap="flat" cmpd="sng" w="8025">
            <a:solidFill>
              <a:srgbClr val="000000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539" name="Google Shape;539;p59"/>
          <p:cNvSpPr/>
          <p:nvPr/>
        </p:nvSpPr>
        <p:spPr>
          <a:xfrm>
            <a:off x="6830925" y="1522256"/>
            <a:ext cx="1532700" cy="325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9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850" lIns="91850" spcFirstLastPara="1" rIns="91850" wrap="square" tIns="91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79">
                <a:latin typeface="Verdana"/>
                <a:ea typeface="Verdana"/>
                <a:cs typeface="Verdana"/>
                <a:sym typeface="Verdana"/>
              </a:rPr>
              <a:t>OneR</a:t>
            </a:r>
            <a:endParaRPr sz="1179"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540" name="Google Shape;540;p59"/>
          <p:cNvCxnSpPr>
            <a:endCxn id="539" idx="1"/>
          </p:cNvCxnSpPr>
          <p:nvPr/>
        </p:nvCxnSpPr>
        <p:spPr>
          <a:xfrm flipH="1" rot="10800000">
            <a:off x="5828325" y="1685006"/>
            <a:ext cx="1002600" cy="12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41" name="Google Shape;541;p59"/>
          <p:cNvCxnSpPr/>
          <p:nvPr/>
        </p:nvCxnSpPr>
        <p:spPr>
          <a:xfrm>
            <a:off x="5960904" y="2483675"/>
            <a:ext cx="840600" cy="3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542" name="Google Shape;542;p59"/>
          <p:cNvSpPr/>
          <p:nvPr/>
        </p:nvSpPr>
        <p:spPr>
          <a:xfrm>
            <a:off x="4909479" y="2329175"/>
            <a:ext cx="1047300" cy="312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8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650" lIns="78650" spcFirstLastPara="1" rIns="78650" wrap="square" tIns="786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38">
                <a:latin typeface="Verdana"/>
                <a:ea typeface="Verdana"/>
                <a:cs typeface="Verdana"/>
                <a:sym typeface="Verdana"/>
              </a:rPr>
              <a:t>A2_pred = T</a:t>
            </a:r>
            <a:endParaRPr sz="1038">
              <a:latin typeface="Verdana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543" name="Google Shape;543;p59"/>
          <p:cNvGraphicFramePr/>
          <p:nvPr/>
        </p:nvGraphicFramePr>
        <p:xfrm>
          <a:off x="4417279" y="30261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{CABB4C81-0042-400D-8A47-4D123343D0ED}</a:tableStyleId>
              </a:tblPr>
              <a:tblGrid>
                <a:gridCol w="521375"/>
                <a:gridCol w="521375"/>
                <a:gridCol w="749250"/>
                <a:gridCol w="484500"/>
              </a:tblGrid>
              <a:tr h="248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ID</a:t>
                      </a:r>
                      <a:endParaRPr b="1"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A1</a:t>
                      </a:r>
                      <a:endParaRPr b="1"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A2_pred</a:t>
                      </a:r>
                      <a:endParaRPr b="1"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Class</a:t>
                      </a:r>
                      <a:endParaRPr b="1"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  <p:cxnSp>
        <p:nvCxnSpPr>
          <p:cNvPr id="544" name="Google Shape;544;p59"/>
          <p:cNvCxnSpPr/>
          <p:nvPr/>
        </p:nvCxnSpPr>
        <p:spPr>
          <a:xfrm>
            <a:off x="5423679" y="2648575"/>
            <a:ext cx="18900" cy="390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45" name="Google Shape;545;p59"/>
          <p:cNvCxnSpPr/>
          <p:nvPr/>
        </p:nvCxnSpPr>
        <p:spPr>
          <a:xfrm>
            <a:off x="3682954" y="3233825"/>
            <a:ext cx="738300" cy="7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46" name="Google Shape;546;p59"/>
          <p:cNvSpPr/>
          <p:nvPr/>
        </p:nvSpPr>
        <p:spPr>
          <a:xfrm>
            <a:off x="4683441" y="3868450"/>
            <a:ext cx="1439700" cy="286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8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850" lIns="80850" spcFirstLastPara="1" rIns="80850" wrap="square" tIns="80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38">
                <a:latin typeface="Verdana"/>
                <a:ea typeface="Verdana"/>
                <a:cs typeface="Verdana"/>
                <a:sym typeface="Verdana"/>
              </a:rPr>
              <a:t>Regular Classifier</a:t>
            </a:r>
            <a:endParaRPr sz="1038"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547" name="Google Shape;547;p59"/>
          <p:cNvCxnSpPr>
            <a:endCxn id="546" idx="0"/>
          </p:cNvCxnSpPr>
          <p:nvPr/>
        </p:nvCxnSpPr>
        <p:spPr>
          <a:xfrm flipH="1">
            <a:off x="5403291" y="3485350"/>
            <a:ext cx="4800" cy="383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48" name="Google Shape;548;p59"/>
          <p:cNvSpPr/>
          <p:nvPr/>
        </p:nvSpPr>
        <p:spPr>
          <a:xfrm>
            <a:off x="6986176" y="3855400"/>
            <a:ext cx="726300" cy="312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8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650" lIns="78650" spcFirstLastPara="1" rIns="78650" wrap="square" tIns="786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38">
                <a:latin typeface="Verdana"/>
                <a:ea typeface="Verdana"/>
                <a:cs typeface="Verdana"/>
                <a:sym typeface="Verdana"/>
              </a:rPr>
              <a:t>T</a:t>
            </a:r>
            <a:endParaRPr sz="1038"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549" name="Google Shape;549;p59"/>
          <p:cNvCxnSpPr>
            <a:stCxn id="546" idx="3"/>
            <a:endCxn id="548" idx="1"/>
          </p:cNvCxnSpPr>
          <p:nvPr/>
        </p:nvCxnSpPr>
        <p:spPr>
          <a:xfrm>
            <a:off x="6123141" y="4011700"/>
            <a:ext cx="863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graphicFrame>
        <p:nvGraphicFramePr>
          <p:cNvPr id="550" name="Google Shape;550;p59"/>
          <p:cNvGraphicFramePr/>
          <p:nvPr/>
        </p:nvGraphicFramePr>
        <p:xfrm>
          <a:off x="2744804" y="1543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{CABB4C81-0042-400D-8A47-4D123343D0ED}</a:tableStyleId>
              </a:tblPr>
              <a:tblGrid>
                <a:gridCol w="302600"/>
                <a:gridCol w="302600"/>
                <a:gridCol w="532900"/>
                <a:gridCol w="442300"/>
              </a:tblGrid>
              <a:tr h="248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ID</a:t>
                      </a:r>
                      <a:endParaRPr b="1"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A1</a:t>
                      </a:r>
                      <a:endParaRPr b="1"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A2</a:t>
                      </a:r>
                      <a:endParaRPr b="1"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Class</a:t>
                      </a:r>
                      <a:endParaRPr b="1"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198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1,2,3,4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  <p:cxnSp>
        <p:nvCxnSpPr>
          <p:cNvPr id="551" name="Google Shape;551;p59"/>
          <p:cNvCxnSpPr/>
          <p:nvPr/>
        </p:nvCxnSpPr>
        <p:spPr>
          <a:xfrm flipH="1" rot="10800000">
            <a:off x="2284824" y="1769263"/>
            <a:ext cx="436800" cy="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graphicFrame>
        <p:nvGraphicFramePr>
          <p:cNvPr id="552" name="Google Shape;552;p59"/>
          <p:cNvGraphicFramePr/>
          <p:nvPr/>
        </p:nvGraphicFramePr>
        <p:xfrm>
          <a:off x="919229" y="1543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{CABB4C81-0042-400D-8A47-4D123343D0ED}</a:tableStyleId>
              </a:tblPr>
              <a:tblGrid>
                <a:gridCol w="304800"/>
                <a:gridCol w="304825"/>
                <a:gridCol w="329900"/>
                <a:gridCol w="527125"/>
              </a:tblGrid>
              <a:tr h="248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ID</a:t>
                      </a:r>
                      <a:endParaRPr b="1"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A1</a:t>
                      </a:r>
                      <a:endParaRPr b="1"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A2</a:t>
                      </a:r>
                      <a:endParaRPr b="1"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Class</a:t>
                      </a:r>
                      <a:endParaRPr b="1"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198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198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248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3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198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4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60"/>
          <p:cNvSpPr txBox="1"/>
          <p:nvPr>
            <p:ph idx="1" type="subTitle"/>
          </p:nvPr>
        </p:nvSpPr>
        <p:spPr>
          <a:xfrm>
            <a:off x="4417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60"/>
          <p:cNvSpPr txBox="1"/>
          <p:nvPr>
            <p:ph idx="2" type="subTitle"/>
          </p:nvPr>
        </p:nvSpPr>
        <p:spPr>
          <a:xfrm>
            <a:off x="28372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60"/>
          <p:cNvSpPr txBox="1"/>
          <p:nvPr>
            <p:ph idx="3" type="body"/>
          </p:nvPr>
        </p:nvSpPr>
        <p:spPr>
          <a:xfrm>
            <a:off x="365625" y="794977"/>
            <a:ext cx="8412600" cy="13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Various Submodels</a:t>
            </a:r>
            <a:endParaRPr/>
          </a:p>
        </p:txBody>
      </p:sp>
      <p:sp>
        <p:nvSpPr>
          <p:cNvPr id="560" name="Google Shape;560;p60"/>
          <p:cNvSpPr/>
          <p:nvPr/>
        </p:nvSpPr>
        <p:spPr>
          <a:xfrm>
            <a:off x="3488325" y="2007875"/>
            <a:ext cx="2167200" cy="21147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61" name="Google Shape;561;p60"/>
          <p:cNvSpPr/>
          <p:nvPr/>
        </p:nvSpPr>
        <p:spPr>
          <a:xfrm>
            <a:off x="6041025" y="2007875"/>
            <a:ext cx="2167200" cy="21147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Initial letter R bold font, white gradient ribbon linear style material design element, idea business card emblem typography design element mockup (Provided by Getty Images)" id="562" name="Google Shape;562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5625" y="2007875"/>
            <a:ext cx="2167200" cy="2167200"/>
          </a:xfrm>
          <a:prstGeom prst="snip2DiagRect">
            <a:avLst>
              <a:gd fmla="val 0" name="adj1"/>
              <a:gd fmla="val 16667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Lost (Provided by Getty Images)" id="563" name="Google Shape;563;p60"/>
          <p:cNvPicPr preferRelativeResize="0"/>
          <p:nvPr/>
        </p:nvPicPr>
        <p:blipFill rotWithShape="1">
          <a:blip r:embed="rId4">
            <a:alphaModFix/>
          </a:blip>
          <a:srcRect b="0" l="28153" r="16051" t="0"/>
          <a:stretch/>
        </p:blipFill>
        <p:spPr>
          <a:xfrm>
            <a:off x="3488325" y="2007875"/>
            <a:ext cx="2167200" cy="2223000"/>
          </a:xfrm>
          <a:prstGeom prst="snip2DiagRect">
            <a:avLst>
              <a:gd fmla="val 0" name="adj1"/>
              <a:gd fmla="val 16667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64" name="Google Shape;564;p60"/>
          <p:cNvPicPr preferRelativeResize="0"/>
          <p:nvPr/>
        </p:nvPicPr>
        <p:blipFill rotWithShape="1">
          <a:blip r:embed="rId5">
            <a:alphaModFix/>
          </a:blip>
          <a:srcRect b="0" l="14773" r="12519" t="0"/>
          <a:stretch/>
        </p:blipFill>
        <p:spPr>
          <a:xfrm>
            <a:off x="6041025" y="2007875"/>
            <a:ext cx="2167200" cy="2167200"/>
          </a:xfrm>
          <a:prstGeom prst="snip2DiagRect">
            <a:avLst>
              <a:gd fmla="val 0" name="adj1"/>
              <a:gd fmla="val 16667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61"/>
          <p:cNvSpPr txBox="1"/>
          <p:nvPr>
            <p:ph idx="1" type="subTitle"/>
          </p:nvPr>
        </p:nvSpPr>
        <p:spPr>
          <a:xfrm>
            <a:off x="4417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61"/>
          <p:cNvSpPr txBox="1"/>
          <p:nvPr>
            <p:ph idx="2" type="subTitle"/>
          </p:nvPr>
        </p:nvSpPr>
        <p:spPr>
          <a:xfrm>
            <a:off x="28372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61"/>
          <p:cNvSpPr txBox="1"/>
          <p:nvPr>
            <p:ph idx="3" type="body"/>
          </p:nvPr>
        </p:nvSpPr>
        <p:spPr>
          <a:xfrm>
            <a:off x="365625" y="794977"/>
            <a:ext cx="8412600" cy="13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Various Models</a:t>
            </a:r>
            <a:endParaRPr/>
          </a:p>
        </p:txBody>
      </p:sp>
      <p:sp>
        <p:nvSpPr>
          <p:cNvPr id="572" name="Google Shape;572;p61"/>
          <p:cNvSpPr/>
          <p:nvPr/>
        </p:nvSpPr>
        <p:spPr>
          <a:xfrm>
            <a:off x="3488325" y="2007875"/>
            <a:ext cx="2167200" cy="21147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Initial letter R bold font, white gradient ribbon linear style material design element, idea business card emblem typography design element mockup (Provided by Getty Images)" id="573" name="Google Shape;573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5625" y="2007875"/>
            <a:ext cx="2167200" cy="2167200"/>
          </a:xfrm>
          <a:prstGeom prst="snip2DiagRect">
            <a:avLst>
              <a:gd fmla="val 0" name="adj1"/>
              <a:gd fmla="val 16667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Royalty-Free photo: Gray wooden console table | PickPik" id="574" name="Google Shape;574;p61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0" l="25493" r="11042" t="4798"/>
          <a:stretch/>
        </p:blipFill>
        <p:spPr>
          <a:xfrm>
            <a:off x="3488325" y="2007875"/>
            <a:ext cx="2167200" cy="2167200"/>
          </a:xfrm>
          <a:prstGeom prst="snip2DiagRect">
            <a:avLst>
              <a:gd fmla="val 0" name="adj1"/>
              <a:gd fmla="val 16667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75" name="Google Shape;575;p61"/>
          <p:cNvPicPr preferRelativeResize="0"/>
          <p:nvPr/>
        </p:nvPicPr>
        <p:blipFill rotWithShape="1">
          <a:blip r:embed="rId5">
            <a:alphaModFix/>
          </a:blip>
          <a:srcRect b="0" l="0" r="3567" t="3119"/>
          <a:stretch/>
        </p:blipFill>
        <p:spPr>
          <a:xfrm>
            <a:off x="935625" y="2007875"/>
            <a:ext cx="2167200" cy="2167200"/>
          </a:xfrm>
          <a:prstGeom prst="snip2DiagRect">
            <a:avLst>
              <a:gd fmla="val 0" name="adj1"/>
              <a:gd fmla="val 16667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Lost (Provided by Getty Images)" id="576" name="Google Shape;576;p61"/>
          <p:cNvPicPr preferRelativeResize="0"/>
          <p:nvPr/>
        </p:nvPicPr>
        <p:blipFill rotWithShape="1">
          <a:blip r:embed="rId6">
            <a:alphaModFix/>
          </a:blip>
          <a:srcRect b="0" l="28153" r="16051" t="0"/>
          <a:stretch/>
        </p:blipFill>
        <p:spPr>
          <a:xfrm>
            <a:off x="6041025" y="1953725"/>
            <a:ext cx="2167200" cy="2223000"/>
          </a:xfrm>
          <a:prstGeom prst="snip2DiagRect">
            <a:avLst>
              <a:gd fmla="val 0" name="adj1"/>
              <a:gd fmla="val 16667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62"/>
          <p:cNvSpPr txBox="1"/>
          <p:nvPr>
            <p:ph type="title"/>
          </p:nvPr>
        </p:nvSpPr>
        <p:spPr>
          <a:xfrm>
            <a:off x="232050" y="2112300"/>
            <a:ext cx="8321100" cy="265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6" name="Google Shape;586;p63"/>
          <p:cNvGraphicFramePr/>
          <p:nvPr/>
        </p:nvGraphicFramePr>
        <p:xfrm>
          <a:off x="786425" y="11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{CABB4C81-0042-400D-8A47-4D123343D0ED}</a:tableStyleId>
              </a:tblPr>
              <a:tblGrid>
                <a:gridCol w="991275"/>
                <a:gridCol w="1102025"/>
                <a:gridCol w="1046650"/>
                <a:gridCol w="1046650"/>
              </a:tblGrid>
              <a:tr h="661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% Accuracy</a:t>
                      </a:r>
                      <a:endParaRPr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Predicted (PRED / ACT)</a:t>
                      </a:r>
                      <a:endParaRPr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748950">
                <a:tc row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Actual</a:t>
                      </a:r>
                      <a:endParaRPr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OVA / OVA</a:t>
                      </a:r>
                      <a:endParaRPr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TIC / OVA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SC / OVA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4895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OVA / TIC</a:t>
                      </a:r>
                      <a:endParaRPr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TIC / TIC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SC / TIC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4895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OVA / SC</a:t>
                      </a:r>
                      <a:endParaRPr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TIC / SC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SC / SC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sp>
        <p:nvSpPr>
          <p:cNvPr id="587" name="Google Shape;587;p63"/>
          <p:cNvSpPr/>
          <p:nvPr/>
        </p:nvSpPr>
        <p:spPr>
          <a:xfrm>
            <a:off x="5300750" y="1613650"/>
            <a:ext cx="3117900" cy="21744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lt1"/>
                </a:solidFill>
                <a:latin typeface="Chakra Petch"/>
                <a:ea typeface="Chakra Petch"/>
                <a:cs typeface="Chakra Petch"/>
                <a:sym typeface="Chakra Petch"/>
              </a:rPr>
              <a:t>USING K-FOLD</a:t>
            </a:r>
            <a:endParaRPr sz="5000">
              <a:solidFill>
                <a:schemeClr val="lt1"/>
              </a:solidFill>
              <a:latin typeface="Chakra Petch"/>
              <a:ea typeface="Chakra Petch"/>
              <a:cs typeface="Chakra Petch"/>
              <a:sym typeface="Chakra Petch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64"/>
          <p:cNvSpPr txBox="1"/>
          <p:nvPr>
            <p:ph type="title"/>
          </p:nvPr>
        </p:nvSpPr>
        <p:spPr>
          <a:xfrm>
            <a:off x="602850" y="2164800"/>
            <a:ext cx="7938300" cy="81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Baseline Models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(</a:t>
            </a:r>
            <a:r>
              <a:rPr lang="en" sz="3000"/>
              <a:t>on full dataset w/o multivalued attributes)</a:t>
            </a:r>
            <a:endParaRPr sz="3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65"/>
          <p:cNvSpPr txBox="1"/>
          <p:nvPr>
            <p:ph idx="3" type="body"/>
          </p:nvPr>
        </p:nvSpPr>
        <p:spPr>
          <a:xfrm>
            <a:off x="365700" y="377525"/>
            <a:ext cx="6380400" cy="9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J48 </a:t>
            </a:r>
            <a:r>
              <a:rPr lang="en"/>
              <a:t>Baseline</a:t>
            </a:r>
            <a:endParaRPr sz="3500"/>
          </a:p>
        </p:txBody>
      </p:sp>
      <p:grpSp>
        <p:nvGrpSpPr>
          <p:cNvPr id="598" name="Google Shape;598;p65"/>
          <p:cNvGrpSpPr/>
          <p:nvPr/>
        </p:nvGrpSpPr>
        <p:grpSpPr>
          <a:xfrm>
            <a:off x="1288476" y="2823200"/>
            <a:ext cx="3556889" cy="1656118"/>
            <a:chOff x="6746175" y="88175"/>
            <a:chExt cx="2318400" cy="1411504"/>
          </a:xfrm>
        </p:grpSpPr>
        <p:sp>
          <p:nvSpPr>
            <p:cNvPr id="599" name="Google Shape;599;p65"/>
            <p:cNvSpPr/>
            <p:nvPr/>
          </p:nvSpPr>
          <p:spPr>
            <a:xfrm>
              <a:off x="6746175" y="88179"/>
              <a:ext cx="2318400" cy="1411500"/>
            </a:xfrm>
            <a:prstGeom prst="rect">
              <a:avLst/>
            </a:prstGeom>
            <a:solidFill>
              <a:schemeClr val="dk1"/>
            </a:solidFill>
            <a:ln cap="flat" cmpd="sng" w="11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1642"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642">
                  <a:latin typeface="DM Sans"/>
                  <a:ea typeface="DM Sans"/>
                  <a:cs typeface="DM Sans"/>
                  <a:sym typeface="DM Sans"/>
                </a:rPr>
                <a:t>None yet :)</a:t>
              </a:r>
              <a:endParaRPr i="1" sz="1642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00" name="Google Shape;600;p65"/>
            <p:cNvSpPr txBox="1"/>
            <p:nvPr/>
          </p:nvSpPr>
          <p:spPr>
            <a:xfrm>
              <a:off x="6746175" y="88175"/>
              <a:ext cx="2318400" cy="232500"/>
            </a:xfrm>
            <a:prstGeom prst="rect">
              <a:avLst/>
            </a:prstGeom>
            <a:solidFill>
              <a:srgbClr val="FFFFFF">
                <a:alpha val="50000"/>
              </a:srgbClr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7250" lIns="107250" spcFirstLastPara="1" rIns="107250" wrap="square" tIns="107250">
              <a:noAutofit/>
            </a:bodyPr>
            <a:lstStyle/>
            <a:p>
              <a:pPr indent="0" lvl="0" marL="0" rtl="0" algn="l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7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COMPARISON </a:t>
              </a:r>
              <a:r>
                <a:rPr lang="en" sz="603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so you don’t have to remember</a:t>
              </a:r>
              <a:endParaRPr sz="60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601" name="Google Shape;601;p65"/>
          <p:cNvGrpSpPr/>
          <p:nvPr/>
        </p:nvGrpSpPr>
        <p:grpSpPr>
          <a:xfrm>
            <a:off x="1356521" y="3161361"/>
            <a:ext cx="3432520" cy="188700"/>
            <a:chOff x="2181936" y="3161368"/>
            <a:chExt cx="2607109" cy="188700"/>
          </a:xfrm>
        </p:grpSpPr>
        <p:sp>
          <p:nvSpPr>
            <p:cNvPr id="602" name="Google Shape;602;p65"/>
            <p:cNvSpPr/>
            <p:nvPr/>
          </p:nvSpPr>
          <p:spPr>
            <a:xfrm>
              <a:off x="2181936" y="3161368"/>
              <a:ext cx="792300" cy="188700"/>
            </a:xfrm>
            <a:prstGeom prst="rect">
              <a:avLst/>
            </a:prstGeom>
            <a:solidFill>
              <a:schemeClr val="lt2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Model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03" name="Google Shape;603;p65"/>
            <p:cNvSpPr/>
            <p:nvPr/>
          </p:nvSpPr>
          <p:spPr>
            <a:xfrm>
              <a:off x="3036764" y="3161368"/>
              <a:ext cx="542400" cy="188700"/>
            </a:xfrm>
            <a:prstGeom prst="rect">
              <a:avLst/>
            </a:prstGeom>
            <a:solidFill>
              <a:schemeClr val="lt2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Acc.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04" name="Google Shape;604;p65"/>
            <p:cNvSpPr/>
            <p:nvPr/>
          </p:nvSpPr>
          <p:spPr>
            <a:xfrm>
              <a:off x="3641697" y="3161368"/>
              <a:ext cx="542400" cy="188700"/>
            </a:xfrm>
            <a:prstGeom prst="rect">
              <a:avLst/>
            </a:prstGeom>
            <a:solidFill>
              <a:schemeClr val="lt2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Prec.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05" name="Google Shape;605;p65"/>
            <p:cNvSpPr/>
            <p:nvPr/>
          </p:nvSpPr>
          <p:spPr>
            <a:xfrm>
              <a:off x="4246645" y="3161368"/>
              <a:ext cx="542400" cy="188700"/>
            </a:xfrm>
            <a:prstGeom prst="rect">
              <a:avLst/>
            </a:prstGeom>
            <a:solidFill>
              <a:schemeClr val="lt2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Recall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aphicFrame>
        <p:nvGraphicFramePr>
          <p:cNvPr id="606" name="Google Shape;606;p65"/>
          <p:cNvGraphicFramePr/>
          <p:nvPr/>
        </p:nvGraphicFramePr>
        <p:xfrm>
          <a:off x="5222075" y="1457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{CABB4C81-0042-400D-8A47-4D123343D0ED}</a:tableStyleId>
              </a:tblPr>
              <a:tblGrid>
                <a:gridCol w="1107275"/>
                <a:gridCol w="719150"/>
                <a:gridCol w="719150"/>
                <a:gridCol w="719150"/>
              </a:tblGrid>
              <a:tr h="705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% Accuracy</a:t>
                      </a:r>
                      <a:endParaRPr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Predicted</a:t>
                      </a:r>
                      <a:endParaRPr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692575">
                <a:tc row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Actual</a:t>
                      </a:r>
                      <a:endParaRPr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925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925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07" name="Google Shape;607;p65"/>
          <p:cNvGraphicFramePr/>
          <p:nvPr/>
        </p:nvGraphicFramePr>
        <p:xfrm>
          <a:off x="5222075" y="1457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{CABB4C81-0042-400D-8A47-4D123343D0ED}</a:tableStyleId>
              </a:tblPr>
              <a:tblGrid>
                <a:gridCol w="1107275"/>
                <a:gridCol w="719150"/>
                <a:gridCol w="719150"/>
                <a:gridCol w="719150"/>
              </a:tblGrid>
              <a:tr h="900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70.30% Accuracy</a:t>
                      </a:r>
                      <a:endParaRPr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ctr">
                    <a:lnL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Predicted</a:t>
                      </a:r>
                      <a:endParaRPr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ctr">
                    <a:lnL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627350">
                <a:tc row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Actual</a:t>
                      </a:r>
                      <a:endParaRPr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ctr">
                    <a:lnL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13559</a:t>
                      </a:r>
                      <a:endParaRPr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ctr">
                    <a:lnL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2277</a:t>
                      </a:r>
                      <a:endParaRPr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829</a:t>
                      </a:r>
                      <a:endParaRPr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2735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4212</a:t>
                      </a:r>
                      <a:endParaRPr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ctr">
                    <a:lnL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8049</a:t>
                      </a:r>
                      <a:endParaRPr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404</a:t>
                      </a:r>
                      <a:endParaRPr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2735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1928</a:t>
                      </a:r>
                      <a:endParaRPr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ctr">
                    <a:lnL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432</a:t>
                      </a:r>
                      <a:endParaRPr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2189</a:t>
                      </a:r>
                      <a:endParaRPr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08" name="Google Shape;608;p65"/>
          <p:cNvGraphicFramePr/>
          <p:nvPr/>
        </p:nvGraphicFramePr>
        <p:xfrm>
          <a:off x="465225" y="1457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{CABB4C81-0042-400D-8A47-4D123343D0ED}</a:tableStyleId>
              </a:tblPr>
              <a:tblGrid>
                <a:gridCol w="1178875"/>
                <a:gridCol w="779100"/>
                <a:gridCol w="1259850"/>
                <a:gridCol w="695125"/>
                <a:gridCol w="747000"/>
              </a:tblGrid>
              <a:tr h="32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 Medium"/>
                          <a:ea typeface="Chakra Petch Medium"/>
                          <a:cs typeface="Chakra Petch Medium"/>
                          <a:sym typeface="Chakra Petch Medium"/>
                        </a:rPr>
                        <a:t>Precision</a:t>
                      </a:r>
                      <a:endParaRPr sz="1900">
                        <a:latin typeface="Chakra Petch Medium"/>
                        <a:ea typeface="Chakra Petch Medium"/>
                        <a:cs typeface="Chakra Petch Medium"/>
                        <a:sym typeface="Chakra Petch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 Medium"/>
                          <a:ea typeface="Chakra Petch Medium"/>
                          <a:cs typeface="Chakra Petch Medium"/>
                          <a:sym typeface="Chakra Petch Medium"/>
                        </a:rPr>
                        <a:t>Recall</a:t>
                      </a:r>
                      <a:endParaRPr sz="1900">
                        <a:latin typeface="Chakra Petch Medium"/>
                        <a:ea typeface="Chakra Petch Medium"/>
                        <a:cs typeface="Chakra Petch Medium"/>
                        <a:sym typeface="Chakra Petch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 Medium"/>
                          <a:ea typeface="Chakra Petch Medium"/>
                          <a:cs typeface="Chakra Petch Medium"/>
                          <a:sym typeface="Chakra Petch Medium"/>
                        </a:rPr>
                        <a:t>F-Measure</a:t>
                      </a:r>
                      <a:endParaRPr sz="1900">
                        <a:latin typeface="Chakra Petch Medium"/>
                        <a:ea typeface="Chakra Petch Medium"/>
                        <a:cs typeface="Chakra Petch Medium"/>
                        <a:sym typeface="Chakra Petch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 Medium"/>
                          <a:ea typeface="Chakra Petch Medium"/>
                          <a:cs typeface="Chakra Petch Medium"/>
                          <a:sym typeface="Chakra Petch Medium"/>
                        </a:rPr>
                        <a:t>MCC</a:t>
                      </a:r>
                      <a:endParaRPr sz="1900">
                        <a:latin typeface="Chakra Petch Medium"/>
                        <a:ea typeface="Chakra Petch Medium"/>
                        <a:cs typeface="Chakra Petch Medium"/>
                        <a:sym typeface="Chakra Petch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 Medium"/>
                          <a:ea typeface="Chakra Petch Medium"/>
                          <a:cs typeface="Chakra Petch Medium"/>
                          <a:sym typeface="Chakra Petch Medium"/>
                        </a:rPr>
                        <a:t>PRC AUC</a:t>
                      </a:r>
                      <a:endParaRPr sz="1900">
                        <a:latin typeface="Chakra Petch Medium"/>
                        <a:ea typeface="Chakra Petch Medium"/>
                        <a:cs typeface="Chakra Petch Medium"/>
                        <a:sym typeface="Chakra Petch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</a:tr>
              <a:tr h="32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0.705</a:t>
                      </a:r>
                      <a:endParaRPr sz="1900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0.703</a:t>
                      </a:r>
                      <a:endParaRPr sz="1900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0.698</a:t>
                      </a:r>
                      <a:endParaRPr sz="1900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0.493</a:t>
                      </a:r>
                      <a:endParaRPr sz="1900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0.715</a:t>
                      </a:r>
                      <a:endParaRPr sz="1900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3" name="Google Shape;613;p66"/>
          <p:cNvGraphicFramePr/>
          <p:nvPr/>
        </p:nvGraphicFramePr>
        <p:xfrm>
          <a:off x="465230" y="1457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{CABB4C81-0042-400D-8A47-4D123343D0ED}</a:tableStyleId>
              </a:tblPr>
              <a:tblGrid>
                <a:gridCol w="1178875"/>
                <a:gridCol w="779100"/>
                <a:gridCol w="1259850"/>
                <a:gridCol w="695125"/>
                <a:gridCol w="747000"/>
              </a:tblGrid>
              <a:tr h="32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 Medium"/>
                          <a:ea typeface="Chakra Petch Medium"/>
                          <a:cs typeface="Chakra Petch Medium"/>
                          <a:sym typeface="Chakra Petch Medium"/>
                        </a:rPr>
                        <a:t>Precision</a:t>
                      </a:r>
                      <a:endParaRPr sz="1900">
                        <a:latin typeface="Chakra Petch Medium"/>
                        <a:ea typeface="Chakra Petch Medium"/>
                        <a:cs typeface="Chakra Petch Medium"/>
                        <a:sym typeface="Chakra Petch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 Medium"/>
                          <a:ea typeface="Chakra Petch Medium"/>
                          <a:cs typeface="Chakra Petch Medium"/>
                          <a:sym typeface="Chakra Petch Medium"/>
                        </a:rPr>
                        <a:t>Recall</a:t>
                      </a:r>
                      <a:endParaRPr sz="1900">
                        <a:latin typeface="Chakra Petch Medium"/>
                        <a:ea typeface="Chakra Petch Medium"/>
                        <a:cs typeface="Chakra Petch Medium"/>
                        <a:sym typeface="Chakra Petch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 Medium"/>
                          <a:ea typeface="Chakra Petch Medium"/>
                          <a:cs typeface="Chakra Petch Medium"/>
                          <a:sym typeface="Chakra Petch Medium"/>
                        </a:rPr>
                        <a:t>F-Measure</a:t>
                      </a:r>
                      <a:endParaRPr sz="1900">
                        <a:latin typeface="Chakra Petch Medium"/>
                        <a:ea typeface="Chakra Petch Medium"/>
                        <a:cs typeface="Chakra Petch Medium"/>
                        <a:sym typeface="Chakra Petch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 Medium"/>
                          <a:ea typeface="Chakra Petch Medium"/>
                          <a:cs typeface="Chakra Petch Medium"/>
                          <a:sym typeface="Chakra Petch Medium"/>
                        </a:rPr>
                        <a:t>MCC</a:t>
                      </a:r>
                      <a:endParaRPr sz="1900">
                        <a:latin typeface="Chakra Petch Medium"/>
                        <a:ea typeface="Chakra Petch Medium"/>
                        <a:cs typeface="Chakra Petch Medium"/>
                        <a:sym typeface="Chakra Petch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 Medium"/>
                          <a:ea typeface="Chakra Petch Medium"/>
                          <a:cs typeface="Chakra Petch Medium"/>
                          <a:sym typeface="Chakra Petch Medium"/>
                        </a:rPr>
                        <a:t>PRC AUC</a:t>
                      </a:r>
                      <a:endParaRPr sz="1900">
                        <a:latin typeface="Chakra Petch Medium"/>
                        <a:ea typeface="Chakra Petch Medium"/>
                        <a:cs typeface="Chakra Petch Medium"/>
                        <a:sym typeface="Chakra Petch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</a:tr>
              <a:tr h="32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0.697</a:t>
                      </a:r>
                      <a:endParaRPr sz="1900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0.682</a:t>
                      </a:r>
                      <a:endParaRPr sz="1900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0.663</a:t>
                      </a:r>
                      <a:endParaRPr sz="1900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0.455</a:t>
                      </a:r>
                      <a:endParaRPr sz="1900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0.759</a:t>
                      </a:r>
                      <a:endParaRPr sz="1900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</a:tbl>
          </a:graphicData>
        </a:graphic>
      </p:graphicFrame>
      <p:sp>
        <p:nvSpPr>
          <p:cNvPr id="614" name="Google Shape;614;p66"/>
          <p:cNvSpPr txBox="1"/>
          <p:nvPr>
            <p:ph idx="3" type="body"/>
          </p:nvPr>
        </p:nvSpPr>
        <p:spPr>
          <a:xfrm>
            <a:off x="365700" y="377525"/>
            <a:ext cx="7839900" cy="9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Decision Table </a:t>
            </a:r>
            <a:r>
              <a:rPr lang="en"/>
              <a:t>Baseline</a:t>
            </a:r>
            <a:endParaRPr sz="3500"/>
          </a:p>
        </p:txBody>
      </p:sp>
      <p:grpSp>
        <p:nvGrpSpPr>
          <p:cNvPr id="615" name="Google Shape;615;p66"/>
          <p:cNvGrpSpPr/>
          <p:nvPr/>
        </p:nvGrpSpPr>
        <p:grpSpPr>
          <a:xfrm>
            <a:off x="1288476" y="2823200"/>
            <a:ext cx="3556889" cy="1656118"/>
            <a:chOff x="6746175" y="88175"/>
            <a:chExt cx="2318400" cy="1411504"/>
          </a:xfrm>
        </p:grpSpPr>
        <p:sp>
          <p:nvSpPr>
            <p:cNvPr id="616" name="Google Shape;616;p66"/>
            <p:cNvSpPr/>
            <p:nvPr/>
          </p:nvSpPr>
          <p:spPr>
            <a:xfrm>
              <a:off x="6746175" y="88179"/>
              <a:ext cx="2318400" cy="1411500"/>
            </a:xfrm>
            <a:prstGeom prst="rect">
              <a:avLst/>
            </a:prstGeom>
            <a:solidFill>
              <a:schemeClr val="dk1"/>
            </a:solidFill>
            <a:ln cap="flat" cmpd="sng" w="11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42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17" name="Google Shape;617;p66"/>
            <p:cNvSpPr txBox="1"/>
            <p:nvPr/>
          </p:nvSpPr>
          <p:spPr>
            <a:xfrm>
              <a:off x="6746175" y="88175"/>
              <a:ext cx="2318400" cy="232500"/>
            </a:xfrm>
            <a:prstGeom prst="rect">
              <a:avLst/>
            </a:prstGeom>
            <a:solidFill>
              <a:srgbClr val="FFFFFF">
                <a:alpha val="50000"/>
              </a:srgbClr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7250" lIns="107250" spcFirstLastPara="1" rIns="107250" wrap="square" tIns="107250">
              <a:noAutofit/>
            </a:bodyPr>
            <a:lstStyle/>
            <a:p>
              <a:pPr indent="0" lvl="0" marL="0" rtl="0" algn="l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7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COMPARISON </a:t>
              </a:r>
              <a:r>
                <a:rPr lang="en" sz="603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so you don’t have to remember</a:t>
              </a:r>
              <a:endParaRPr sz="60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618" name="Google Shape;618;p66"/>
          <p:cNvGrpSpPr/>
          <p:nvPr/>
        </p:nvGrpSpPr>
        <p:grpSpPr>
          <a:xfrm>
            <a:off x="1356521" y="3161361"/>
            <a:ext cx="3432520" cy="188700"/>
            <a:chOff x="2181936" y="3161368"/>
            <a:chExt cx="2607109" cy="188700"/>
          </a:xfrm>
        </p:grpSpPr>
        <p:sp>
          <p:nvSpPr>
            <p:cNvPr id="619" name="Google Shape;619;p66"/>
            <p:cNvSpPr/>
            <p:nvPr/>
          </p:nvSpPr>
          <p:spPr>
            <a:xfrm>
              <a:off x="2181936" y="3161368"/>
              <a:ext cx="792300" cy="188700"/>
            </a:xfrm>
            <a:prstGeom prst="rect">
              <a:avLst/>
            </a:prstGeom>
            <a:solidFill>
              <a:schemeClr val="lt2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Model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20" name="Google Shape;620;p66"/>
            <p:cNvSpPr/>
            <p:nvPr/>
          </p:nvSpPr>
          <p:spPr>
            <a:xfrm>
              <a:off x="3036764" y="3161368"/>
              <a:ext cx="542400" cy="188700"/>
            </a:xfrm>
            <a:prstGeom prst="rect">
              <a:avLst/>
            </a:prstGeom>
            <a:solidFill>
              <a:schemeClr val="lt2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Acc.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21" name="Google Shape;621;p66"/>
            <p:cNvSpPr/>
            <p:nvPr/>
          </p:nvSpPr>
          <p:spPr>
            <a:xfrm>
              <a:off x="3641697" y="3161368"/>
              <a:ext cx="542400" cy="188700"/>
            </a:xfrm>
            <a:prstGeom prst="rect">
              <a:avLst/>
            </a:prstGeom>
            <a:solidFill>
              <a:schemeClr val="lt2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Prec.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22" name="Google Shape;622;p66"/>
            <p:cNvSpPr/>
            <p:nvPr/>
          </p:nvSpPr>
          <p:spPr>
            <a:xfrm>
              <a:off x="4246645" y="3161368"/>
              <a:ext cx="542400" cy="188700"/>
            </a:xfrm>
            <a:prstGeom prst="rect">
              <a:avLst/>
            </a:prstGeom>
            <a:solidFill>
              <a:schemeClr val="lt2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Recall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623" name="Google Shape;623;p66"/>
          <p:cNvGrpSpPr/>
          <p:nvPr/>
        </p:nvGrpSpPr>
        <p:grpSpPr>
          <a:xfrm>
            <a:off x="1355982" y="3428227"/>
            <a:ext cx="3432800" cy="188667"/>
            <a:chOff x="-5078419" y="986625"/>
            <a:chExt cx="2222021" cy="160800"/>
          </a:xfrm>
        </p:grpSpPr>
        <p:sp>
          <p:nvSpPr>
            <p:cNvPr id="624" name="Google Shape;624;p66"/>
            <p:cNvSpPr/>
            <p:nvPr/>
          </p:nvSpPr>
          <p:spPr>
            <a:xfrm>
              <a:off x="-5078419" y="986625"/>
              <a:ext cx="675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J48 </a:t>
              </a: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Baseline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25" name="Google Shape;625;p66"/>
            <p:cNvSpPr/>
            <p:nvPr/>
          </p:nvSpPr>
          <p:spPr>
            <a:xfrm>
              <a:off x="-434984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70.3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26" name="Google Shape;626;p66"/>
            <p:cNvSpPr/>
            <p:nvPr/>
          </p:nvSpPr>
          <p:spPr>
            <a:xfrm>
              <a:off x="-3834273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0.705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27" name="Google Shape;627;p66"/>
            <p:cNvSpPr/>
            <p:nvPr/>
          </p:nvSpPr>
          <p:spPr>
            <a:xfrm>
              <a:off x="-331869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0.703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aphicFrame>
        <p:nvGraphicFramePr>
          <p:cNvPr id="628" name="Google Shape;628;p66"/>
          <p:cNvGraphicFramePr/>
          <p:nvPr/>
        </p:nvGraphicFramePr>
        <p:xfrm>
          <a:off x="5222075" y="1457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{CABB4C81-0042-400D-8A47-4D123343D0ED}</a:tableStyleId>
              </a:tblPr>
              <a:tblGrid>
                <a:gridCol w="1107275"/>
                <a:gridCol w="719150"/>
                <a:gridCol w="719150"/>
                <a:gridCol w="719150"/>
              </a:tblGrid>
              <a:tr h="705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% Accuracy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Predicted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692575">
                <a:tc row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Actual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925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925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29" name="Google Shape;629;p66"/>
          <p:cNvGraphicFramePr/>
          <p:nvPr/>
        </p:nvGraphicFramePr>
        <p:xfrm>
          <a:off x="5222075" y="1457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{CABB4C81-0042-400D-8A47-4D123343D0ED}</a:tableStyleId>
              </a:tblPr>
              <a:tblGrid>
                <a:gridCol w="1107275"/>
                <a:gridCol w="719150"/>
                <a:gridCol w="719150"/>
                <a:gridCol w="719150"/>
              </a:tblGrid>
              <a:tr h="900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68.15%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Accuracy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Predicted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627350">
                <a:tc row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Actual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12479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4060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126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2735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2920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9648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77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2735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2386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1214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949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67"/>
          <p:cNvSpPr txBox="1"/>
          <p:nvPr>
            <p:ph idx="3" type="body"/>
          </p:nvPr>
        </p:nvSpPr>
        <p:spPr>
          <a:xfrm>
            <a:off x="365700" y="377525"/>
            <a:ext cx="7839900" cy="9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Naïve Bayes </a:t>
            </a:r>
            <a:r>
              <a:rPr lang="en"/>
              <a:t>Baseline</a:t>
            </a:r>
            <a:endParaRPr sz="3500"/>
          </a:p>
        </p:txBody>
      </p:sp>
      <p:grpSp>
        <p:nvGrpSpPr>
          <p:cNvPr id="635" name="Google Shape;635;p67"/>
          <p:cNvGrpSpPr/>
          <p:nvPr/>
        </p:nvGrpSpPr>
        <p:grpSpPr>
          <a:xfrm>
            <a:off x="1288476" y="2823200"/>
            <a:ext cx="3556889" cy="1656118"/>
            <a:chOff x="6746175" y="88175"/>
            <a:chExt cx="2318400" cy="1411504"/>
          </a:xfrm>
        </p:grpSpPr>
        <p:sp>
          <p:nvSpPr>
            <p:cNvPr id="636" name="Google Shape;636;p67"/>
            <p:cNvSpPr/>
            <p:nvPr/>
          </p:nvSpPr>
          <p:spPr>
            <a:xfrm>
              <a:off x="6746175" y="88179"/>
              <a:ext cx="2318400" cy="1411500"/>
            </a:xfrm>
            <a:prstGeom prst="rect">
              <a:avLst/>
            </a:prstGeom>
            <a:solidFill>
              <a:schemeClr val="dk1"/>
            </a:solidFill>
            <a:ln cap="flat" cmpd="sng" w="11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42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37" name="Google Shape;637;p67"/>
            <p:cNvSpPr txBox="1"/>
            <p:nvPr/>
          </p:nvSpPr>
          <p:spPr>
            <a:xfrm>
              <a:off x="6746175" y="88175"/>
              <a:ext cx="2318400" cy="232500"/>
            </a:xfrm>
            <a:prstGeom prst="rect">
              <a:avLst/>
            </a:prstGeom>
            <a:solidFill>
              <a:srgbClr val="FFFFFF">
                <a:alpha val="50000"/>
              </a:srgbClr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7250" lIns="107250" spcFirstLastPara="1" rIns="107250" wrap="square" tIns="107250">
              <a:noAutofit/>
            </a:bodyPr>
            <a:lstStyle/>
            <a:p>
              <a:pPr indent="0" lvl="0" marL="0" rtl="0" algn="l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7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COMPARISON </a:t>
              </a:r>
              <a:r>
                <a:rPr lang="en" sz="603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so you don’t have to remember</a:t>
              </a:r>
              <a:endParaRPr sz="60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638" name="Google Shape;638;p67"/>
          <p:cNvGrpSpPr/>
          <p:nvPr/>
        </p:nvGrpSpPr>
        <p:grpSpPr>
          <a:xfrm>
            <a:off x="1356521" y="3161361"/>
            <a:ext cx="3432520" cy="188700"/>
            <a:chOff x="2181936" y="3161368"/>
            <a:chExt cx="2607109" cy="188700"/>
          </a:xfrm>
        </p:grpSpPr>
        <p:sp>
          <p:nvSpPr>
            <p:cNvPr id="639" name="Google Shape;639;p67"/>
            <p:cNvSpPr/>
            <p:nvPr/>
          </p:nvSpPr>
          <p:spPr>
            <a:xfrm>
              <a:off x="2181936" y="3161368"/>
              <a:ext cx="792300" cy="188700"/>
            </a:xfrm>
            <a:prstGeom prst="rect">
              <a:avLst/>
            </a:prstGeom>
            <a:solidFill>
              <a:schemeClr val="lt2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Model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40" name="Google Shape;640;p67"/>
            <p:cNvSpPr/>
            <p:nvPr/>
          </p:nvSpPr>
          <p:spPr>
            <a:xfrm>
              <a:off x="3036764" y="3161368"/>
              <a:ext cx="542400" cy="188700"/>
            </a:xfrm>
            <a:prstGeom prst="rect">
              <a:avLst/>
            </a:prstGeom>
            <a:solidFill>
              <a:schemeClr val="lt2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Acc.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41" name="Google Shape;641;p67"/>
            <p:cNvSpPr/>
            <p:nvPr/>
          </p:nvSpPr>
          <p:spPr>
            <a:xfrm>
              <a:off x="3641697" y="3161368"/>
              <a:ext cx="542400" cy="188700"/>
            </a:xfrm>
            <a:prstGeom prst="rect">
              <a:avLst/>
            </a:prstGeom>
            <a:solidFill>
              <a:schemeClr val="lt2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Prec.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42" name="Google Shape;642;p67"/>
            <p:cNvSpPr/>
            <p:nvPr/>
          </p:nvSpPr>
          <p:spPr>
            <a:xfrm>
              <a:off x="4246645" y="3161368"/>
              <a:ext cx="542400" cy="188700"/>
            </a:xfrm>
            <a:prstGeom prst="rect">
              <a:avLst/>
            </a:prstGeom>
            <a:solidFill>
              <a:schemeClr val="lt2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Recall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643" name="Google Shape;643;p67"/>
          <p:cNvGrpSpPr/>
          <p:nvPr/>
        </p:nvGrpSpPr>
        <p:grpSpPr>
          <a:xfrm>
            <a:off x="1355982" y="3428227"/>
            <a:ext cx="3432800" cy="188667"/>
            <a:chOff x="-5078419" y="986625"/>
            <a:chExt cx="2222021" cy="160800"/>
          </a:xfrm>
        </p:grpSpPr>
        <p:sp>
          <p:nvSpPr>
            <p:cNvPr id="644" name="Google Shape;644;p67"/>
            <p:cNvSpPr/>
            <p:nvPr/>
          </p:nvSpPr>
          <p:spPr>
            <a:xfrm>
              <a:off x="-5078419" y="986625"/>
              <a:ext cx="675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J48 </a:t>
              </a: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Baseline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45" name="Google Shape;645;p67"/>
            <p:cNvSpPr/>
            <p:nvPr/>
          </p:nvSpPr>
          <p:spPr>
            <a:xfrm>
              <a:off x="-434984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70.3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46" name="Google Shape;646;p67"/>
            <p:cNvSpPr/>
            <p:nvPr/>
          </p:nvSpPr>
          <p:spPr>
            <a:xfrm>
              <a:off x="-3834273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0.705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47" name="Google Shape;647;p67"/>
            <p:cNvSpPr/>
            <p:nvPr/>
          </p:nvSpPr>
          <p:spPr>
            <a:xfrm>
              <a:off x="-331869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0.703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aphicFrame>
        <p:nvGraphicFramePr>
          <p:cNvPr id="648" name="Google Shape;648;p67"/>
          <p:cNvGraphicFramePr/>
          <p:nvPr/>
        </p:nvGraphicFramePr>
        <p:xfrm>
          <a:off x="5222075" y="1457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{CABB4C81-0042-400D-8A47-4D123343D0ED}</a:tableStyleId>
              </a:tblPr>
              <a:tblGrid>
                <a:gridCol w="1107275"/>
                <a:gridCol w="719150"/>
                <a:gridCol w="719150"/>
                <a:gridCol w="719150"/>
              </a:tblGrid>
              <a:tr h="705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% Accuracy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Predicted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692575">
                <a:tc row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Actual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925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925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49" name="Google Shape;649;p67"/>
          <p:cNvGraphicFramePr/>
          <p:nvPr/>
        </p:nvGraphicFramePr>
        <p:xfrm>
          <a:off x="-5771575" y="4398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{CABB4C81-0042-400D-8A47-4D123343D0ED}</a:tableStyleId>
              </a:tblPr>
              <a:tblGrid>
                <a:gridCol w="1054625"/>
                <a:gridCol w="787400"/>
                <a:gridCol w="1235000"/>
                <a:gridCol w="744800"/>
                <a:gridCol w="771875"/>
              </a:tblGrid>
              <a:tr h="32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Precision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Recall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F-Measure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MCC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PRC AUC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</a:tr>
              <a:tr h="32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0.657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0.635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0.638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0.411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0.697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</a:tbl>
          </a:graphicData>
        </a:graphic>
      </p:graphicFrame>
      <p:grpSp>
        <p:nvGrpSpPr>
          <p:cNvPr id="650" name="Google Shape;650;p67"/>
          <p:cNvGrpSpPr/>
          <p:nvPr/>
        </p:nvGrpSpPr>
        <p:grpSpPr>
          <a:xfrm>
            <a:off x="1350532" y="3695077"/>
            <a:ext cx="3432800" cy="188667"/>
            <a:chOff x="-5078419" y="986625"/>
            <a:chExt cx="2222021" cy="160800"/>
          </a:xfrm>
        </p:grpSpPr>
        <p:sp>
          <p:nvSpPr>
            <p:cNvPr id="651" name="Google Shape;651;p67"/>
            <p:cNvSpPr/>
            <p:nvPr/>
          </p:nvSpPr>
          <p:spPr>
            <a:xfrm>
              <a:off x="-5078419" y="986625"/>
              <a:ext cx="675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DTab </a:t>
              </a: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Baseline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52" name="Google Shape;652;p67"/>
            <p:cNvSpPr/>
            <p:nvPr/>
          </p:nvSpPr>
          <p:spPr>
            <a:xfrm>
              <a:off x="-434984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68.15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53" name="Google Shape;653;p67"/>
            <p:cNvSpPr/>
            <p:nvPr/>
          </p:nvSpPr>
          <p:spPr>
            <a:xfrm>
              <a:off x="-3834273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0.697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54" name="Google Shape;654;p67"/>
            <p:cNvSpPr/>
            <p:nvPr/>
          </p:nvSpPr>
          <p:spPr>
            <a:xfrm>
              <a:off x="-331869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0.682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aphicFrame>
        <p:nvGraphicFramePr>
          <p:cNvPr id="655" name="Google Shape;655;p67"/>
          <p:cNvGraphicFramePr/>
          <p:nvPr/>
        </p:nvGraphicFramePr>
        <p:xfrm>
          <a:off x="5222075" y="1457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{CABB4C81-0042-400D-8A47-4D123343D0ED}</a:tableStyleId>
              </a:tblPr>
              <a:tblGrid>
                <a:gridCol w="1107275"/>
                <a:gridCol w="719150"/>
                <a:gridCol w="719150"/>
                <a:gridCol w="719150"/>
              </a:tblGrid>
              <a:tr h="900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63.48% Accuracy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Predicted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627350">
                <a:tc row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Actual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11131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2697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2837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2735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4236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7005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1404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2735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771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422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3356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pSp>
        <p:nvGrpSpPr>
          <p:cNvPr id="656" name="Google Shape;656;p67"/>
          <p:cNvGrpSpPr/>
          <p:nvPr/>
        </p:nvGrpSpPr>
        <p:grpSpPr>
          <a:xfrm>
            <a:off x="-4930099" y="1635322"/>
            <a:ext cx="3556889" cy="1656118"/>
            <a:chOff x="6746175" y="88175"/>
            <a:chExt cx="2318400" cy="1411504"/>
          </a:xfrm>
        </p:grpSpPr>
        <p:sp>
          <p:nvSpPr>
            <p:cNvPr id="657" name="Google Shape;657;p67"/>
            <p:cNvSpPr/>
            <p:nvPr/>
          </p:nvSpPr>
          <p:spPr>
            <a:xfrm>
              <a:off x="6746175" y="88179"/>
              <a:ext cx="2318400" cy="1411500"/>
            </a:xfrm>
            <a:prstGeom prst="rect">
              <a:avLst/>
            </a:prstGeom>
            <a:solidFill>
              <a:schemeClr val="dk1"/>
            </a:solidFill>
            <a:ln cap="flat" cmpd="sng" w="11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42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58" name="Google Shape;658;p67"/>
            <p:cNvSpPr txBox="1"/>
            <p:nvPr/>
          </p:nvSpPr>
          <p:spPr>
            <a:xfrm>
              <a:off x="6746175" y="88175"/>
              <a:ext cx="2318400" cy="232500"/>
            </a:xfrm>
            <a:prstGeom prst="rect">
              <a:avLst/>
            </a:prstGeom>
            <a:solidFill>
              <a:srgbClr val="FFFFFF">
                <a:alpha val="50000"/>
              </a:srgbClr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7250" lIns="107250" spcFirstLastPara="1" rIns="107250" wrap="square" tIns="107250">
              <a:noAutofit/>
            </a:bodyPr>
            <a:lstStyle/>
            <a:p>
              <a:pPr indent="0" lvl="0" marL="0" rtl="0" algn="l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7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COMPARISON </a:t>
              </a:r>
              <a:r>
                <a:rPr lang="en" sz="603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so you don’t have to remember</a:t>
              </a:r>
              <a:endParaRPr sz="60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659" name="Google Shape;659;p67"/>
          <p:cNvGrpSpPr/>
          <p:nvPr/>
        </p:nvGrpSpPr>
        <p:grpSpPr>
          <a:xfrm>
            <a:off x="-4862054" y="1956911"/>
            <a:ext cx="3432520" cy="188700"/>
            <a:chOff x="2181936" y="3161368"/>
            <a:chExt cx="2607109" cy="188700"/>
          </a:xfrm>
        </p:grpSpPr>
        <p:sp>
          <p:nvSpPr>
            <p:cNvPr id="660" name="Google Shape;660;p67"/>
            <p:cNvSpPr/>
            <p:nvPr/>
          </p:nvSpPr>
          <p:spPr>
            <a:xfrm>
              <a:off x="2181936" y="3161368"/>
              <a:ext cx="792300" cy="188700"/>
            </a:xfrm>
            <a:prstGeom prst="rect">
              <a:avLst/>
            </a:prstGeom>
            <a:solidFill>
              <a:schemeClr val="lt2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Model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61" name="Google Shape;661;p67"/>
            <p:cNvSpPr/>
            <p:nvPr/>
          </p:nvSpPr>
          <p:spPr>
            <a:xfrm>
              <a:off x="3036764" y="3161368"/>
              <a:ext cx="542400" cy="188700"/>
            </a:xfrm>
            <a:prstGeom prst="rect">
              <a:avLst/>
            </a:prstGeom>
            <a:solidFill>
              <a:schemeClr val="lt2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Acc.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62" name="Google Shape;662;p67"/>
            <p:cNvSpPr/>
            <p:nvPr/>
          </p:nvSpPr>
          <p:spPr>
            <a:xfrm>
              <a:off x="3641697" y="3161368"/>
              <a:ext cx="542400" cy="188700"/>
            </a:xfrm>
            <a:prstGeom prst="rect">
              <a:avLst/>
            </a:prstGeom>
            <a:solidFill>
              <a:schemeClr val="lt2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Prec.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63" name="Google Shape;663;p67"/>
            <p:cNvSpPr/>
            <p:nvPr/>
          </p:nvSpPr>
          <p:spPr>
            <a:xfrm>
              <a:off x="4246645" y="3161368"/>
              <a:ext cx="542400" cy="188700"/>
            </a:xfrm>
            <a:prstGeom prst="rect">
              <a:avLst/>
            </a:prstGeom>
            <a:solidFill>
              <a:schemeClr val="lt2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Recall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664" name="Google Shape;664;p67"/>
          <p:cNvGrpSpPr/>
          <p:nvPr/>
        </p:nvGrpSpPr>
        <p:grpSpPr>
          <a:xfrm>
            <a:off x="-4862593" y="2223777"/>
            <a:ext cx="3432800" cy="188667"/>
            <a:chOff x="-5078419" y="986625"/>
            <a:chExt cx="2222021" cy="160800"/>
          </a:xfrm>
        </p:grpSpPr>
        <p:sp>
          <p:nvSpPr>
            <p:cNvPr id="665" name="Google Shape;665;p67"/>
            <p:cNvSpPr/>
            <p:nvPr/>
          </p:nvSpPr>
          <p:spPr>
            <a:xfrm>
              <a:off x="-5078419" y="986625"/>
              <a:ext cx="675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J48 Baseline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66" name="Google Shape;666;p67"/>
            <p:cNvSpPr/>
            <p:nvPr/>
          </p:nvSpPr>
          <p:spPr>
            <a:xfrm>
              <a:off x="-434984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70.3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67" name="Google Shape;667;p67"/>
            <p:cNvSpPr/>
            <p:nvPr/>
          </p:nvSpPr>
          <p:spPr>
            <a:xfrm>
              <a:off x="-3834273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0.705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68" name="Google Shape;668;p67"/>
            <p:cNvSpPr/>
            <p:nvPr/>
          </p:nvSpPr>
          <p:spPr>
            <a:xfrm>
              <a:off x="-331869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0.703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669" name="Google Shape;669;p67"/>
          <p:cNvGrpSpPr/>
          <p:nvPr/>
        </p:nvGrpSpPr>
        <p:grpSpPr>
          <a:xfrm>
            <a:off x="-4868043" y="2490627"/>
            <a:ext cx="3432800" cy="188667"/>
            <a:chOff x="-5078419" y="986625"/>
            <a:chExt cx="2222021" cy="160800"/>
          </a:xfrm>
        </p:grpSpPr>
        <p:sp>
          <p:nvSpPr>
            <p:cNvPr id="670" name="Google Shape;670;p67"/>
            <p:cNvSpPr/>
            <p:nvPr/>
          </p:nvSpPr>
          <p:spPr>
            <a:xfrm>
              <a:off x="-5078419" y="986625"/>
              <a:ext cx="675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DTab Baseline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71" name="Google Shape;671;p67"/>
            <p:cNvSpPr/>
            <p:nvPr/>
          </p:nvSpPr>
          <p:spPr>
            <a:xfrm>
              <a:off x="-434984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68.15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72" name="Google Shape;672;p67"/>
            <p:cNvSpPr/>
            <p:nvPr/>
          </p:nvSpPr>
          <p:spPr>
            <a:xfrm>
              <a:off x="-3834273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0.697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73" name="Google Shape;673;p67"/>
            <p:cNvSpPr/>
            <p:nvPr/>
          </p:nvSpPr>
          <p:spPr>
            <a:xfrm>
              <a:off x="-331869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0.682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674" name="Google Shape;674;p67"/>
          <p:cNvGrpSpPr/>
          <p:nvPr/>
        </p:nvGrpSpPr>
        <p:grpSpPr>
          <a:xfrm>
            <a:off x="-4862181" y="2757477"/>
            <a:ext cx="3432800" cy="188667"/>
            <a:chOff x="-5078419" y="986625"/>
            <a:chExt cx="2222021" cy="160800"/>
          </a:xfrm>
        </p:grpSpPr>
        <p:sp>
          <p:nvSpPr>
            <p:cNvPr id="675" name="Google Shape;675;p67"/>
            <p:cNvSpPr/>
            <p:nvPr/>
          </p:nvSpPr>
          <p:spPr>
            <a:xfrm>
              <a:off x="-5078419" y="986625"/>
              <a:ext cx="675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NB Baseline 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76" name="Google Shape;676;p67"/>
            <p:cNvSpPr/>
            <p:nvPr/>
          </p:nvSpPr>
          <p:spPr>
            <a:xfrm>
              <a:off x="-434984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63.48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77" name="Google Shape;677;p67"/>
            <p:cNvSpPr/>
            <p:nvPr/>
          </p:nvSpPr>
          <p:spPr>
            <a:xfrm>
              <a:off x="-3834273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0.657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78" name="Google Shape;678;p67"/>
            <p:cNvSpPr/>
            <p:nvPr/>
          </p:nvSpPr>
          <p:spPr>
            <a:xfrm>
              <a:off x="-331869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0.635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aphicFrame>
        <p:nvGraphicFramePr>
          <p:cNvPr id="679" name="Google Shape;679;p67"/>
          <p:cNvGraphicFramePr/>
          <p:nvPr/>
        </p:nvGraphicFramePr>
        <p:xfrm>
          <a:off x="465230" y="1457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{CABB4C81-0042-400D-8A47-4D123343D0ED}</a:tableStyleId>
              </a:tblPr>
              <a:tblGrid>
                <a:gridCol w="1178875"/>
                <a:gridCol w="779100"/>
                <a:gridCol w="1259850"/>
                <a:gridCol w="695125"/>
                <a:gridCol w="747000"/>
              </a:tblGrid>
              <a:tr h="32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 Medium"/>
                          <a:ea typeface="Chakra Petch Medium"/>
                          <a:cs typeface="Chakra Petch Medium"/>
                          <a:sym typeface="Chakra Petch Medium"/>
                        </a:rPr>
                        <a:t>Precision</a:t>
                      </a:r>
                      <a:endParaRPr sz="1900">
                        <a:latin typeface="Chakra Petch Medium"/>
                        <a:ea typeface="Chakra Petch Medium"/>
                        <a:cs typeface="Chakra Petch Medium"/>
                        <a:sym typeface="Chakra Petch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 Medium"/>
                          <a:ea typeface="Chakra Petch Medium"/>
                          <a:cs typeface="Chakra Petch Medium"/>
                          <a:sym typeface="Chakra Petch Medium"/>
                        </a:rPr>
                        <a:t>Recall</a:t>
                      </a:r>
                      <a:endParaRPr sz="1900">
                        <a:latin typeface="Chakra Petch Medium"/>
                        <a:ea typeface="Chakra Petch Medium"/>
                        <a:cs typeface="Chakra Petch Medium"/>
                        <a:sym typeface="Chakra Petch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 Medium"/>
                          <a:ea typeface="Chakra Petch Medium"/>
                          <a:cs typeface="Chakra Petch Medium"/>
                          <a:sym typeface="Chakra Petch Medium"/>
                        </a:rPr>
                        <a:t>F-Measure</a:t>
                      </a:r>
                      <a:endParaRPr sz="1900">
                        <a:latin typeface="Chakra Petch Medium"/>
                        <a:ea typeface="Chakra Petch Medium"/>
                        <a:cs typeface="Chakra Petch Medium"/>
                        <a:sym typeface="Chakra Petch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 Medium"/>
                          <a:ea typeface="Chakra Petch Medium"/>
                          <a:cs typeface="Chakra Petch Medium"/>
                          <a:sym typeface="Chakra Petch Medium"/>
                        </a:rPr>
                        <a:t>MCC</a:t>
                      </a:r>
                      <a:endParaRPr sz="1900">
                        <a:latin typeface="Chakra Petch Medium"/>
                        <a:ea typeface="Chakra Petch Medium"/>
                        <a:cs typeface="Chakra Petch Medium"/>
                        <a:sym typeface="Chakra Petch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 Medium"/>
                          <a:ea typeface="Chakra Petch Medium"/>
                          <a:cs typeface="Chakra Petch Medium"/>
                          <a:sym typeface="Chakra Petch Medium"/>
                        </a:rPr>
                        <a:t>PRC AUC</a:t>
                      </a:r>
                      <a:endParaRPr sz="1900">
                        <a:latin typeface="Chakra Petch Medium"/>
                        <a:ea typeface="Chakra Petch Medium"/>
                        <a:cs typeface="Chakra Petch Medium"/>
                        <a:sym typeface="Chakra Petch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</a:tr>
              <a:tr h="32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0.657</a:t>
                      </a:r>
                      <a:endParaRPr sz="1900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0.635</a:t>
                      </a:r>
                      <a:endParaRPr sz="1900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0.638</a:t>
                      </a:r>
                      <a:endParaRPr sz="1900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0.411</a:t>
                      </a:r>
                      <a:endParaRPr sz="1900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0.697</a:t>
                      </a:r>
                      <a:endParaRPr sz="1900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68"/>
          <p:cNvSpPr txBox="1"/>
          <p:nvPr>
            <p:ph type="title"/>
          </p:nvPr>
        </p:nvSpPr>
        <p:spPr>
          <a:xfrm>
            <a:off x="1129350" y="1873350"/>
            <a:ext cx="6885300" cy="139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OneR Submodel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69"/>
          <p:cNvSpPr txBox="1"/>
          <p:nvPr>
            <p:ph idx="3" type="body"/>
          </p:nvPr>
        </p:nvSpPr>
        <p:spPr>
          <a:xfrm>
            <a:off x="365700" y="377525"/>
            <a:ext cx="6380400" cy="9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J48 w/ OneR</a:t>
            </a:r>
            <a:endParaRPr sz="3500"/>
          </a:p>
        </p:txBody>
      </p:sp>
      <p:grpSp>
        <p:nvGrpSpPr>
          <p:cNvPr id="690" name="Google Shape;690;p69"/>
          <p:cNvGrpSpPr/>
          <p:nvPr/>
        </p:nvGrpSpPr>
        <p:grpSpPr>
          <a:xfrm>
            <a:off x="1288476" y="2823200"/>
            <a:ext cx="3556889" cy="1656118"/>
            <a:chOff x="6746175" y="88175"/>
            <a:chExt cx="2318400" cy="1411504"/>
          </a:xfrm>
        </p:grpSpPr>
        <p:sp>
          <p:nvSpPr>
            <p:cNvPr id="691" name="Google Shape;691;p69"/>
            <p:cNvSpPr/>
            <p:nvPr/>
          </p:nvSpPr>
          <p:spPr>
            <a:xfrm>
              <a:off x="6746175" y="88179"/>
              <a:ext cx="2318400" cy="1411500"/>
            </a:xfrm>
            <a:prstGeom prst="rect">
              <a:avLst/>
            </a:prstGeom>
            <a:solidFill>
              <a:schemeClr val="dk1"/>
            </a:solidFill>
            <a:ln cap="flat" cmpd="sng" w="11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42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92" name="Google Shape;692;p69"/>
            <p:cNvSpPr txBox="1"/>
            <p:nvPr/>
          </p:nvSpPr>
          <p:spPr>
            <a:xfrm>
              <a:off x="6746175" y="88175"/>
              <a:ext cx="2318400" cy="232500"/>
            </a:xfrm>
            <a:prstGeom prst="rect">
              <a:avLst/>
            </a:prstGeom>
            <a:solidFill>
              <a:srgbClr val="FFFFFF">
                <a:alpha val="50000"/>
              </a:srgbClr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7250" lIns="107250" spcFirstLastPara="1" rIns="107250" wrap="square" tIns="107250">
              <a:noAutofit/>
            </a:bodyPr>
            <a:lstStyle/>
            <a:p>
              <a:pPr indent="0" lvl="0" marL="0" rtl="0" algn="l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7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COMPARISON </a:t>
              </a:r>
              <a:r>
                <a:rPr lang="en" sz="603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so you don’t have to remember</a:t>
              </a:r>
              <a:endParaRPr sz="60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693" name="Google Shape;693;p69"/>
          <p:cNvGrpSpPr/>
          <p:nvPr/>
        </p:nvGrpSpPr>
        <p:grpSpPr>
          <a:xfrm>
            <a:off x="1356521" y="3161361"/>
            <a:ext cx="3432520" cy="188700"/>
            <a:chOff x="2181936" y="3161368"/>
            <a:chExt cx="2607109" cy="188700"/>
          </a:xfrm>
        </p:grpSpPr>
        <p:sp>
          <p:nvSpPr>
            <p:cNvPr id="694" name="Google Shape;694;p69"/>
            <p:cNvSpPr/>
            <p:nvPr/>
          </p:nvSpPr>
          <p:spPr>
            <a:xfrm>
              <a:off x="2181936" y="3161368"/>
              <a:ext cx="792300" cy="188700"/>
            </a:xfrm>
            <a:prstGeom prst="rect">
              <a:avLst/>
            </a:prstGeom>
            <a:solidFill>
              <a:schemeClr val="lt2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Model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95" name="Google Shape;695;p69"/>
            <p:cNvSpPr/>
            <p:nvPr/>
          </p:nvSpPr>
          <p:spPr>
            <a:xfrm>
              <a:off x="3036764" y="3161368"/>
              <a:ext cx="542400" cy="188700"/>
            </a:xfrm>
            <a:prstGeom prst="rect">
              <a:avLst/>
            </a:prstGeom>
            <a:solidFill>
              <a:schemeClr val="lt2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Acc.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96" name="Google Shape;696;p69"/>
            <p:cNvSpPr/>
            <p:nvPr/>
          </p:nvSpPr>
          <p:spPr>
            <a:xfrm>
              <a:off x="3641697" y="3161368"/>
              <a:ext cx="542400" cy="188700"/>
            </a:xfrm>
            <a:prstGeom prst="rect">
              <a:avLst/>
            </a:prstGeom>
            <a:solidFill>
              <a:schemeClr val="lt2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Prec.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97" name="Google Shape;697;p69"/>
            <p:cNvSpPr/>
            <p:nvPr/>
          </p:nvSpPr>
          <p:spPr>
            <a:xfrm>
              <a:off x="4246645" y="3161368"/>
              <a:ext cx="542400" cy="188700"/>
            </a:xfrm>
            <a:prstGeom prst="rect">
              <a:avLst/>
            </a:prstGeom>
            <a:solidFill>
              <a:schemeClr val="lt2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Recall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698" name="Google Shape;698;p69"/>
          <p:cNvGrpSpPr/>
          <p:nvPr/>
        </p:nvGrpSpPr>
        <p:grpSpPr>
          <a:xfrm>
            <a:off x="1355982" y="3428227"/>
            <a:ext cx="3432800" cy="188667"/>
            <a:chOff x="-5078419" y="986625"/>
            <a:chExt cx="2222021" cy="160800"/>
          </a:xfrm>
        </p:grpSpPr>
        <p:sp>
          <p:nvSpPr>
            <p:cNvPr id="699" name="Google Shape;699;p69"/>
            <p:cNvSpPr/>
            <p:nvPr/>
          </p:nvSpPr>
          <p:spPr>
            <a:xfrm>
              <a:off x="-5078419" y="986625"/>
              <a:ext cx="675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J48 </a:t>
              </a: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Baseline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00" name="Google Shape;700;p69"/>
            <p:cNvSpPr/>
            <p:nvPr/>
          </p:nvSpPr>
          <p:spPr>
            <a:xfrm>
              <a:off x="-434984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70.3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01" name="Google Shape;701;p69"/>
            <p:cNvSpPr/>
            <p:nvPr/>
          </p:nvSpPr>
          <p:spPr>
            <a:xfrm>
              <a:off x="-3834273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0.705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02" name="Google Shape;702;p69"/>
            <p:cNvSpPr/>
            <p:nvPr/>
          </p:nvSpPr>
          <p:spPr>
            <a:xfrm>
              <a:off x="-331869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0.703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aphicFrame>
        <p:nvGraphicFramePr>
          <p:cNvPr id="703" name="Google Shape;703;p69"/>
          <p:cNvGraphicFramePr/>
          <p:nvPr/>
        </p:nvGraphicFramePr>
        <p:xfrm>
          <a:off x="5222075" y="1457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{CABB4C81-0042-400D-8A47-4D123343D0ED}</a:tableStyleId>
              </a:tblPr>
              <a:tblGrid>
                <a:gridCol w="1107275"/>
                <a:gridCol w="719150"/>
                <a:gridCol w="719150"/>
                <a:gridCol w="719150"/>
              </a:tblGrid>
              <a:tr h="705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% Accuracy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Predicted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692575">
                <a:tc row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Actual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925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925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04" name="Google Shape;704;p69"/>
          <p:cNvGraphicFramePr/>
          <p:nvPr/>
        </p:nvGraphicFramePr>
        <p:xfrm>
          <a:off x="-5448550" y="927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{CABB4C81-0042-400D-8A47-4D123343D0ED}</a:tableStyleId>
              </a:tblPr>
              <a:tblGrid>
                <a:gridCol w="1054625"/>
                <a:gridCol w="787400"/>
                <a:gridCol w="1235000"/>
                <a:gridCol w="744800"/>
                <a:gridCol w="771875"/>
              </a:tblGrid>
              <a:tr h="32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Precision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Recall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F-Measure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MCC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PRC AUC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</a:tr>
              <a:tr h="32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0.694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0.692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0.69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0.509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0.651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05" name="Google Shape;705;p69"/>
          <p:cNvGraphicFramePr/>
          <p:nvPr/>
        </p:nvGraphicFramePr>
        <p:xfrm>
          <a:off x="5222075" y="1457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{CABB4C81-0042-400D-8A47-4D123343D0ED}</a:tableStyleId>
              </a:tblPr>
              <a:tblGrid>
                <a:gridCol w="1107275"/>
                <a:gridCol w="719150"/>
                <a:gridCol w="719150"/>
                <a:gridCol w="719150"/>
              </a:tblGrid>
              <a:tr h="705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69.20% Accuracy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Predicted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692575">
                <a:tc row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Actual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6903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1221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740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925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1971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4522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426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925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1331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413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2290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06" name="Google Shape;706;p69"/>
          <p:cNvGraphicFramePr/>
          <p:nvPr/>
        </p:nvGraphicFramePr>
        <p:xfrm>
          <a:off x="465230" y="1457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{CABB4C81-0042-400D-8A47-4D123343D0ED}</a:tableStyleId>
              </a:tblPr>
              <a:tblGrid>
                <a:gridCol w="1178875"/>
                <a:gridCol w="779100"/>
                <a:gridCol w="1259850"/>
                <a:gridCol w="695125"/>
                <a:gridCol w="747000"/>
              </a:tblGrid>
              <a:tr h="32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 Medium"/>
                          <a:ea typeface="Chakra Petch Medium"/>
                          <a:cs typeface="Chakra Petch Medium"/>
                          <a:sym typeface="Chakra Petch Medium"/>
                        </a:rPr>
                        <a:t>Precision</a:t>
                      </a:r>
                      <a:endParaRPr sz="1900">
                        <a:latin typeface="Chakra Petch Medium"/>
                        <a:ea typeface="Chakra Petch Medium"/>
                        <a:cs typeface="Chakra Petch Medium"/>
                        <a:sym typeface="Chakra Petch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 Medium"/>
                          <a:ea typeface="Chakra Petch Medium"/>
                          <a:cs typeface="Chakra Petch Medium"/>
                          <a:sym typeface="Chakra Petch Medium"/>
                        </a:rPr>
                        <a:t>Recall</a:t>
                      </a:r>
                      <a:endParaRPr sz="1900">
                        <a:latin typeface="Chakra Petch Medium"/>
                        <a:ea typeface="Chakra Petch Medium"/>
                        <a:cs typeface="Chakra Petch Medium"/>
                        <a:sym typeface="Chakra Petch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 Medium"/>
                          <a:ea typeface="Chakra Petch Medium"/>
                          <a:cs typeface="Chakra Petch Medium"/>
                          <a:sym typeface="Chakra Petch Medium"/>
                        </a:rPr>
                        <a:t>F-Measure</a:t>
                      </a:r>
                      <a:endParaRPr sz="1900">
                        <a:latin typeface="Chakra Petch Medium"/>
                        <a:ea typeface="Chakra Petch Medium"/>
                        <a:cs typeface="Chakra Petch Medium"/>
                        <a:sym typeface="Chakra Petch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 Medium"/>
                          <a:ea typeface="Chakra Petch Medium"/>
                          <a:cs typeface="Chakra Petch Medium"/>
                          <a:sym typeface="Chakra Petch Medium"/>
                        </a:rPr>
                        <a:t>MCC</a:t>
                      </a:r>
                      <a:endParaRPr sz="1900">
                        <a:latin typeface="Chakra Petch Medium"/>
                        <a:ea typeface="Chakra Petch Medium"/>
                        <a:cs typeface="Chakra Petch Medium"/>
                        <a:sym typeface="Chakra Petch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 Medium"/>
                          <a:ea typeface="Chakra Petch Medium"/>
                          <a:cs typeface="Chakra Petch Medium"/>
                          <a:sym typeface="Chakra Petch Medium"/>
                        </a:rPr>
                        <a:t>PRC AUC</a:t>
                      </a:r>
                      <a:endParaRPr sz="1900">
                        <a:latin typeface="Chakra Petch Medium"/>
                        <a:ea typeface="Chakra Petch Medium"/>
                        <a:cs typeface="Chakra Petch Medium"/>
                        <a:sym typeface="Chakra Petch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</a:tr>
              <a:tr h="32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0.694</a:t>
                      </a:r>
                      <a:endParaRPr sz="1900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0.692</a:t>
                      </a:r>
                      <a:endParaRPr sz="1900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0.69</a:t>
                      </a:r>
                      <a:endParaRPr sz="1900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0.509</a:t>
                      </a:r>
                      <a:endParaRPr sz="1900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0.651</a:t>
                      </a:r>
                      <a:endParaRPr sz="1900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70"/>
          <p:cNvSpPr txBox="1"/>
          <p:nvPr>
            <p:ph idx="3" type="body"/>
          </p:nvPr>
        </p:nvSpPr>
        <p:spPr>
          <a:xfrm>
            <a:off x="365700" y="377525"/>
            <a:ext cx="7724700" cy="9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Decision Table w/ OneR</a:t>
            </a:r>
            <a:endParaRPr sz="3500"/>
          </a:p>
        </p:txBody>
      </p:sp>
      <p:grpSp>
        <p:nvGrpSpPr>
          <p:cNvPr id="712" name="Google Shape;712;p70"/>
          <p:cNvGrpSpPr/>
          <p:nvPr/>
        </p:nvGrpSpPr>
        <p:grpSpPr>
          <a:xfrm>
            <a:off x="1288476" y="2823200"/>
            <a:ext cx="3556889" cy="1656118"/>
            <a:chOff x="6746175" y="88175"/>
            <a:chExt cx="2318400" cy="1411504"/>
          </a:xfrm>
        </p:grpSpPr>
        <p:sp>
          <p:nvSpPr>
            <p:cNvPr id="713" name="Google Shape;713;p70"/>
            <p:cNvSpPr/>
            <p:nvPr/>
          </p:nvSpPr>
          <p:spPr>
            <a:xfrm>
              <a:off x="6746175" y="88179"/>
              <a:ext cx="2318400" cy="1411500"/>
            </a:xfrm>
            <a:prstGeom prst="rect">
              <a:avLst/>
            </a:prstGeom>
            <a:solidFill>
              <a:schemeClr val="dk1"/>
            </a:solidFill>
            <a:ln cap="flat" cmpd="sng" w="11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42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14" name="Google Shape;714;p70"/>
            <p:cNvSpPr txBox="1"/>
            <p:nvPr/>
          </p:nvSpPr>
          <p:spPr>
            <a:xfrm>
              <a:off x="6746175" y="88175"/>
              <a:ext cx="2318400" cy="232500"/>
            </a:xfrm>
            <a:prstGeom prst="rect">
              <a:avLst/>
            </a:prstGeom>
            <a:solidFill>
              <a:srgbClr val="FFFFFF">
                <a:alpha val="50000"/>
              </a:srgbClr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7250" lIns="107250" spcFirstLastPara="1" rIns="107250" wrap="square" tIns="107250">
              <a:noAutofit/>
            </a:bodyPr>
            <a:lstStyle/>
            <a:p>
              <a:pPr indent="0" lvl="0" marL="0" rtl="0" algn="l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7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COMPARISON </a:t>
              </a:r>
              <a:r>
                <a:rPr lang="en" sz="603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so you don’t have to remember</a:t>
              </a:r>
              <a:endParaRPr sz="60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715" name="Google Shape;715;p70"/>
          <p:cNvGrpSpPr/>
          <p:nvPr/>
        </p:nvGrpSpPr>
        <p:grpSpPr>
          <a:xfrm>
            <a:off x="1356521" y="3161361"/>
            <a:ext cx="3432520" cy="188700"/>
            <a:chOff x="2181936" y="3161368"/>
            <a:chExt cx="2607109" cy="188700"/>
          </a:xfrm>
        </p:grpSpPr>
        <p:sp>
          <p:nvSpPr>
            <p:cNvPr id="716" name="Google Shape;716;p70"/>
            <p:cNvSpPr/>
            <p:nvPr/>
          </p:nvSpPr>
          <p:spPr>
            <a:xfrm>
              <a:off x="2181936" y="3161368"/>
              <a:ext cx="792300" cy="188700"/>
            </a:xfrm>
            <a:prstGeom prst="rect">
              <a:avLst/>
            </a:prstGeom>
            <a:solidFill>
              <a:schemeClr val="lt2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Model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17" name="Google Shape;717;p70"/>
            <p:cNvSpPr/>
            <p:nvPr/>
          </p:nvSpPr>
          <p:spPr>
            <a:xfrm>
              <a:off x="3036764" y="3161368"/>
              <a:ext cx="542400" cy="188700"/>
            </a:xfrm>
            <a:prstGeom prst="rect">
              <a:avLst/>
            </a:prstGeom>
            <a:solidFill>
              <a:schemeClr val="lt2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Acc.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18" name="Google Shape;718;p70"/>
            <p:cNvSpPr/>
            <p:nvPr/>
          </p:nvSpPr>
          <p:spPr>
            <a:xfrm>
              <a:off x="3641697" y="3161368"/>
              <a:ext cx="542400" cy="188700"/>
            </a:xfrm>
            <a:prstGeom prst="rect">
              <a:avLst/>
            </a:prstGeom>
            <a:solidFill>
              <a:schemeClr val="lt2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Prec.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19" name="Google Shape;719;p70"/>
            <p:cNvSpPr/>
            <p:nvPr/>
          </p:nvSpPr>
          <p:spPr>
            <a:xfrm>
              <a:off x="4246645" y="3161368"/>
              <a:ext cx="542400" cy="188700"/>
            </a:xfrm>
            <a:prstGeom prst="rect">
              <a:avLst/>
            </a:prstGeom>
            <a:solidFill>
              <a:schemeClr val="lt2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Recall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aphicFrame>
        <p:nvGraphicFramePr>
          <p:cNvPr id="720" name="Google Shape;720;p70"/>
          <p:cNvGraphicFramePr/>
          <p:nvPr/>
        </p:nvGraphicFramePr>
        <p:xfrm>
          <a:off x="5222075" y="1457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{CABB4C81-0042-400D-8A47-4D123343D0ED}</a:tableStyleId>
              </a:tblPr>
              <a:tblGrid>
                <a:gridCol w="1107275"/>
                <a:gridCol w="719150"/>
                <a:gridCol w="719150"/>
                <a:gridCol w="719150"/>
              </a:tblGrid>
              <a:tr h="705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% Accuracy</a:t>
                      </a:r>
                      <a:endParaRPr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Predicted</a:t>
                      </a:r>
                      <a:endParaRPr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692575">
                <a:tc row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Actual</a:t>
                      </a:r>
                      <a:endParaRPr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925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925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21" name="Google Shape;721;p70"/>
          <p:cNvGraphicFramePr/>
          <p:nvPr/>
        </p:nvGraphicFramePr>
        <p:xfrm>
          <a:off x="-6260250" y="969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{CABB4C81-0042-400D-8A47-4D123343D0ED}</a:tableStyleId>
              </a:tblPr>
              <a:tblGrid>
                <a:gridCol w="1054625"/>
                <a:gridCol w="787400"/>
                <a:gridCol w="1235000"/>
                <a:gridCol w="744800"/>
                <a:gridCol w="771875"/>
              </a:tblGrid>
              <a:tr h="32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Precision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Recall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F-Measure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MCC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PRC AUC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</a:tr>
              <a:tr h="32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0.70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0.697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0.695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0.516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0.72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</a:tbl>
          </a:graphicData>
        </a:graphic>
      </p:graphicFrame>
      <p:grpSp>
        <p:nvGrpSpPr>
          <p:cNvPr id="722" name="Google Shape;722;p70"/>
          <p:cNvGrpSpPr/>
          <p:nvPr/>
        </p:nvGrpSpPr>
        <p:grpSpPr>
          <a:xfrm>
            <a:off x="1356394" y="3695077"/>
            <a:ext cx="3432800" cy="188667"/>
            <a:chOff x="-5078419" y="986625"/>
            <a:chExt cx="2222021" cy="160800"/>
          </a:xfrm>
        </p:grpSpPr>
        <p:sp>
          <p:nvSpPr>
            <p:cNvPr id="723" name="Google Shape;723;p70"/>
            <p:cNvSpPr/>
            <p:nvPr/>
          </p:nvSpPr>
          <p:spPr>
            <a:xfrm>
              <a:off x="-5078419" y="986625"/>
              <a:ext cx="675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J48 </a:t>
              </a: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(</a:t>
              </a: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OneR</a:t>
              </a: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)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24" name="Google Shape;724;p70"/>
            <p:cNvSpPr/>
            <p:nvPr/>
          </p:nvSpPr>
          <p:spPr>
            <a:xfrm>
              <a:off x="-434984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69.2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25" name="Google Shape;725;p70"/>
            <p:cNvSpPr/>
            <p:nvPr/>
          </p:nvSpPr>
          <p:spPr>
            <a:xfrm>
              <a:off x="-3834273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0.694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26" name="Google Shape;726;p70"/>
            <p:cNvSpPr/>
            <p:nvPr/>
          </p:nvSpPr>
          <p:spPr>
            <a:xfrm>
              <a:off x="-331869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0.692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aphicFrame>
        <p:nvGraphicFramePr>
          <p:cNvPr id="727" name="Google Shape;727;p70"/>
          <p:cNvGraphicFramePr/>
          <p:nvPr/>
        </p:nvGraphicFramePr>
        <p:xfrm>
          <a:off x="5222075" y="1457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{CABB4C81-0042-400D-8A47-4D123343D0ED}</a:tableStyleId>
              </a:tblPr>
              <a:tblGrid>
                <a:gridCol w="1107275"/>
                <a:gridCol w="719150"/>
                <a:gridCol w="719150"/>
                <a:gridCol w="719150"/>
              </a:tblGrid>
              <a:tr h="705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69.67% Accuracy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Predicted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692575">
                <a:tc row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Actual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6926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1160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778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925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1968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4510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441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925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1336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328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2370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pSp>
        <p:nvGrpSpPr>
          <p:cNvPr id="728" name="Google Shape;728;p70"/>
          <p:cNvGrpSpPr/>
          <p:nvPr/>
        </p:nvGrpSpPr>
        <p:grpSpPr>
          <a:xfrm>
            <a:off x="1350532" y="3428227"/>
            <a:ext cx="3432800" cy="188667"/>
            <a:chOff x="-5078419" y="986625"/>
            <a:chExt cx="2222021" cy="160800"/>
          </a:xfrm>
        </p:grpSpPr>
        <p:sp>
          <p:nvSpPr>
            <p:cNvPr id="729" name="Google Shape;729;p70"/>
            <p:cNvSpPr/>
            <p:nvPr/>
          </p:nvSpPr>
          <p:spPr>
            <a:xfrm>
              <a:off x="-5078419" y="986625"/>
              <a:ext cx="675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DTab </a:t>
              </a: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Baseline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30" name="Google Shape;730;p70"/>
            <p:cNvSpPr/>
            <p:nvPr/>
          </p:nvSpPr>
          <p:spPr>
            <a:xfrm>
              <a:off x="-434984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68.15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31" name="Google Shape;731;p70"/>
            <p:cNvSpPr/>
            <p:nvPr/>
          </p:nvSpPr>
          <p:spPr>
            <a:xfrm>
              <a:off x="-3834273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0.697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32" name="Google Shape;732;p70"/>
            <p:cNvSpPr/>
            <p:nvPr/>
          </p:nvSpPr>
          <p:spPr>
            <a:xfrm>
              <a:off x="-331869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0.682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aphicFrame>
        <p:nvGraphicFramePr>
          <p:cNvPr id="733" name="Google Shape;733;p70"/>
          <p:cNvGraphicFramePr/>
          <p:nvPr/>
        </p:nvGraphicFramePr>
        <p:xfrm>
          <a:off x="465230" y="1457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{CABB4C81-0042-400D-8A47-4D123343D0ED}</a:tableStyleId>
              </a:tblPr>
              <a:tblGrid>
                <a:gridCol w="1178875"/>
                <a:gridCol w="779100"/>
                <a:gridCol w="1259850"/>
                <a:gridCol w="695125"/>
                <a:gridCol w="747000"/>
              </a:tblGrid>
              <a:tr h="32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 Medium"/>
                          <a:ea typeface="Chakra Petch Medium"/>
                          <a:cs typeface="Chakra Petch Medium"/>
                          <a:sym typeface="Chakra Petch Medium"/>
                        </a:rPr>
                        <a:t>Precision</a:t>
                      </a:r>
                      <a:endParaRPr sz="1900">
                        <a:latin typeface="Chakra Petch Medium"/>
                        <a:ea typeface="Chakra Petch Medium"/>
                        <a:cs typeface="Chakra Petch Medium"/>
                        <a:sym typeface="Chakra Petch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 Medium"/>
                          <a:ea typeface="Chakra Petch Medium"/>
                          <a:cs typeface="Chakra Petch Medium"/>
                          <a:sym typeface="Chakra Petch Medium"/>
                        </a:rPr>
                        <a:t>Recall</a:t>
                      </a:r>
                      <a:endParaRPr sz="1900">
                        <a:latin typeface="Chakra Petch Medium"/>
                        <a:ea typeface="Chakra Petch Medium"/>
                        <a:cs typeface="Chakra Petch Medium"/>
                        <a:sym typeface="Chakra Petch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 Medium"/>
                          <a:ea typeface="Chakra Petch Medium"/>
                          <a:cs typeface="Chakra Petch Medium"/>
                          <a:sym typeface="Chakra Petch Medium"/>
                        </a:rPr>
                        <a:t>F-Measure</a:t>
                      </a:r>
                      <a:endParaRPr sz="1900">
                        <a:latin typeface="Chakra Petch Medium"/>
                        <a:ea typeface="Chakra Petch Medium"/>
                        <a:cs typeface="Chakra Petch Medium"/>
                        <a:sym typeface="Chakra Petch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 Medium"/>
                          <a:ea typeface="Chakra Petch Medium"/>
                          <a:cs typeface="Chakra Petch Medium"/>
                          <a:sym typeface="Chakra Petch Medium"/>
                        </a:rPr>
                        <a:t>MCC</a:t>
                      </a:r>
                      <a:endParaRPr sz="1900">
                        <a:latin typeface="Chakra Petch Medium"/>
                        <a:ea typeface="Chakra Petch Medium"/>
                        <a:cs typeface="Chakra Petch Medium"/>
                        <a:sym typeface="Chakra Petch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 Medium"/>
                          <a:ea typeface="Chakra Petch Medium"/>
                          <a:cs typeface="Chakra Petch Medium"/>
                          <a:sym typeface="Chakra Petch Medium"/>
                        </a:rPr>
                        <a:t>PRC AUC</a:t>
                      </a:r>
                      <a:endParaRPr sz="1900">
                        <a:latin typeface="Chakra Petch Medium"/>
                        <a:ea typeface="Chakra Petch Medium"/>
                        <a:cs typeface="Chakra Petch Medium"/>
                        <a:sym typeface="Chakra Petch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</a:tr>
              <a:tr h="32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0.70</a:t>
                      </a:r>
                      <a:endParaRPr sz="1900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0.697</a:t>
                      </a:r>
                      <a:endParaRPr sz="1900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0.695</a:t>
                      </a:r>
                      <a:endParaRPr sz="1900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0.516</a:t>
                      </a:r>
                      <a:endParaRPr sz="1900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0.72</a:t>
                      </a:r>
                      <a:endParaRPr sz="1900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71"/>
          <p:cNvSpPr txBox="1"/>
          <p:nvPr>
            <p:ph idx="3" type="body"/>
          </p:nvPr>
        </p:nvSpPr>
        <p:spPr>
          <a:xfrm>
            <a:off x="365700" y="377525"/>
            <a:ext cx="7935000" cy="9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Naïve Bayes w/ OneR</a:t>
            </a:r>
            <a:endParaRPr sz="3500"/>
          </a:p>
        </p:txBody>
      </p:sp>
      <p:grpSp>
        <p:nvGrpSpPr>
          <p:cNvPr id="739" name="Google Shape;739;p71"/>
          <p:cNvGrpSpPr/>
          <p:nvPr/>
        </p:nvGrpSpPr>
        <p:grpSpPr>
          <a:xfrm>
            <a:off x="1288476" y="2823200"/>
            <a:ext cx="3556889" cy="1656118"/>
            <a:chOff x="6746175" y="88175"/>
            <a:chExt cx="2318400" cy="1411504"/>
          </a:xfrm>
        </p:grpSpPr>
        <p:sp>
          <p:nvSpPr>
            <p:cNvPr id="740" name="Google Shape;740;p71"/>
            <p:cNvSpPr/>
            <p:nvPr/>
          </p:nvSpPr>
          <p:spPr>
            <a:xfrm>
              <a:off x="6746175" y="88179"/>
              <a:ext cx="2318400" cy="1411500"/>
            </a:xfrm>
            <a:prstGeom prst="rect">
              <a:avLst/>
            </a:prstGeom>
            <a:solidFill>
              <a:schemeClr val="dk1"/>
            </a:solidFill>
            <a:ln cap="flat" cmpd="sng" w="11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42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41" name="Google Shape;741;p71"/>
            <p:cNvSpPr txBox="1"/>
            <p:nvPr/>
          </p:nvSpPr>
          <p:spPr>
            <a:xfrm>
              <a:off x="6746175" y="88175"/>
              <a:ext cx="2318400" cy="232500"/>
            </a:xfrm>
            <a:prstGeom prst="rect">
              <a:avLst/>
            </a:prstGeom>
            <a:solidFill>
              <a:srgbClr val="FFFFFF">
                <a:alpha val="50000"/>
              </a:srgbClr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7250" lIns="107250" spcFirstLastPara="1" rIns="107250" wrap="square" tIns="107250">
              <a:noAutofit/>
            </a:bodyPr>
            <a:lstStyle/>
            <a:p>
              <a:pPr indent="0" lvl="0" marL="0" rtl="0" algn="l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7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COMPARISON </a:t>
              </a:r>
              <a:r>
                <a:rPr lang="en" sz="603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so you don’t have to remember</a:t>
              </a:r>
              <a:endParaRPr sz="60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742" name="Google Shape;742;p71"/>
          <p:cNvGrpSpPr/>
          <p:nvPr/>
        </p:nvGrpSpPr>
        <p:grpSpPr>
          <a:xfrm>
            <a:off x="1356521" y="3161361"/>
            <a:ext cx="3432520" cy="188700"/>
            <a:chOff x="2181936" y="3161368"/>
            <a:chExt cx="2607109" cy="188700"/>
          </a:xfrm>
        </p:grpSpPr>
        <p:sp>
          <p:nvSpPr>
            <p:cNvPr id="743" name="Google Shape;743;p71"/>
            <p:cNvSpPr/>
            <p:nvPr/>
          </p:nvSpPr>
          <p:spPr>
            <a:xfrm>
              <a:off x="2181936" y="3161368"/>
              <a:ext cx="792300" cy="188700"/>
            </a:xfrm>
            <a:prstGeom prst="rect">
              <a:avLst/>
            </a:prstGeom>
            <a:solidFill>
              <a:schemeClr val="lt2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Model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44" name="Google Shape;744;p71"/>
            <p:cNvSpPr/>
            <p:nvPr/>
          </p:nvSpPr>
          <p:spPr>
            <a:xfrm>
              <a:off x="3036764" y="3161368"/>
              <a:ext cx="542400" cy="188700"/>
            </a:xfrm>
            <a:prstGeom prst="rect">
              <a:avLst/>
            </a:prstGeom>
            <a:solidFill>
              <a:schemeClr val="lt2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Acc.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45" name="Google Shape;745;p71"/>
            <p:cNvSpPr/>
            <p:nvPr/>
          </p:nvSpPr>
          <p:spPr>
            <a:xfrm>
              <a:off x="3641697" y="3161368"/>
              <a:ext cx="542400" cy="188700"/>
            </a:xfrm>
            <a:prstGeom prst="rect">
              <a:avLst/>
            </a:prstGeom>
            <a:solidFill>
              <a:schemeClr val="lt2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Prec.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46" name="Google Shape;746;p71"/>
            <p:cNvSpPr/>
            <p:nvPr/>
          </p:nvSpPr>
          <p:spPr>
            <a:xfrm>
              <a:off x="4246645" y="3161368"/>
              <a:ext cx="542400" cy="188700"/>
            </a:xfrm>
            <a:prstGeom prst="rect">
              <a:avLst/>
            </a:prstGeom>
            <a:solidFill>
              <a:schemeClr val="lt2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Recall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aphicFrame>
        <p:nvGraphicFramePr>
          <p:cNvPr id="747" name="Google Shape;747;p71"/>
          <p:cNvGraphicFramePr/>
          <p:nvPr/>
        </p:nvGraphicFramePr>
        <p:xfrm>
          <a:off x="5222075" y="1457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{CABB4C81-0042-400D-8A47-4D123343D0ED}</a:tableStyleId>
              </a:tblPr>
              <a:tblGrid>
                <a:gridCol w="1107275"/>
                <a:gridCol w="719150"/>
                <a:gridCol w="719150"/>
                <a:gridCol w="719150"/>
              </a:tblGrid>
              <a:tr h="705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% Accuracy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Predicted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692575">
                <a:tc row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Actual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925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925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48" name="Google Shape;748;p71"/>
          <p:cNvGraphicFramePr/>
          <p:nvPr/>
        </p:nvGraphicFramePr>
        <p:xfrm>
          <a:off x="-5266325" y="3785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{CABB4C81-0042-400D-8A47-4D123343D0ED}</a:tableStyleId>
              </a:tblPr>
              <a:tblGrid>
                <a:gridCol w="1054625"/>
                <a:gridCol w="787400"/>
                <a:gridCol w="1235000"/>
                <a:gridCol w="744800"/>
                <a:gridCol w="771875"/>
              </a:tblGrid>
              <a:tr h="32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Precision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Recall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F-Measure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MCC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PRC AUC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</a:tr>
              <a:tr h="32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0.638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0.631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0.632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0.422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0.668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</a:tbl>
          </a:graphicData>
        </a:graphic>
      </p:graphicFrame>
      <p:grpSp>
        <p:nvGrpSpPr>
          <p:cNvPr id="749" name="Google Shape;749;p71"/>
          <p:cNvGrpSpPr/>
          <p:nvPr/>
        </p:nvGrpSpPr>
        <p:grpSpPr>
          <a:xfrm>
            <a:off x="1356394" y="3695077"/>
            <a:ext cx="3432800" cy="188667"/>
            <a:chOff x="-5078419" y="986625"/>
            <a:chExt cx="2222021" cy="160800"/>
          </a:xfrm>
        </p:grpSpPr>
        <p:sp>
          <p:nvSpPr>
            <p:cNvPr id="750" name="Google Shape;750;p71"/>
            <p:cNvSpPr/>
            <p:nvPr/>
          </p:nvSpPr>
          <p:spPr>
            <a:xfrm>
              <a:off x="-5078419" y="986625"/>
              <a:ext cx="675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J48 (OneR)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51" name="Google Shape;751;p71"/>
            <p:cNvSpPr/>
            <p:nvPr/>
          </p:nvSpPr>
          <p:spPr>
            <a:xfrm>
              <a:off x="-434984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69.2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52" name="Google Shape;752;p71"/>
            <p:cNvSpPr/>
            <p:nvPr/>
          </p:nvSpPr>
          <p:spPr>
            <a:xfrm>
              <a:off x="-3834273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0.694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53" name="Google Shape;753;p71"/>
            <p:cNvSpPr/>
            <p:nvPr/>
          </p:nvSpPr>
          <p:spPr>
            <a:xfrm>
              <a:off x="-331869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0.692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754" name="Google Shape;754;p71"/>
          <p:cNvGrpSpPr/>
          <p:nvPr/>
        </p:nvGrpSpPr>
        <p:grpSpPr>
          <a:xfrm>
            <a:off x="1356394" y="3961927"/>
            <a:ext cx="3432800" cy="188667"/>
            <a:chOff x="-5078419" y="986625"/>
            <a:chExt cx="2222021" cy="160800"/>
          </a:xfrm>
        </p:grpSpPr>
        <p:sp>
          <p:nvSpPr>
            <p:cNvPr id="755" name="Google Shape;755;p71"/>
            <p:cNvSpPr/>
            <p:nvPr/>
          </p:nvSpPr>
          <p:spPr>
            <a:xfrm>
              <a:off x="-5078419" y="986625"/>
              <a:ext cx="675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DTab (OneR)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56" name="Google Shape;756;p71"/>
            <p:cNvSpPr/>
            <p:nvPr/>
          </p:nvSpPr>
          <p:spPr>
            <a:xfrm>
              <a:off x="-434984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69.67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57" name="Google Shape;757;p71"/>
            <p:cNvSpPr/>
            <p:nvPr/>
          </p:nvSpPr>
          <p:spPr>
            <a:xfrm>
              <a:off x="-3834273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0.700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58" name="Google Shape;758;p71"/>
            <p:cNvSpPr/>
            <p:nvPr/>
          </p:nvSpPr>
          <p:spPr>
            <a:xfrm>
              <a:off x="-331869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0.697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aphicFrame>
        <p:nvGraphicFramePr>
          <p:cNvPr id="759" name="Google Shape;759;p71"/>
          <p:cNvGraphicFramePr/>
          <p:nvPr/>
        </p:nvGraphicFramePr>
        <p:xfrm>
          <a:off x="5222075" y="1457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{CABB4C81-0042-400D-8A47-4D123343D0ED}</a:tableStyleId>
              </a:tblPr>
              <a:tblGrid>
                <a:gridCol w="1107275"/>
                <a:gridCol w="719150"/>
                <a:gridCol w="719150"/>
                <a:gridCol w="719150"/>
              </a:tblGrid>
              <a:tr h="705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63.09%</a:t>
                      </a: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 Accuracy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Predicted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692575">
                <a:tc row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Actual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5825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1463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1576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925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2101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4078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740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925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1045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390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2599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pSp>
        <p:nvGrpSpPr>
          <p:cNvPr id="760" name="Google Shape;760;p71"/>
          <p:cNvGrpSpPr/>
          <p:nvPr/>
        </p:nvGrpSpPr>
        <p:grpSpPr>
          <a:xfrm>
            <a:off x="1356394" y="3428227"/>
            <a:ext cx="3432800" cy="188667"/>
            <a:chOff x="-5078419" y="986625"/>
            <a:chExt cx="2222021" cy="160800"/>
          </a:xfrm>
        </p:grpSpPr>
        <p:sp>
          <p:nvSpPr>
            <p:cNvPr id="761" name="Google Shape;761;p71"/>
            <p:cNvSpPr/>
            <p:nvPr/>
          </p:nvSpPr>
          <p:spPr>
            <a:xfrm>
              <a:off x="-5078419" y="986625"/>
              <a:ext cx="675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NB </a:t>
              </a: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Baseline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62" name="Google Shape;762;p71"/>
            <p:cNvSpPr/>
            <p:nvPr/>
          </p:nvSpPr>
          <p:spPr>
            <a:xfrm>
              <a:off x="-434984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63.48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63" name="Google Shape;763;p71"/>
            <p:cNvSpPr/>
            <p:nvPr/>
          </p:nvSpPr>
          <p:spPr>
            <a:xfrm>
              <a:off x="-3834273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0.657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64" name="Google Shape;764;p71"/>
            <p:cNvSpPr/>
            <p:nvPr/>
          </p:nvSpPr>
          <p:spPr>
            <a:xfrm>
              <a:off x="-331869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0.635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765" name="Google Shape;765;p71"/>
          <p:cNvGrpSpPr/>
          <p:nvPr/>
        </p:nvGrpSpPr>
        <p:grpSpPr>
          <a:xfrm>
            <a:off x="-4329374" y="-120300"/>
            <a:ext cx="3556889" cy="1656118"/>
            <a:chOff x="6746175" y="88175"/>
            <a:chExt cx="2318400" cy="1411504"/>
          </a:xfrm>
        </p:grpSpPr>
        <p:sp>
          <p:nvSpPr>
            <p:cNvPr id="766" name="Google Shape;766;p71"/>
            <p:cNvSpPr/>
            <p:nvPr/>
          </p:nvSpPr>
          <p:spPr>
            <a:xfrm>
              <a:off x="6746175" y="88179"/>
              <a:ext cx="2318400" cy="1411500"/>
            </a:xfrm>
            <a:prstGeom prst="rect">
              <a:avLst/>
            </a:prstGeom>
            <a:solidFill>
              <a:schemeClr val="dk1"/>
            </a:solidFill>
            <a:ln cap="flat" cmpd="sng" w="11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42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67" name="Google Shape;767;p71"/>
            <p:cNvSpPr txBox="1"/>
            <p:nvPr/>
          </p:nvSpPr>
          <p:spPr>
            <a:xfrm>
              <a:off x="6746175" y="88175"/>
              <a:ext cx="2318400" cy="232500"/>
            </a:xfrm>
            <a:prstGeom prst="rect">
              <a:avLst/>
            </a:prstGeom>
            <a:solidFill>
              <a:srgbClr val="FFFFFF">
                <a:alpha val="50000"/>
              </a:srgbClr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7250" lIns="107250" spcFirstLastPara="1" rIns="107250" wrap="square" tIns="107250">
              <a:noAutofit/>
            </a:bodyPr>
            <a:lstStyle/>
            <a:p>
              <a:pPr indent="0" lvl="0" marL="0" rtl="0" algn="l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7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COMPARISON </a:t>
              </a:r>
              <a:r>
                <a:rPr lang="en" sz="603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so you don’t have to remember</a:t>
              </a:r>
              <a:endParaRPr sz="60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768" name="Google Shape;768;p71"/>
          <p:cNvGrpSpPr/>
          <p:nvPr/>
        </p:nvGrpSpPr>
        <p:grpSpPr>
          <a:xfrm>
            <a:off x="-3990729" y="1880861"/>
            <a:ext cx="3432520" cy="188700"/>
            <a:chOff x="2181936" y="3161368"/>
            <a:chExt cx="2607109" cy="188700"/>
          </a:xfrm>
        </p:grpSpPr>
        <p:sp>
          <p:nvSpPr>
            <p:cNvPr id="769" name="Google Shape;769;p71"/>
            <p:cNvSpPr/>
            <p:nvPr/>
          </p:nvSpPr>
          <p:spPr>
            <a:xfrm>
              <a:off x="2181936" y="3161368"/>
              <a:ext cx="792300" cy="188700"/>
            </a:xfrm>
            <a:prstGeom prst="rect">
              <a:avLst/>
            </a:prstGeom>
            <a:solidFill>
              <a:schemeClr val="lt2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Model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70" name="Google Shape;770;p71"/>
            <p:cNvSpPr/>
            <p:nvPr/>
          </p:nvSpPr>
          <p:spPr>
            <a:xfrm>
              <a:off x="3036764" y="3161368"/>
              <a:ext cx="542400" cy="188700"/>
            </a:xfrm>
            <a:prstGeom prst="rect">
              <a:avLst/>
            </a:prstGeom>
            <a:solidFill>
              <a:schemeClr val="lt2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Acc.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71" name="Google Shape;771;p71"/>
            <p:cNvSpPr/>
            <p:nvPr/>
          </p:nvSpPr>
          <p:spPr>
            <a:xfrm>
              <a:off x="3641697" y="3161368"/>
              <a:ext cx="542400" cy="188700"/>
            </a:xfrm>
            <a:prstGeom prst="rect">
              <a:avLst/>
            </a:prstGeom>
            <a:solidFill>
              <a:schemeClr val="lt2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Prec.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72" name="Google Shape;772;p71"/>
            <p:cNvSpPr/>
            <p:nvPr/>
          </p:nvSpPr>
          <p:spPr>
            <a:xfrm>
              <a:off x="4246645" y="3161368"/>
              <a:ext cx="542400" cy="188700"/>
            </a:xfrm>
            <a:prstGeom prst="rect">
              <a:avLst/>
            </a:prstGeom>
            <a:solidFill>
              <a:schemeClr val="lt2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Recall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773" name="Google Shape;773;p71"/>
          <p:cNvGrpSpPr/>
          <p:nvPr/>
        </p:nvGrpSpPr>
        <p:grpSpPr>
          <a:xfrm>
            <a:off x="-3990856" y="2414577"/>
            <a:ext cx="3432800" cy="188667"/>
            <a:chOff x="-5078419" y="986625"/>
            <a:chExt cx="2222021" cy="160800"/>
          </a:xfrm>
        </p:grpSpPr>
        <p:sp>
          <p:nvSpPr>
            <p:cNvPr id="774" name="Google Shape;774;p71"/>
            <p:cNvSpPr/>
            <p:nvPr/>
          </p:nvSpPr>
          <p:spPr>
            <a:xfrm>
              <a:off x="-5078419" y="986625"/>
              <a:ext cx="675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J48 (OneR)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75" name="Google Shape;775;p71"/>
            <p:cNvSpPr/>
            <p:nvPr/>
          </p:nvSpPr>
          <p:spPr>
            <a:xfrm>
              <a:off x="-434984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69.2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76" name="Google Shape;776;p71"/>
            <p:cNvSpPr/>
            <p:nvPr/>
          </p:nvSpPr>
          <p:spPr>
            <a:xfrm>
              <a:off x="-3834273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0.694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77" name="Google Shape;777;p71"/>
            <p:cNvSpPr/>
            <p:nvPr/>
          </p:nvSpPr>
          <p:spPr>
            <a:xfrm>
              <a:off x="-331869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0.692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778" name="Google Shape;778;p71"/>
          <p:cNvGrpSpPr/>
          <p:nvPr/>
        </p:nvGrpSpPr>
        <p:grpSpPr>
          <a:xfrm>
            <a:off x="-3990856" y="2681427"/>
            <a:ext cx="3432800" cy="188667"/>
            <a:chOff x="-5078419" y="986625"/>
            <a:chExt cx="2222021" cy="160800"/>
          </a:xfrm>
        </p:grpSpPr>
        <p:sp>
          <p:nvSpPr>
            <p:cNvPr id="779" name="Google Shape;779;p71"/>
            <p:cNvSpPr/>
            <p:nvPr/>
          </p:nvSpPr>
          <p:spPr>
            <a:xfrm>
              <a:off x="-5078419" y="986625"/>
              <a:ext cx="675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DT (OneR)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80" name="Google Shape;780;p71"/>
            <p:cNvSpPr/>
            <p:nvPr/>
          </p:nvSpPr>
          <p:spPr>
            <a:xfrm>
              <a:off x="-434984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69.67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81" name="Google Shape;781;p71"/>
            <p:cNvSpPr/>
            <p:nvPr/>
          </p:nvSpPr>
          <p:spPr>
            <a:xfrm>
              <a:off x="-3834273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0.700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82" name="Google Shape;782;p71"/>
            <p:cNvSpPr/>
            <p:nvPr/>
          </p:nvSpPr>
          <p:spPr>
            <a:xfrm>
              <a:off x="-331869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0.697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783" name="Google Shape;783;p71"/>
          <p:cNvGrpSpPr/>
          <p:nvPr/>
        </p:nvGrpSpPr>
        <p:grpSpPr>
          <a:xfrm>
            <a:off x="-3990856" y="2147727"/>
            <a:ext cx="3432800" cy="188667"/>
            <a:chOff x="-5078419" y="986625"/>
            <a:chExt cx="2222021" cy="160800"/>
          </a:xfrm>
        </p:grpSpPr>
        <p:sp>
          <p:nvSpPr>
            <p:cNvPr id="784" name="Google Shape;784;p71"/>
            <p:cNvSpPr/>
            <p:nvPr/>
          </p:nvSpPr>
          <p:spPr>
            <a:xfrm>
              <a:off x="-5078419" y="986625"/>
              <a:ext cx="675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NB Baseline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85" name="Google Shape;785;p71"/>
            <p:cNvSpPr/>
            <p:nvPr/>
          </p:nvSpPr>
          <p:spPr>
            <a:xfrm>
              <a:off x="-434984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63.48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86" name="Google Shape;786;p71"/>
            <p:cNvSpPr/>
            <p:nvPr/>
          </p:nvSpPr>
          <p:spPr>
            <a:xfrm>
              <a:off x="-3834273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0.657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87" name="Google Shape;787;p71"/>
            <p:cNvSpPr/>
            <p:nvPr/>
          </p:nvSpPr>
          <p:spPr>
            <a:xfrm>
              <a:off x="-331869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0.635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788" name="Google Shape;788;p71"/>
          <p:cNvGrpSpPr/>
          <p:nvPr/>
        </p:nvGrpSpPr>
        <p:grpSpPr>
          <a:xfrm>
            <a:off x="-3996731" y="2948277"/>
            <a:ext cx="3432800" cy="188667"/>
            <a:chOff x="-5078419" y="986625"/>
            <a:chExt cx="2222021" cy="160800"/>
          </a:xfrm>
        </p:grpSpPr>
        <p:sp>
          <p:nvSpPr>
            <p:cNvPr id="789" name="Google Shape;789;p71"/>
            <p:cNvSpPr/>
            <p:nvPr/>
          </p:nvSpPr>
          <p:spPr>
            <a:xfrm>
              <a:off x="-5078419" y="986625"/>
              <a:ext cx="675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NB (OneR)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90" name="Google Shape;790;p71"/>
            <p:cNvSpPr/>
            <p:nvPr/>
          </p:nvSpPr>
          <p:spPr>
            <a:xfrm>
              <a:off x="-434984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63.09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91" name="Google Shape;791;p71"/>
            <p:cNvSpPr/>
            <p:nvPr/>
          </p:nvSpPr>
          <p:spPr>
            <a:xfrm>
              <a:off x="-3834273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.638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92" name="Google Shape;792;p71"/>
            <p:cNvSpPr/>
            <p:nvPr/>
          </p:nvSpPr>
          <p:spPr>
            <a:xfrm>
              <a:off x="-331869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0.631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aphicFrame>
        <p:nvGraphicFramePr>
          <p:cNvPr id="793" name="Google Shape;793;p71"/>
          <p:cNvGraphicFramePr/>
          <p:nvPr/>
        </p:nvGraphicFramePr>
        <p:xfrm>
          <a:off x="465230" y="1457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{CABB4C81-0042-400D-8A47-4D123343D0ED}</a:tableStyleId>
              </a:tblPr>
              <a:tblGrid>
                <a:gridCol w="1178875"/>
                <a:gridCol w="779100"/>
                <a:gridCol w="1259850"/>
                <a:gridCol w="695125"/>
                <a:gridCol w="747000"/>
              </a:tblGrid>
              <a:tr h="32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 Medium"/>
                          <a:ea typeface="Chakra Petch Medium"/>
                          <a:cs typeface="Chakra Petch Medium"/>
                          <a:sym typeface="Chakra Petch Medium"/>
                        </a:rPr>
                        <a:t>Precision</a:t>
                      </a:r>
                      <a:endParaRPr sz="1900">
                        <a:latin typeface="Chakra Petch Medium"/>
                        <a:ea typeface="Chakra Petch Medium"/>
                        <a:cs typeface="Chakra Petch Medium"/>
                        <a:sym typeface="Chakra Petch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 Medium"/>
                          <a:ea typeface="Chakra Petch Medium"/>
                          <a:cs typeface="Chakra Petch Medium"/>
                          <a:sym typeface="Chakra Petch Medium"/>
                        </a:rPr>
                        <a:t>Recall</a:t>
                      </a:r>
                      <a:endParaRPr sz="1900">
                        <a:latin typeface="Chakra Petch Medium"/>
                        <a:ea typeface="Chakra Petch Medium"/>
                        <a:cs typeface="Chakra Petch Medium"/>
                        <a:sym typeface="Chakra Petch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 Medium"/>
                          <a:ea typeface="Chakra Petch Medium"/>
                          <a:cs typeface="Chakra Petch Medium"/>
                          <a:sym typeface="Chakra Petch Medium"/>
                        </a:rPr>
                        <a:t>F-Measure</a:t>
                      </a:r>
                      <a:endParaRPr sz="1900">
                        <a:latin typeface="Chakra Petch Medium"/>
                        <a:ea typeface="Chakra Petch Medium"/>
                        <a:cs typeface="Chakra Petch Medium"/>
                        <a:sym typeface="Chakra Petch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 Medium"/>
                          <a:ea typeface="Chakra Petch Medium"/>
                          <a:cs typeface="Chakra Petch Medium"/>
                          <a:sym typeface="Chakra Petch Medium"/>
                        </a:rPr>
                        <a:t>MCC</a:t>
                      </a:r>
                      <a:endParaRPr sz="1900">
                        <a:latin typeface="Chakra Petch Medium"/>
                        <a:ea typeface="Chakra Petch Medium"/>
                        <a:cs typeface="Chakra Petch Medium"/>
                        <a:sym typeface="Chakra Petch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 Medium"/>
                          <a:ea typeface="Chakra Petch Medium"/>
                          <a:cs typeface="Chakra Petch Medium"/>
                          <a:sym typeface="Chakra Petch Medium"/>
                        </a:rPr>
                        <a:t>PRC AUC</a:t>
                      </a:r>
                      <a:endParaRPr sz="1900">
                        <a:latin typeface="Chakra Petch Medium"/>
                        <a:ea typeface="Chakra Petch Medium"/>
                        <a:cs typeface="Chakra Petch Medium"/>
                        <a:sym typeface="Chakra Petch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</a:tr>
              <a:tr h="32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0.638</a:t>
                      </a:r>
                      <a:endParaRPr sz="1900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0.631</a:t>
                      </a:r>
                      <a:endParaRPr sz="1900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0.632</a:t>
                      </a:r>
                      <a:endParaRPr sz="1900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0.422</a:t>
                      </a:r>
                      <a:endParaRPr sz="1900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0.668</a:t>
                      </a:r>
                      <a:endParaRPr sz="1900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</a:tbl>
          </a:graphicData>
        </a:graphic>
      </p:graphicFrame>
      <p:sp>
        <p:nvSpPr>
          <p:cNvPr id="794" name="Google Shape;794;p71"/>
          <p:cNvSpPr/>
          <p:nvPr/>
        </p:nvSpPr>
        <p:spPr>
          <a:xfrm rot="399181">
            <a:off x="6890518" y="505971"/>
            <a:ext cx="1820358" cy="440959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Worst</a:t>
            </a:r>
            <a:r>
              <a:rPr lang="en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Model!</a:t>
            </a:r>
            <a:endParaRPr sz="10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72"/>
          <p:cNvSpPr txBox="1"/>
          <p:nvPr>
            <p:ph type="title"/>
          </p:nvPr>
        </p:nvSpPr>
        <p:spPr>
          <a:xfrm>
            <a:off x="1127850" y="2164800"/>
            <a:ext cx="6885300" cy="81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Naïve Bayes Submodel</a:t>
            </a:r>
            <a:endParaRPr/>
          </a:p>
        </p:txBody>
      </p:sp>
      <p:sp>
        <p:nvSpPr>
          <p:cNvPr id="800" name="Google Shape;800;p72"/>
          <p:cNvSpPr txBox="1"/>
          <p:nvPr>
            <p:ph idx="4294967295" type="body"/>
          </p:nvPr>
        </p:nvSpPr>
        <p:spPr>
          <a:xfrm>
            <a:off x="834300" y="2978700"/>
            <a:ext cx="7475400" cy="9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passing </a:t>
            </a:r>
            <a:r>
              <a:rPr lang="en"/>
              <a:t>Arrestee_Race, Arrestee_Sex, PSA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73"/>
          <p:cNvSpPr txBox="1"/>
          <p:nvPr>
            <p:ph idx="3" type="body"/>
          </p:nvPr>
        </p:nvSpPr>
        <p:spPr>
          <a:xfrm>
            <a:off x="365700" y="377525"/>
            <a:ext cx="6380400" cy="9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J48 w/ Naïve Bayes</a:t>
            </a:r>
            <a:endParaRPr sz="3500"/>
          </a:p>
        </p:txBody>
      </p:sp>
      <p:grpSp>
        <p:nvGrpSpPr>
          <p:cNvPr id="806" name="Google Shape;806;p73"/>
          <p:cNvGrpSpPr/>
          <p:nvPr/>
        </p:nvGrpSpPr>
        <p:grpSpPr>
          <a:xfrm>
            <a:off x="1288476" y="2823200"/>
            <a:ext cx="3556889" cy="1656118"/>
            <a:chOff x="6746175" y="88175"/>
            <a:chExt cx="2318400" cy="1411504"/>
          </a:xfrm>
        </p:grpSpPr>
        <p:sp>
          <p:nvSpPr>
            <p:cNvPr id="807" name="Google Shape;807;p73"/>
            <p:cNvSpPr/>
            <p:nvPr/>
          </p:nvSpPr>
          <p:spPr>
            <a:xfrm>
              <a:off x="6746175" y="88179"/>
              <a:ext cx="2318400" cy="1411500"/>
            </a:xfrm>
            <a:prstGeom prst="rect">
              <a:avLst/>
            </a:prstGeom>
            <a:solidFill>
              <a:schemeClr val="dk1"/>
            </a:solidFill>
            <a:ln cap="flat" cmpd="sng" w="11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42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08" name="Google Shape;808;p73"/>
            <p:cNvSpPr txBox="1"/>
            <p:nvPr/>
          </p:nvSpPr>
          <p:spPr>
            <a:xfrm>
              <a:off x="6746175" y="88175"/>
              <a:ext cx="2318400" cy="232500"/>
            </a:xfrm>
            <a:prstGeom prst="rect">
              <a:avLst/>
            </a:prstGeom>
            <a:solidFill>
              <a:srgbClr val="FFFFFF">
                <a:alpha val="50000"/>
              </a:srgbClr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7250" lIns="107250" spcFirstLastPara="1" rIns="107250" wrap="square" tIns="107250">
              <a:noAutofit/>
            </a:bodyPr>
            <a:lstStyle/>
            <a:p>
              <a:pPr indent="0" lvl="0" marL="0" rtl="0" algn="l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7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COMPARISON </a:t>
              </a:r>
              <a:r>
                <a:rPr lang="en" sz="603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so you don’t have to remember</a:t>
              </a:r>
              <a:endParaRPr sz="60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809" name="Google Shape;809;p73"/>
          <p:cNvGrpSpPr/>
          <p:nvPr/>
        </p:nvGrpSpPr>
        <p:grpSpPr>
          <a:xfrm>
            <a:off x="1356521" y="3161361"/>
            <a:ext cx="3432520" cy="188700"/>
            <a:chOff x="2181936" y="3161368"/>
            <a:chExt cx="2607109" cy="188700"/>
          </a:xfrm>
        </p:grpSpPr>
        <p:sp>
          <p:nvSpPr>
            <p:cNvPr id="810" name="Google Shape;810;p73"/>
            <p:cNvSpPr/>
            <p:nvPr/>
          </p:nvSpPr>
          <p:spPr>
            <a:xfrm>
              <a:off x="2181936" y="3161368"/>
              <a:ext cx="792300" cy="188700"/>
            </a:xfrm>
            <a:prstGeom prst="rect">
              <a:avLst/>
            </a:prstGeom>
            <a:solidFill>
              <a:schemeClr val="lt2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Model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11" name="Google Shape;811;p73"/>
            <p:cNvSpPr/>
            <p:nvPr/>
          </p:nvSpPr>
          <p:spPr>
            <a:xfrm>
              <a:off x="3036764" y="3161368"/>
              <a:ext cx="542400" cy="188700"/>
            </a:xfrm>
            <a:prstGeom prst="rect">
              <a:avLst/>
            </a:prstGeom>
            <a:solidFill>
              <a:schemeClr val="lt2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Acc.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12" name="Google Shape;812;p73"/>
            <p:cNvSpPr/>
            <p:nvPr/>
          </p:nvSpPr>
          <p:spPr>
            <a:xfrm>
              <a:off x="3641697" y="3161368"/>
              <a:ext cx="542400" cy="188700"/>
            </a:xfrm>
            <a:prstGeom prst="rect">
              <a:avLst/>
            </a:prstGeom>
            <a:solidFill>
              <a:schemeClr val="lt2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Prec.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13" name="Google Shape;813;p73"/>
            <p:cNvSpPr/>
            <p:nvPr/>
          </p:nvSpPr>
          <p:spPr>
            <a:xfrm>
              <a:off x="4246645" y="3161368"/>
              <a:ext cx="542400" cy="188700"/>
            </a:xfrm>
            <a:prstGeom prst="rect">
              <a:avLst/>
            </a:prstGeom>
            <a:solidFill>
              <a:schemeClr val="lt2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Recall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814" name="Google Shape;814;p73"/>
          <p:cNvGrpSpPr/>
          <p:nvPr/>
        </p:nvGrpSpPr>
        <p:grpSpPr>
          <a:xfrm>
            <a:off x="1355982" y="3428227"/>
            <a:ext cx="3432800" cy="188667"/>
            <a:chOff x="-5078419" y="986625"/>
            <a:chExt cx="2222021" cy="160800"/>
          </a:xfrm>
        </p:grpSpPr>
        <p:sp>
          <p:nvSpPr>
            <p:cNvPr id="815" name="Google Shape;815;p73"/>
            <p:cNvSpPr/>
            <p:nvPr/>
          </p:nvSpPr>
          <p:spPr>
            <a:xfrm>
              <a:off x="-5078419" y="986625"/>
              <a:ext cx="675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J</a:t>
              </a: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48 </a:t>
              </a: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Baseline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16" name="Google Shape;816;p73"/>
            <p:cNvSpPr/>
            <p:nvPr/>
          </p:nvSpPr>
          <p:spPr>
            <a:xfrm>
              <a:off x="-434984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70.3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17" name="Google Shape;817;p73"/>
            <p:cNvSpPr/>
            <p:nvPr/>
          </p:nvSpPr>
          <p:spPr>
            <a:xfrm>
              <a:off x="-3834273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0.705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18" name="Google Shape;818;p73"/>
            <p:cNvSpPr/>
            <p:nvPr/>
          </p:nvSpPr>
          <p:spPr>
            <a:xfrm>
              <a:off x="-331869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0.703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aphicFrame>
        <p:nvGraphicFramePr>
          <p:cNvPr id="819" name="Google Shape;819;p73"/>
          <p:cNvGraphicFramePr/>
          <p:nvPr/>
        </p:nvGraphicFramePr>
        <p:xfrm>
          <a:off x="5222075" y="1457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{CABB4C81-0042-400D-8A47-4D123343D0ED}</a:tableStyleId>
              </a:tblPr>
              <a:tblGrid>
                <a:gridCol w="1107275"/>
                <a:gridCol w="719150"/>
                <a:gridCol w="719150"/>
                <a:gridCol w="719150"/>
              </a:tblGrid>
              <a:tr h="705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% Accuracy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Predicted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692575">
                <a:tc row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Actual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925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925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20" name="Google Shape;820;p73"/>
          <p:cNvGraphicFramePr/>
          <p:nvPr/>
        </p:nvGraphicFramePr>
        <p:xfrm>
          <a:off x="-5440275" y="3184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{CABB4C81-0042-400D-8A47-4D123343D0ED}</a:tableStyleId>
              </a:tblPr>
              <a:tblGrid>
                <a:gridCol w="1054625"/>
                <a:gridCol w="787400"/>
                <a:gridCol w="1235000"/>
                <a:gridCol w="744800"/>
                <a:gridCol w="771875"/>
              </a:tblGrid>
              <a:tr h="32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Precision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Recall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F-Measure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MCC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PRC AUC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</a:tr>
              <a:tr h="32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0.678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0.679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0.678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0.49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0.597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</a:tbl>
          </a:graphicData>
        </a:graphic>
      </p:graphicFrame>
      <p:grpSp>
        <p:nvGrpSpPr>
          <p:cNvPr id="821" name="Google Shape;821;p73"/>
          <p:cNvGrpSpPr/>
          <p:nvPr/>
        </p:nvGrpSpPr>
        <p:grpSpPr>
          <a:xfrm>
            <a:off x="1356394" y="3695077"/>
            <a:ext cx="3432800" cy="188667"/>
            <a:chOff x="-5078419" y="986625"/>
            <a:chExt cx="2222021" cy="160800"/>
          </a:xfrm>
        </p:grpSpPr>
        <p:sp>
          <p:nvSpPr>
            <p:cNvPr id="822" name="Google Shape;822;p73"/>
            <p:cNvSpPr/>
            <p:nvPr/>
          </p:nvSpPr>
          <p:spPr>
            <a:xfrm>
              <a:off x="-5078419" y="986625"/>
              <a:ext cx="675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J48</a:t>
              </a: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 (OneR)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23" name="Google Shape;823;p73"/>
            <p:cNvSpPr/>
            <p:nvPr/>
          </p:nvSpPr>
          <p:spPr>
            <a:xfrm>
              <a:off x="-434984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69.2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24" name="Google Shape;824;p73"/>
            <p:cNvSpPr/>
            <p:nvPr/>
          </p:nvSpPr>
          <p:spPr>
            <a:xfrm>
              <a:off x="-3834273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0.694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25" name="Google Shape;825;p73"/>
            <p:cNvSpPr/>
            <p:nvPr/>
          </p:nvSpPr>
          <p:spPr>
            <a:xfrm>
              <a:off x="-331869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0.692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aphicFrame>
        <p:nvGraphicFramePr>
          <p:cNvPr id="826" name="Google Shape;826;p73"/>
          <p:cNvGraphicFramePr/>
          <p:nvPr/>
        </p:nvGraphicFramePr>
        <p:xfrm>
          <a:off x="5222075" y="1457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{CABB4C81-0042-400D-8A47-4D123343D0ED}</a:tableStyleId>
              </a:tblPr>
              <a:tblGrid>
                <a:gridCol w="1107275"/>
                <a:gridCol w="719150"/>
                <a:gridCol w="719150"/>
                <a:gridCol w="719150"/>
              </a:tblGrid>
              <a:tr h="705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67.85% Accuracy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Predicted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692575">
                <a:tc row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Actual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6307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1556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1001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925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1691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4743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485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925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1113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525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2396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27" name="Google Shape;827;p73"/>
          <p:cNvGraphicFramePr/>
          <p:nvPr/>
        </p:nvGraphicFramePr>
        <p:xfrm>
          <a:off x="465230" y="1457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{CABB4C81-0042-400D-8A47-4D123343D0ED}</a:tableStyleId>
              </a:tblPr>
              <a:tblGrid>
                <a:gridCol w="1178875"/>
                <a:gridCol w="779100"/>
                <a:gridCol w="1259850"/>
                <a:gridCol w="695125"/>
                <a:gridCol w="747000"/>
              </a:tblGrid>
              <a:tr h="32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 Medium"/>
                          <a:ea typeface="Chakra Petch Medium"/>
                          <a:cs typeface="Chakra Petch Medium"/>
                          <a:sym typeface="Chakra Petch Medium"/>
                        </a:rPr>
                        <a:t>Precision</a:t>
                      </a:r>
                      <a:endParaRPr sz="1900">
                        <a:latin typeface="Chakra Petch Medium"/>
                        <a:ea typeface="Chakra Petch Medium"/>
                        <a:cs typeface="Chakra Petch Medium"/>
                        <a:sym typeface="Chakra Petch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 Medium"/>
                          <a:ea typeface="Chakra Petch Medium"/>
                          <a:cs typeface="Chakra Petch Medium"/>
                          <a:sym typeface="Chakra Petch Medium"/>
                        </a:rPr>
                        <a:t>Recall</a:t>
                      </a:r>
                      <a:endParaRPr sz="1900">
                        <a:latin typeface="Chakra Petch Medium"/>
                        <a:ea typeface="Chakra Petch Medium"/>
                        <a:cs typeface="Chakra Petch Medium"/>
                        <a:sym typeface="Chakra Petch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 Medium"/>
                          <a:ea typeface="Chakra Petch Medium"/>
                          <a:cs typeface="Chakra Petch Medium"/>
                          <a:sym typeface="Chakra Petch Medium"/>
                        </a:rPr>
                        <a:t>F-Measure</a:t>
                      </a:r>
                      <a:endParaRPr sz="1900">
                        <a:latin typeface="Chakra Petch Medium"/>
                        <a:ea typeface="Chakra Petch Medium"/>
                        <a:cs typeface="Chakra Petch Medium"/>
                        <a:sym typeface="Chakra Petch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 Medium"/>
                          <a:ea typeface="Chakra Petch Medium"/>
                          <a:cs typeface="Chakra Petch Medium"/>
                          <a:sym typeface="Chakra Petch Medium"/>
                        </a:rPr>
                        <a:t>MCC</a:t>
                      </a:r>
                      <a:endParaRPr sz="1900">
                        <a:latin typeface="Chakra Petch Medium"/>
                        <a:ea typeface="Chakra Petch Medium"/>
                        <a:cs typeface="Chakra Petch Medium"/>
                        <a:sym typeface="Chakra Petch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 Medium"/>
                          <a:ea typeface="Chakra Petch Medium"/>
                          <a:cs typeface="Chakra Petch Medium"/>
                          <a:sym typeface="Chakra Petch Medium"/>
                        </a:rPr>
                        <a:t>PRC AUC</a:t>
                      </a:r>
                      <a:endParaRPr sz="1900">
                        <a:latin typeface="Chakra Petch Medium"/>
                        <a:ea typeface="Chakra Petch Medium"/>
                        <a:cs typeface="Chakra Petch Medium"/>
                        <a:sym typeface="Chakra Petch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</a:tr>
              <a:tr h="32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0.678</a:t>
                      </a:r>
                      <a:endParaRPr sz="1900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0.679</a:t>
                      </a:r>
                      <a:endParaRPr sz="1900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0.678</a:t>
                      </a:r>
                      <a:endParaRPr sz="1900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0.49</a:t>
                      </a:r>
                      <a:endParaRPr sz="1900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0.597</a:t>
                      </a:r>
                      <a:endParaRPr sz="1900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74"/>
          <p:cNvSpPr txBox="1"/>
          <p:nvPr>
            <p:ph idx="3" type="body"/>
          </p:nvPr>
        </p:nvSpPr>
        <p:spPr>
          <a:xfrm>
            <a:off x="365700" y="377525"/>
            <a:ext cx="7401900" cy="93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Decision Table w/ </a:t>
            </a:r>
            <a:r>
              <a:rPr lang="en" sz="4000"/>
              <a:t>Naïve Bayes</a:t>
            </a:r>
            <a:endParaRPr sz="2500"/>
          </a:p>
        </p:txBody>
      </p:sp>
      <p:grpSp>
        <p:nvGrpSpPr>
          <p:cNvPr id="833" name="Google Shape;833;p74"/>
          <p:cNvGrpSpPr/>
          <p:nvPr/>
        </p:nvGrpSpPr>
        <p:grpSpPr>
          <a:xfrm>
            <a:off x="1288476" y="2823200"/>
            <a:ext cx="3556889" cy="1656118"/>
            <a:chOff x="6746175" y="88175"/>
            <a:chExt cx="2318400" cy="1411504"/>
          </a:xfrm>
        </p:grpSpPr>
        <p:sp>
          <p:nvSpPr>
            <p:cNvPr id="834" name="Google Shape;834;p74"/>
            <p:cNvSpPr/>
            <p:nvPr/>
          </p:nvSpPr>
          <p:spPr>
            <a:xfrm>
              <a:off x="6746175" y="88179"/>
              <a:ext cx="2318400" cy="1411500"/>
            </a:xfrm>
            <a:prstGeom prst="rect">
              <a:avLst/>
            </a:prstGeom>
            <a:solidFill>
              <a:schemeClr val="dk1"/>
            </a:solidFill>
            <a:ln cap="flat" cmpd="sng" w="11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42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35" name="Google Shape;835;p74"/>
            <p:cNvSpPr txBox="1"/>
            <p:nvPr/>
          </p:nvSpPr>
          <p:spPr>
            <a:xfrm>
              <a:off x="6746175" y="88175"/>
              <a:ext cx="2318400" cy="232500"/>
            </a:xfrm>
            <a:prstGeom prst="rect">
              <a:avLst/>
            </a:prstGeom>
            <a:solidFill>
              <a:srgbClr val="FFFFFF">
                <a:alpha val="50000"/>
              </a:srgbClr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7250" lIns="107250" spcFirstLastPara="1" rIns="107250" wrap="square" tIns="107250">
              <a:noAutofit/>
            </a:bodyPr>
            <a:lstStyle/>
            <a:p>
              <a:pPr indent="0" lvl="0" marL="0" rtl="0" algn="l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7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COMPARISON </a:t>
              </a:r>
              <a:r>
                <a:rPr lang="en" sz="603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so you don’t have to remember</a:t>
              </a:r>
              <a:endParaRPr sz="60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836" name="Google Shape;836;p74"/>
          <p:cNvGrpSpPr/>
          <p:nvPr/>
        </p:nvGrpSpPr>
        <p:grpSpPr>
          <a:xfrm>
            <a:off x="1356521" y="3161361"/>
            <a:ext cx="3432520" cy="188700"/>
            <a:chOff x="2181936" y="3161368"/>
            <a:chExt cx="2607109" cy="188700"/>
          </a:xfrm>
        </p:grpSpPr>
        <p:sp>
          <p:nvSpPr>
            <p:cNvPr id="837" name="Google Shape;837;p74"/>
            <p:cNvSpPr/>
            <p:nvPr/>
          </p:nvSpPr>
          <p:spPr>
            <a:xfrm>
              <a:off x="2181936" y="3161368"/>
              <a:ext cx="792300" cy="188700"/>
            </a:xfrm>
            <a:prstGeom prst="rect">
              <a:avLst/>
            </a:prstGeom>
            <a:solidFill>
              <a:schemeClr val="lt2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Model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38" name="Google Shape;838;p74"/>
            <p:cNvSpPr/>
            <p:nvPr/>
          </p:nvSpPr>
          <p:spPr>
            <a:xfrm>
              <a:off x="3036764" y="3161368"/>
              <a:ext cx="542400" cy="188700"/>
            </a:xfrm>
            <a:prstGeom prst="rect">
              <a:avLst/>
            </a:prstGeom>
            <a:solidFill>
              <a:schemeClr val="lt2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Acc.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39" name="Google Shape;839;p74"/>
            <p:cNvSpPr/>
            <p:nvPr/>
          </p:nvSpPr>
          <p:spPr>
            <a:xfrm>
              <a:off x="3641697" y="3161368"/>
              <a:ext cx="542400" cy="188700"/>
            </a:xfrm>
            <a:prstGeom prst="rect">
              <a:avLst/>
            </a:prstGeom>
            <a:solidFill>
              <a:schemeClr val="lt2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Prec.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40" name="Google Shape;840;p74"/>
            <p:cNvSpPr/>
            <p:nvPr/>
          </p:nvSpPr>
          <p:spPr>
            <a:xfrm>
              <a:off x="4246645" y="3161368"/>
              <a:ext cx="542400" cy="188700"/>
            </a:xfrm>
            <a:prstGeom prst="rect">
              <a:avLst/>
            </a:prstGeom>
            <a:solidFill>
              <a:schemeClr val="lt2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Recall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841" name="Google Shape;841;p74"/>
          <p:cNvGrpSpPr/>
          <p:nvPr/>
        </p:nvGrpSpPr>
        <p:grpSpPr>
          <a:xfrm>
            <a:off x="1355982" y="3428227"/>
            <a:ext cx="3432800" cy="188667"/>
            <a:chOff x="-5078419" y="986625"/>
            <a:chExt cx="2222021" cy="160800"/>
          </a:xfrm>
        </p:grpSpPr>
        <p:sp>
          <p:nvSpPr>
            <p:cNvPr id="842" name="Google Shape;842;p74"/>
            <p:cNvSpPr/>
            <p:nvPr/>
          </p:nvSpPr>
          <p:spPr>
            <a:xfrm>
              <a:off x="-5078419" y="986625"/>
              <a:ext cx="675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DT </a:t>
              </a: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Baseline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43" name="Google Shape;843;p74"/>
            <p:cNvSpPr/>
            <p:nvPr/>
          </p:nvSpPr>
          <p:spPr>
            <a:xfrm>
              <a:off x="-434984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68.15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44" name="Google Shape;844;p74"/>
            <p:cNvSpPr/>
            <p:nvPr/>
          </p:nvSpPr>
          <p:spPr>
            <a:xfrm>
              <a:off x="-3834273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0.697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45" name="Google Shape;845;p74"/>
            <p:cNvSpPr/>
            <p:nvPr/>
          </p:nvSpPr>
          <p:spPr>
            <a:xfrm>
              <a:off x="-331869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0.682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aphicFrame>
        <p:nvGraphicFramePr>
          <p:cNvPr id="846" name="Google Shape;846;p74"/>
          <p:cNvGraphicFramePr/>
          <p:nvPr/>
        </p:nvGraphicFramePr>
        <p:xfrm>
          <a:off x="5222075" y="1457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{CABB4C81-0042-400D-8A47-4D123343D0ED}</a:tableStyleId>
              </a:tblPr>
              <a:tblGrid>
                <a:gridCol w="1107275"/>
                <a:gridCol w="719150"/>
                <a:gridCol w="719150"/>
                <a:gridCol w="719150"/>
              </a:tblGrid>
              <a:tr h="705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% Accuracy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Predicted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692575">
                <a:tc row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Actual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925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925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47" name="Google Shape;847;p74"/>
          <p:cNvGraphicFramePr/>
          <p:nvPr/>
        </p:nvGraphicFramePr>
        <p:xfrm>
          <a:off x="-5407150" y="3089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{CABB4C81-0042-400D-8A47-4D123343D0ED}</a:tableStyleId>
              </a:tblPr>
              <a:tblGrid>
                <a:gridCol w="1054625"/>
                <a:gridCol w="787400"/>
                <a:gridCol w="1235000"/>
                <a:gridCol w="744800"/>
                <a:gridCol w="771875"/>
              </a:tblGrid>
              <a:tr h="32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Precision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Recall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F-Measure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MCC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PRC AUC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</a:tr>
              <a:tr h="32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0.71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0.705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0.701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0.529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0.71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</a:tbl>
          </a:graphicData>
        </a:graphic>
      </p:graphicFrame>
      <p:grpSp>
        <p:nvGrpSpPr>
          <p:cNvPr id="848" name="Google Shape;848;p74"/>
          <p:cNvGrpSpPr/>
          <p:nvPr/>
        </p:nvGrpSpPr>
        <p:grpSpPr>
          <a:xfrm>
            <a:off x="1356382" y="3695077"/>
            <a:ext cx="3432800" cy="188667"/>
            <a:chOff x="-5078419" y="986625"/>
            <a:chExt cx="2222021" cy="160800"/>
          </a:xfrm>
        </p:grpSpPr>
        <p:sp>
          <p:nvSpPr>
            <p:cNvPr id="849" name="Google Shape;849;p74"/>
            <p:cNvSpPr/>
            <p:nvPr/>
          </p:nvSpPr>
          <p:spPr>
            <a:xfrm>
              <a:off x="-5078419" y="986625"/>
              <a:ext cx="675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latin typeface="DM Sans"/>
                  <a:ea typeface="DM Sans"/>
                  <a:cs typeface="DM Sans"/>
                  <a:sym typeface="DM Sans"/>
                </a:rPr>
                <a:t>J48 (NB</a:t>
              </a:r>
              <a:r>
                <a:rPr lang="en" sz="900">
                  <a:latin typeface="DM Sans"/>
                  <a:ea typeface="DM Sans"/>
                  <a:cs typeface="DM Sans"/>
                  <a:sym typeface="DM Sans"/>
                </a:rPr>
                <a:t>)</a:t>
              </a:r>
              <a:endParaRPr sz="900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50" name="Google Shape;850;p74"/>
            <p:cNvSpPr/>
            <p:nvPr/>
          </p:nvSpPr>
          <p:spPr>
            <a:xfrm>
              <a:off x="-434984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latin typeface="DM Sans"/>
                  <a:ea typeface="DM Sans"/>
                  <a:cs typeface="DM Sans"/>
                  <a:sym typeface="DM Sans"/>
                </a:rPr>
                <a:t>67.85</a:t>
              </a:r>
              <a:endParaRPr sz="900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51" name="Google Shape;851;p74"/>
            <p:cNvSpPr/>
            <p:nvPr/>
          </p:nvSpPr>
          <p:spPr>
            <a:xfrm>
              <a:off x="-3834273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latin typeface="DM Sans"/>
                  <a:ea typeface="DM Sans"/>
                  <a:cs typeface="DM Sans"/>
                  <a:sym typeface="DM Sans"/>
                </a:rPr>
                <a:t>0.678</a:t>
              </a:r>
              <a:endParaRPr sz="900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52" name="Google Shape;852;p74"/>
            <p:cNvSpPr/>
            <p:nvPr/>
          </p:nvSpPr>
          <p:spPr>
            <a:xfrm>
              <a:off x="-331869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latin typeface="DM Sans"/>
                  <a:ea typeface="DM Sans"/>
                  <a:cs typeface="DM Sans"/>
                  <a:sym typeface="DM Sans"/>
                </a:rPr>
                <a:t>0.679</a:t>
              </a:r>
              <a:endParaRPr sz="900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aphicFrame>
        <p:nvGraphicFramePr>
          <p:cNvPr id="853" name="Google Shape;853;p74"/>
          <p:cNvGraphicFramePr/>
          <p:nvPr/>
        </p:nvGraphicFramePr>
        <p:xfrm>
          <a:off x="5222075" y="1457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{CABB4C81-0042-400D-8A47-4D123343D0ED}</a:tableStyleId>
              </a:tblPr>
              <a:tblGrid>
                <a:gridCol w="1107275"/>
                <a:gridCol w="719150"/>
                <a:gridCol w="719150"/>
                <a:gridCol w="719150"/>
              </a:tblGrid>
              <a:tr h="705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70.51% Accuracy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Predicted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692575">
                <a:tc row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Actual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7216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1040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608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925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2023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4554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342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925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1414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417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2203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pSp>
        <p:nvGrpSpPr>
          <p:cNvPr id="854" name="Google Shape;854;p74"/>
          <p:cNvGrpSpPr/>
          <p:nvPr/>
        </p:nvGrpSpPr>
        <p:grpSpPr>
          <a:xfrm>
            <a:off x="1356394" y="3961927"/>
            <a:ext cx="3432800" cy="188667"/>
            <a:chOff x="-5078419" y="986625"/>
            <a:chExt cx="2222021" cy="160800"/>
          </a:xfrm>
        </p:grpSpPr>
        <p:sp>
          <p:nvSpPr>
            <p:cNvPr id="855" name="Google Shape;855;p74"/>
            <p:cNvSpPr/>
            <p:nvPr/>
          </p:nvSpPr>
          <p:spPr>
            <a:xfrm>
              <a:off x="-5078419" y="986625"/>
              <a:ext cx="675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DTab (OneR)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56" name="Google Shape;856;p74"/>
            <p:cNvSpPr/>
            <p:nvPr/>
          </p:nvSpPr>
          <p:spPr>
            <a:xfrm>
              <a:off x="-434984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69.67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57" name="Google Shape;857;p74"/>
            <p:cNvSpPr/>
            <p:nvPr/>
          </p:nvSpPr>
          <p:spPr>
            <a:xfrm>
              <a:off x="-3834273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0.700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58" name="Google Shape;858;p74"/>
            <p:cNvSpPr/>
            <p:nvPr/>
          </p:nvSpPr>
          <p:spPr>
            <a:xfrm>
              <a:off x="-331869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0.697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aphicFrame>
        <p:nvGraphicFramePr>
          <p:cNvPr id="859" name="Google Shape;859;p74"/>
          <p:cNvGraphicFramePr/>
          <p:nvPr/>
        </p:nvGraphicFramePr>
        <p:xfrm>
          <a:off x="465230" y="1457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{CABB4C81-0042-400D-8A47-4D123343D0ED}</a:tableStyleId>
              </a:tblPr>
              <a:tblGrid>
                <a:gridCol w="1178875"/>
                <a:gridCol w="779100"/>
                <a:gridCol w="1259850"/>
                <a:gridCol w="695125"/>
                <a:gridCol w="747000"/>
              </a:tblGrid>
              <a:tr h="32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 Medium"/>
                          <a:ea typeface="Chakra Petch Medium"/>
                          <a:cs typeface="Chakra Petch Medium"/>
                          <a:sym typeface="Chakra Petch Medium"/>
                        </a:rPr>
                        <a:t>Precision</a:t>
                      </a:r>
                      <a:endParaRPr sz="1900">
                        <a:latin typeface="Chakra Petch Medium"/>
                        <a:ea typeface="Chakra Petch Medium"/>
                        <a:cs typeface="Chakra Petch Medium"/>
                        <a:sym typeface="Chakra Petch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 Medium"/>
                          <a:ea typeface="Chakra Petch Medium"/>
                          <a:cs typeface="Chakra Petch Medium"/>
                          <a:sym typeface="Chakra Petch Medium"/>
                        </a:rPr>
                        <a:t>Recall</a:t>
                      </a:r>
                      <a:endParaRPr sz="1900">
                        <a:latin typeface="Chakra Petch Medium"/>
                        <a:ea typeface="Chakra Petch Medium"/>
                        <a:cs typeface="Chakra Petch Medium"/>
                        <a:sym typeface="Chakra Petch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 Medium"/>
                          <a:ea typeface="Chakra Petch Medium"/>
                          <a:cs typeface="Chakra Petch Medium"/>
                          <a:sym typeface="Chakra Petch Medium"/>
                        </a:rPr>
                        <a:t>F-Measure</a:t>
                      </a:r>
                      <a:endParaRPr sz="1900">
                        <a:latin typeface="Chakra Petch Medium"/>
                        <a:ea typeface="Chakra Petch Medium"/>
                        <a:cs typeface="Chakra Petch Medium"/>
                        <a:sym typeface="Chakra Petch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 Medium"/>
                          <a:ea typeface="Chakra Petch Medium"/>
                          <a:cs typeface="Chakra Petch Medium"/>
                          <a:sym typeface="Chakra Petch Medium"/>
                        </a:rPr>
                        <a:t>MCC</a:t>
                      </a:r>
                      <a:endParaRPr sz="1900">
                        <a:latin typeface="Chakra Petch Medium"/>
                        <a:ea typeface="Chakra Petch Medium"/>
                        <a:cs typeface="Chakra Petch Medium"/>
                        <a:sym typeface="Chakra Petch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 Medium"/>
                          <a:ea typeface="Chakra Petch Medium"/>
                          <a:cs typeface="Chakra Petch Medium"/>
                          <a:sym typeface="Chakra Petch Medium"/>
                        </a:rPr>
                        <a:t>PRC AUC</a:t>
                      </a:r>
                      <a:endParaRPr sz="1900">
                        <a:latin typeface="Chakra Petch Medium"/>
                        <a:ea typeface="Chakra Petch Medium"/>
                        <a:cs typeface="Chakra Petch Medium"/>
                        <a:sym typeface="Chakra Petch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</a:tr>
              <a:tr h="32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0.71</a:t>
                      </a:r>
                      <a:endParaRPr sz="1900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0.705</a:t>
                      </a:r>
                      <a:endParaRPr sz="1900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0.701</a:t>
                      </a:r>
                      <a:endParaRPr sz="1900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0.529</a:t>
                      </a:r>
                      <a:endParaRPr sz="1900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0.71</a:t>
                      </a:r>
                      <a:endParaRPr sz="1900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75"/>
          <p:cNvSpPr txBox="1"/>
          <p:nvPr>
            <p:ph idx="3" type="body"/>
          </p:nvPr>
        </p:nvSpPr>
        <p:spPr>
          <a:xfrm>
            <a:off x="365700" y="377525"/>
            <a:ext cx="7401900" cy="93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/>
              <a:t>Naïve Bayes</a:t>
            </a:r>
            <a:r>
              <a:rPr baseline="30000" lang="en" sz="4700"/>
              <a:t>2</a:t>
            </a:r>
            <a:endParaRPr baseline="30000" sz="3200"/>
          </a:p>
        </p:txBody>
      </p:sp>
      <p:grpSp>
        <p:nvGrpSpPr>
          <p:cNvPr id="865" name="Google Shape;865;p75"/>
          <p:cNvGrpSpPr/>
          <p:nvPr/>
        </p:nvGrpSpPr>
        <p:grpSpPr>
          <a:xfrm>
            <a:off x="1288476" y="2823200"/>
            <a:ext cx="3556889" cy="1656118"/>
            <a:chOff x="6746175" y="88175"/>
            <a:chExt cx="2318400" cy="1411504"/>
          </a:xfrm>
        </p:grpSpPr>
        <p:sp>
          <p:nvSpPr>
            <p:cNvPr id="866" name="Google Shape;866;p75"/>
            <p:cNvSpPr/>
            <p:nvPr/>
          </p:nvSpPr>
          <p:spPr>
            <a:xfrm>
              <a:off x="6746175" y="88179"/>
              <a:ext cx="2318400" cy="1411500"/>
            </a:xfrm>
            <a:prstGeom prst="rect">
              <a:avLst/>
            </a:prstGeom>
            <a:solidFill>
              <a:schemeClr val="dk1"/>
            </a:solidFill>
            <a:ln cap="flat" cmpd="sng" w="11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42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67" name="Google Shape;867;p75"/>
            <p:cNvSpPr txBox="1"/>
            <p:nvPr/>
          </p:nvSpPr>
          <p:spPr>
            <a:xfrm>
              <a:off x="6746175" y="88175"/>
              <a:ext cx="2318400" cy="232500"/>
            </a:xfrm>
            <a:prstGeom prst="rect">
              <a:avLst/>
            </a:prstGeom>
            <a:solidFill>
              <a:srgbClr val="FFFFFF">
                <a:alpha val="50000"/>
              </a:srgbClr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7250" lIns="107250" spcFirstLastPara="1" rIns="107250" wrap="square" tIns="107250">
              <a:noAutofit/>
            </a:bodyPr>
            <a:lstStyle/>
            <a:p>
              <a:pPr indent="0" lvl="0" marL="0" rtl="0" algn="l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7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COMPARISON </a:t>
              </a:r>
              <a:r>
                <a:rPr lang="en" sz="603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so you don’t have to remember</a:t>
              </a:r>
              <a:endParaRPr sz="60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868" name="Google Shape;868;p75"/>
          <p:cNvGrpSpPr/>
          <p:nvPr/>
        </p:nvGrpSpPr>
        <p:grpSpPr>
          <a:xfrm>
            <a:off x="1356521" y="3161361"/>
            <a:ext cx="3432520" cy="188700"/>
            <a:chOff x="2181936" y="3161368"/>
            <a:chExt cx="2607109" cy="188700"/>
          </a:xfrm>
        </p:grpSpPr>
        <p:sp>
          <p:nvSpPr>
            <p:cNvPr id="869" name="Google Shape;869;p75"/>
            <p:cNvSpPr/>
            <p:nvPr/>
          </p:nvSpPr>
          <p:spPr>
            <a:xfrm>
              <a:off x="2181936" y="3161368"/>
              <a:ext cx="792300" cy="188700"/>
            </a:xfrm>
            <a:prstGeom prst="rect">
              <a:avLst/>
            </a:prstGeom>
            <a:solidFill>
              <a:schemeClr val="lt2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Model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70" name="Google Shape;870;p75"/>
            <p:cNvSpPr/>
            <p:nvPr/>
          </p:nvSpPr>
          <p:spPr>
            <a:xfrm>
              <a:off x="3036764" y="3161368"/>
              <a:ext cx="542400" cy="188700"/>
            </a:xfrm>
            <a:prstGeom prst="rect">
              <a:avLst/>
            </a:prstGeom>
            <a:solidFill>
              <a:schemeClr val="lt2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Acc.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71" name="Google Shape;871;p75"/>
            <p:cNvSpPr/>
            <p:nvPr/>
          </p:nvSpPr>
          <p:spPr>
            <a:xfrm>
              <a:off x="3641697" y="3161368"/>
              <a:ext cx="542400" cy="188700"/>
            </a:xfrm>
            <a:prstGeom prst="rect">
              <a:avLst/>
            </a:prstGeom>
            <a:solidFill>
              <a:schemeClr val="lt2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Prec.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72" name="Google Shape;872;p75"/>
            <p:cNvSpPr/>
            <p:nvPr/>
          </p:nvSpPr>
          <p:spPr>
            <a:xfrm>
              <a:off x="4246645" y="3161368"/>
              <a:ext cx="542400" cy="188700"/>
            </a:xfrm>
            <a:prstGeom prst="rect">
              <a:avLst/>
            </a:prstGeom>
            <a:solidFill>
              <a:schemeClr val="lt2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Recall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873" name="Google Shape;873;p75"/>
          <p:cNvGrpSpPr/>
          <p:nvPr/>
        </p:nvGrpSpPr>
        <p:grpSpPr>
          <a:xfrm>
            <a:off x="1355982" y="3428227"/>
            <a:ext cx="3432800" cy="188667"/>
            <a:chOff x="-5078419" y="986625"/>
            <a:chExt cx="2222021" cy="160800"/>
          </a:xfrm>
        </p:grpSpPr>
        <p:sp>
          <p:nvSpPr>
            <p:cNvPr id="874" name="Google Shape;874;p75"/>
            <p:cNvSpPr/>
            <p:nvPr/>
          </p:nvSpPr>
          <p:spPr>
            <a:xfrm>
              <a:off x="-5078419" y="986625"/>
              <a:ext cx="675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NB </a:t>
              </a: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Baseline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75" name="Google Shape;875;p75"/>
            <p:cNvSpPr/>
            <p:nvPr/>
          </p:nvSpPr>
          <p:spPr>
            <a:xfrm>
              <a:off x="-434984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63.475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76" name="Google Shape;876;p75"/>
            <p:cNvSpPr/>
            <p:nvPr/>
          </p:nvSpPr>
          <p:spPr>
            <a:xfrm>
              <a:off x="-3834273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0.657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77" name="Google Shape;877;p75"/>
            <p:cNvSpPr/>
            <p:nvPr/>
          </p:nvSpPr>
          <p:spPr>
            <a:xfrm>
              <a:off x="-331869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0.635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aphicFrame>
        <p:nvGraphicFramePr>
          <p:cNvPr id="878" name="Google Shape;878;p75"/>
          <p:cNvGraphicFramePr/>
          <p:nvPr/>
        </p:nvGraphicFramePr>
        <p:xfrm>
          <a:off x="5222075" y="1457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{CABB4C81-0042-400D-8A47-4D123343D0ED}</a:tableStyleId>
              </a:tblPr>
              <a:tblGrid>
                <a:gridCol w="1107275"/>
                <a:gridCol w="719150"/>
                <a:gridCol w="719150"/>
                <a:gridCol w="719150"/>
              </a:tblGrid>
              <a:tr h="705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% Accuracy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Predicted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692575">
                <a:tc row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Actual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925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925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79" name="Google Shape;879;p75"/>
          <p:cNvGraphicFramePr/>
          <p:nvPr/>
        </p:nvGraphicFramePr>
        <p:xfrm>
          <a:off x="-5017875" y="3695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{CABB4C81-0042-400D-8A47-4D123343D0ED}</a:tableStyleId>
              </a:tblPr>
              <a:tblGrid>
                <a:gridCol w="1054625"/>
                <a:gridCol w="787400"/>
                <a:gridCol w="1235000"/>
                <a:gridCol w="744800"/>
                <a:gridCol w="771875"/>
              </a:tblGrid>
              <a:tr h="32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Precision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Recall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F-Measure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MCC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PRC AUC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</a:tr>
              <a:tr h="32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0.64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0.633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0.633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0.423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0.651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</a:tbl>
          </a:graphicData>
        </a:graphic>
      </p:graphicFrame>
      <p:grpSp>
        <p:nvGrpSpPr>
          <p:cNvPr id="880" name="Google Shape;880;p75"/>
          <p:cNvGrpSpPr/>
          <p:nvPr/>
        </p:nvGrpSpPr>
        <p:grpSpPr>
          <a:xfrm>
            <a:off x="1356382" y="3695077"/>
            <a:ext cx="3432800" cy="188667"/>
            <a:chOff x="-5078419" y="986625"/>
            <a:chExt cx="2222021" cy="160800"/>
          </a:xfrm>
        </p:grpSpPr>
        <p:sp>
          <p:nvSpPr>
            <p:cNvPr id="881" name="Google Shape;881;p75"/>
            <p:cNvSpPr/>
            <p:nvPr/>
          </p:nvSpPr>
          <p:spPr>
            <a:xfrm>
              <a:off x="-5078419" y="986625"/>
              <a:ext cx="675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latin typeface="DM Sans"/>
                  <a:ea typeface="DM Sans"/>
                  <a:cs typeface="DM Sans"/>
                  <a:sym typeface="DM Sans"/>
                </a:rPr>
                <a:t>J48 (NB)</a:t>
              </a:r>
              <a:endParaRPr sz="900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82" name="Google Shape;882;p75"/>
            <p:cNvSpPr/>
            <p:nvPr/>
          </p:nvSpPr>
          <p:spPr>
            <a:xfrm>
              <a:off x="-434984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67.85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83" name="Google Shape;883;p75"/>
            <p:cNvSpPr/>
            <p:nvPr/>
          </p:nvSpPr>
          <p:spPr>
            <a:xfrm>
              <a:off x="-3834273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0.678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84" name="Google Shape;884;p75"/>
            <p:cNvSpPr/>
            <p:nvPr/>
          </p:nvSpPr>
          <p:spPr>
            <a:xfrm>
              <a:off x="-331869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0.679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885" name="Google Shape;885;p75"/>
          <p:cNvGrpSpPr/>
          <p:nvPr/>
        </p:nvGrpSpPr>
        <p:grpSpPr>
          <a:xfrm>
            <a:off x="1356394" y="3961927"/>
            <a:ext cx="3432800" cy="188667"/>
            <a:chOff x="-5078419" y="986625"/>
            <a:chExt cx="2222021" cy="160800"/>
          </a:xfrm>
        </p:grpSpPr>
        <p:sp>
          <p:nvSpPr>
            <p:cNvPr id="886" name="Google Shape;886;p75"/>
            <p:cNvSpPr/>
            <p:nvPr/>
          </p:nvSpPr>
          <p:spPr>
            <a:xfrm>
              <a:off x="-5078419" y="986625"/>
              <a:ext cx="675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latin typeface="DM Sans"/>
                  <a:ea typeface="DM Sans"/>
                  <a:cs typeface="DM Sans"/>
                  <a:sym typeface="DM Sans"/>
                </a:rPr>
                <a:t>DTab (NB)</a:t>
              </a:r>
              <a:endParaRPr sz="900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87" name="Google Shape;887;p75"/>
            <p:cNvSpPr/>
            <p:nvPr/>
          </p:nvSpPr>
          <p:spPr>
            <a:xfrm>
              <a:off x="-434984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70.51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88" name="Google Shape;888;p75"/>
            <p:cNvSpPr/>
            <p:nvPr/>
          </p:nvSpPr>
          <p:spPr>
            <a:xfrm>
              <a:off x="-3834273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0.678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89" name="Google Shape;889;p75"/>
            <p:cNvSpPr/>
            <p:nvPr/>
          </p:nvSpPr>
          <p:spPr>
            <a:xfrm>
              <a:off x="-331869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0.679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aphicFrame>
        <p:nvGraphicFramePr>
          <p:cNvPr id="890" name="Google Shape;890;p75"/>
          <p:cNvGraphicFramePr/>
          <p:nvPr/>
        </p:nvGraphicFramePr>
        <p:xfrm>
          <a:off x="5222075" y="1457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{CABB4C81-0042-400D-8A47-4D123343D0ED}</a:tableStyleId>
              </a:tblPr>
              <a:tblGrid>
                <a:gridCol w="1107275"/>
                <a:gridCol w="719150"/>
                <a:gridCol w="719150"/>
                <a:gridCol w="719150"/>
              </a:tblGrid>
              <a:tr h="705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63.33% Accuracy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Predicted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692575">
                <a:tc row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Actual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6258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1212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1394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925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2230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3971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718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925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1311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406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2317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5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pSp>
        <p:nvGrpSpPr>
          <p:cNvPr id="891" name="Google Shape;891;p75"/>
          <p:cNvGrpSpPr/>
          <p:nvPr/>
        </p:nvGrpSpPr>
        <p:grpSpPr>
          <a:xfrm>
            <a:off x="1355969" y="4228777"/>
            <a:ext cx="3432800" cy="188667"/>
            <a:chOff x="-5078419" y="986625"/>
            <a:chExt cx="2222021" cy="160800"/>
          </a:xfrm>
        </p:grpSpPr>
        <p:sp>
          <p:nvSpPr>
            <p:cNvPr id="892" name="Google Shape;892;p75"/>
            <p:cNvSpPr/>
            <p:nvPr/>
          </p:nvSpPr>
          <p:spPr>
            <a:xfrm>
              <a:off x="-5078419" y="986625"/>
              <a:ext cx="675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NB (OneR)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93" name="Google Shape;893;p75"/>
            <p:cNvSpPr/>
            <p:nvPr/>
          </p:nvSpPr>
          <p:spPr>
            <a:xfrm>
              <a:off x="-434984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63.09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94" name="Google Shape;894;p75"/>
            <p:cNvSpPr/>
            <p:nvPr/>
          </p:nvSpPr>
          <p:spPr>
            <a:xfrm>
              <a:off x="-3834273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.638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95" name="Google Shape;895;p75"/>
            <p:cNvSpPr/>
            <p:nvPr/>
          </p:nvSpPr>
          <p:spPr>
            <a:xfrm>
              <a:off x="-331869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0.631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aphicFrame>
        <p:nvGraphicFramePr>
          <p:cNvPr id="896" name="Google Shape;896;p75"/>
          <p:cNvGraphicFramePr/>
          <p:nvPr/>
        </p:nvGraphicFramePr>
        <p:xfrm>
          <a:off x="465230" y="1457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{CABB4C81-0042-400D-8A47-4D123343D0ED}</a:tableStyleId>
              </a:tblPr>
              <a:tblGrid>
                <a:gridCol w="1178875"/>
                <a:gridCol w="779100"/>
                <a:gridCol w="1259850"/>
                <a:gridCol w="695125"/>
                <a:gridCol w="747000"/>
              </a:tblGrid>
              <a:tr h="32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 Medium"/>
                          <a:ea typeface="Chakra Petch Medium"/>
                          <a:cs typeface="Chakra Petch Medium"/>
                          <a:sym typeface="Chakra Petch Medium"/>
                        </a:rPr>
                        <a:t>Precision</a:t>
                      </a:r>
                      <a:endParaRPr sz="1900">
                        <a:latin typeface="Chakra Petch Medium"/>
                        <a:ea typeface="Chakra Petch Medium"/>
                        <a:cs typeface="Chakra Petch Medium"/>
                        <a:sym typeface="Chakra Petch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 Medium"/>
                          <a:ea typeface="Chakra Petch Medium"/>
                          <a:cs typeface="Chakra Petch Medium"/>
                          <a:sym typeface="Chakra Petch Medium"/>
                        </a:rPr>
                        <a:t>Recall</a:t>
                      </a:r>
                      <a:endParaRPr sz="1900">
                        <a:latin typeface="Chakra Petch Medium"/>
                        <a:ea typeface="Chakra Petch Medium"/>
                        <a:cs typeface="Chakra Petch Medium"/>
                        <a:sym typeface="Chakra Petch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 Medium"/>
                          <a:ea typeface="Chakra Petch Medium"/>
                          <a:cs typeface="Chakra Petch Medium"/>
                          <a:sym typeface="Chakra Petch Medium"/>
                        </a:rPr>
                        <a:t>F-Measure</a:t>
                      </a:r>
                      <a:endParaRPr sz="1900">
                        <a:latin typeface="Chakra Petch Medium"/>
                        <a:ea typeface="Chakra Petch Medium"/>
                        <a:cs typeface="Chakra Petch Medium"/>
                        <a:sym typeface="Chakra Petch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 Medium"/>
                          <a:ea typeface="Chakra Petch Medium"/>
                          <a:cs typeface="Chakra Petch Medium"/>
                          <a:sym typeface="Chakra Petch Medium"/>
                        </a:rPr>
                        <a:t>MCC</a:t>
                      </a:r>
                      <a:endParaRPr sz="1900">
                        <a:latin typeface="Chakra Petch Medium"/>
                        <a:ea typeface="Chakra Petch Medium"/>
                        <a:cs typeface="Chakra Petch Medium"/>
                        <a:sym typeface="Chakra Petch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 Medium"/>
                          <a:ea typeface="Chakra Petch Medium"/>
                          <a:cs typeface="Chakra Petch Medium"/>
                          <a:sym typeface="Chakra Petch Medium"/>
                        </a:rPr>
                        <a:t>PRC AUC</a:t>
                      </a:r>
                      <a:endParaRPr sz="1900">
                        <a:latin typeface="Chakra Petch Medium"/>
                        <a:ea typeface="Chakra Petch Medium"/>
                        <a:cs typeface="Chakra Petch Medium"/>
                        <a:sym typeface="Chakra Petch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</a:tr>
              <a:tr h="32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0.64</a:t>
                      </a:r>
                      <a:endParaRPr sz="1900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0.633</a:t>
                      </a:r>
                      <a:endParaRPr sz="1900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0.633</a:t>
                      </a:r>
                      <a:endParaRPr sz="1900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0.423</a:t>
                      </a:r>
                      <a:endParaRPr sz="1900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0.651</a:t>
                      </a:r>
                      <a:endParaRPr sz="1900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</a:tbl>
          </a:graphicData>
        </a:graphic>
      </p:graphicFrame>
      <p:grpSp>
        <p:nvGrpSpPr>
          <p:cNvPr id="897" name="Google Shape;897;p75"/>
          <p:cNvGrpSpPr/>
          <p:nvPr/>
        </p:nvGrpSpPr>
        <p:grpSpPr>
          <a:xfrm>
            <a:off x="-4191299" y="-1566025"/>
            <a:ext cx="3556889" cy="1656118"/>
            <a:chOff x="6746175" y="88175"/>
            <a:chExt cx="2318400" cy="1411504"/>
          </a:xfrm>
        </p:grpSpPr>
        <p:sp>
          <p:nvSpPr>
            <p:cNvPr id="898" name="Google Shape;898;p75"/>
            <p:cNvSpPr/>
            <p:nvPr/>
          </p:nvSpPr>
          <p:spPr>
            <a:xfrm>
              <a:off x="6746175" y="88179"/>
              <a:ext cx="2318400" cy="1411500"/>
            </a:xfrm>
            <a:prstGeom prst="rect">
              <a:avLst/>
            </a:prstGeom>
            <a:solidFill>
              <a:schemeClr val="dk1"/>
            </a:solidFill>
            <a:ln cap="flat" cmpd="sng" w="11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42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99" name="Google Shape;899;p75"/>
            <p:cNvSpPr txBox="1"/>
            <p:nvPr/>
          </p:nvSpPr>
          <p:spPr>
            <a:xfrm>
              <a:off x="6746175" y="88175"/>
              <a:ext cx="2318400" cy="232500"/>
            </a:xfrm>
            <a:prstGeom prst="rect">
              <a:avLst/>
            </a:prstGeom>
            <a:solidFill>
              <a:srgbClr val="FFFFFF">
                <a:alpha val="50000"/>
              </a:srgbClr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7250" lIns="107250" spcFirstLastPara="1" rIns="107250" wrap="square" tIns="107250">
              <a:noAutofit/>
            </a:bodyPr>
            <a:lstStyle/>
            <a:p>
              <a:pPr indent="0" lvl="0" marL="0" rtl="0" algn="l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7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COMPARISON </a:t>
              </a:r>
              <a:r>
                <a:rPr lang="en" sz="603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so you don’t have to remember</a:t>
              </a:r>
              <a:endParaRPr sz="60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76"/>
          <p:cNvSpPr txBox="1"/>
          <p:nvPr>
            <p:ph type="title"/>
          </p:nvPr>
        </p:nvSpPr>
        <p:spPr>
          <a:xfrm>
            <a:off x="664525" y="2164800"/>
            <a:ext cx="7941000" cy="81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Varying Attributes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(Decision Tree Submodel)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77"/>
          <p:cNvSpPr txBox="1"/>
          <p:nvPr>
            <p:ph idx="3" type="body"/>
          </p:nvPr>
        </p:nvSpPr>
        <p:spPr>
          <a:xfrm>
            <a:off x="365700" y="377526"/>
            <a:ext cx="8412600" cy="9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</a:t>
            </a:r>
            <a:r>
              <a:rPr lang="en" sz="3500"/>
              <a:t>w/ additional attributes</a:t>
            </a:r>
            <a:endParaRPr sz="3500"/>
          </a:p>
        </p:txBody>
      </p:sp>
      <p:sp>
        <p:nvSpPr>
          <p:cNvPr id="910" name="Google Shape;910;p77"/>
          <p:cNvSpPr/>
          <p:nvPr/>
        </p:nvSpPr>
        <p:spPr>
          <a:xfrm>
            <a:off x="620654" y="1111675"/>
            <a:ext cx="8036100" cy="3249900"/>
          </a:xfrm>
          <a:prstGeom prst="roundRect">
            <a:avLst>
              <a:gd fmla="val 16667" name="adj"/>
            </a:avLst>
          </a:prstGeom>
          <a:solidFill>
            <a:srgbClr val="FFD4C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aphicFrame>
        <p:nvGraphicFramePr>
          <p:cNvPr id="911" name="Google Shape;911;p77"/>
          <p:cNvGraphicFramePr/>
          <p:nvPr/>
        </p:nvGraphicFramePr>
        <p:xfrm>
          <a:off x="745004" y="1359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{CABB4C81-0042-400D-8A47-4D123343D0ED}</a:tableStyleId>
              </a:tblPr>
              <a:tblGrid>
                <a:gridCol w="206150"/>
                <a:gridCol w="312025"/>
                <a:gridCol w="257150"/>
                <a:gridCol w="276425"/>
                <a:gridCol w="387900"/>
              </a:tblGrid>
              <a:tr h="248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ID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A1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A2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A3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Class</a:t>
                      </a:r>
                      <a:endParaRPr b="1" sz="9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198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198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248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198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  <p:cxnSp>
        <p:nvCxnSpPr>
          <p:cNvPr id="912" name="Google Shape;912;p77"/>
          <p:cNvCxnSpPr/>
          <p:nvPr/>
        </p:nvCxnSpPr>
        <p:spPr>
          <a:xfrm>
            <a:off x="3894225" y="1561575"/>
            <a:ext cx="472800" cy="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graphicFrame>
        <p:nvGraphicFramePr>
          <p:cNvPr id="913" name="Google Shape;913;p77"/>
          <p:cNvGraphicFramePr/>
          <p:nvPr/>
        </p:nvGraphicFramePr>
        <p:xfrm>
          <a:off x="2293904" y="2813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{CABB4C81-0042-400D-8A47-4D123343D0ED}</a:tableStyleId>
              </a:tblPr>
              <a:tblGrid>
                <a:gridCol w="297650"/>
                <a:gridCol w="297650"/>
                <a:gridCol w="297650"/>
                <a:gridCol w="435100"/>
              </a:tblGrid>
              <a:tr h="248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ID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A1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A3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Class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198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14" name="Google Shape;914;p77"/>
          <p:cNvGraphicFramePr/>
          <p:nvPr/>
        </p:nvGraphicFramePr>
        <p:xfrm>
          <a:off x="4389504" y="1359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{CABB4C81-0042-400D-8A47-4D123343D0ED}</a:tableStyleId>
              </a:tblPr>
              <a:tblGrid>
                <a:gridCol w="324175"/>
                <a:gridCol w="651875"/>
                <a:gridCol w="339325"/>
                <a:gridCol w="534900"/>
              </a:tblGrid>
              <a:tr h="248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ID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A2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A3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Class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198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[1,2,3,4]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  <p:cxnSp>
        <p:nvCxnSpPr>
          <p:cNvPr id="915" name="Google Shape;915;p77"/>
          <p:cNvCxnSpPr/>
          <p:nvPr/>
        </p:nvCxnSpPr>
        <p:spPr>
          <a:xfrm>
            <a:off x="3058350" y="1817075"/>
            <a:ext cx="21900" cy="985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16" name="Google Shape;916;p77"/>
          <p:cNvSpPr/>
          <p:nvPr/>
        </p:nvSpPr>
        <p:spPr>
          <a:xfrm>
            <a:off x="6666450" y="1652977"/>
            <a:ext cx="1707600" cy="11256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8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725" lIns="76725" spcFirstLastPara="1" rIns="76725" wrap="square" tIns="76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4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17" name="Google Shape;917;p77"/>
          <p:cNvSpPr/>
          <p:nvPr/>
        </p:nvSpPr>
        <p:spPr>
          <a:xfrm>
            <a:off x="6759489" y="1775144"/>
            <a:ext cx="651000" cy="2001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8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725" lIns="76725" spcFirstLastPara="1" rIns="76725" wrap="square" tIns="76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74">
                <a:latin typeface="Verdana"/>
                <a:ea typeface="Verdana"/>
                <a:cs typeface="Verdana"/>
                <a:sym typeface="Verdana"/>
              </a:rPr>
              <a:t>1, B</a:t>
            </a:r>
            <a:endParaRPr sz="1174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18" name="Google Shape;918;p77"/>
          <p:cNvSpPr/>
          <p:nvPr/>
        </p:nvSpPr>
        <p:spPr>
          <a:xfrm>
            <a:off x="6750696" y="2021639"/>
            <a:ext cx="651000" cy="2001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8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725" lIns="76725" spcFirstLastPara="1" rIns="76725" wrap="square" tIns="76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74">
                <a:latin typeface="Verdana"/>
                <a:ea typeface="Verdana"/>
                <a:cs typeface="Verdana"/>
                <a:sym typeface="Verdana"/>
              </a:rPr>
              <a:t>2, B</a:t>
            </a:r>
            <a:endParaRPr sz="1174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19" name="Google Shape;919;p77"/>
          <p:cNvSpPr/>
          <p:nvPr/>
        </p:nvSpPr>
        <p:spPr>
          <a:xfrm>
            <a:off x="6750696" y="2268134"/>
            <a:ext cx="651000" cy="2001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8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725" lIns="76725" spcFirstLastPara="1" rIns="76725" wrap="square" tIns="76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74">
                <a:latin typeface="Verdana"/>
                <a:ea typeface="Verdana"/>
                <a:cs typeface="Verdana"/>
                <a:sym typeface="Verdana"/>
              </a:rPr>
              <a:t>3, B</a:t>
            </a:r>
            <a:endParaRPr sz="1174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20" name="Google Shape;920;p77"/>
          <p:cNvSpPr/>
          <p:nvPr/>
        </p:nvSpPr>
        <p:spPr>
          <a:xfrm>
            <a:off x="7576262" y="1775144"/>
            <a:ext cx="726300" cy="2004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8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725" lIns="76725" spcFirstLastPara="1" rIns="76725" wrap="square" tIns="76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74">
                <a:latin typeface="Verdana"/>
                <a:ea typeface="Verdana"/>
                <a:cs typeface="Verdana"/>
                <a:sym typeface="Verdana"/>
              </a:rPr>
              <a:t>F</a:t>
            </a:r>
            <a:endParaRPr sz="1174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21" name="Google Shape;921;p77"/>
          <p:cNvSpPr/>
          <p:nvPr/>
        </p:nvSpPr>
        <p:spPr>
          <a:xfrm>
            <a:off x="7576262" y="2021639"/>
            <a:ext cx="726300" cy="2004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8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725" lIns="76725" spcFirstLastPara="1" rIns="76725" wrap="square" tIns="76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74">
                <a:latin typeface="Verdana"/>
                <a:ea typeface="Verdana"/>
                <a:cs typeface="Verdana"/>
                <a:sym typeface="Verdana"/>
              </a:rPr>
              <a:t>T</a:t>
            </a:r>
            <a:endParaRPr sz="1174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22" name="Google Shape;922;p77"/>
          <p:cNvSpPr/>
          <p:nvPr/>
        </p:nvSpPr>
        <p:spPr>
          <a:xfrm>
            <a:off x="7576262" y="2268134"/>
            <a:ext cx="726300" cy="2004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8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725" lIns="76725" spcFirstLastPara="1" rIns="76725" wrap="square" tIns="76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74"/>
              <a:t>T</a:t>
            </a:r>
            <a:endParaRPr sz="1174"/>
          </a:p>
        </p:txBody>
      </p:sp>
      <p:cxnSp>
        <p:nvCxnSpPr>
          <p:cNvPr id="923" name="Google Shape;923;p77"/>
          <p:cNvCxnSpPr>
            <a:stCxn id="917" idx="3"/>
            <a:endCxn id="920" idx="1"/>
          </p:cNvCxnSpPr>
          <p:nvPr/>
        </p:nvCxnSpPr>
        <p:spPr>
          <a:xfrm>
            <a:off x="7410489" y="1875194"/>
            <a:ext cx="165900" cy="300"/>
          </a:xfrm>
          <a:prstGeom prst="straightConnector1">
            <a:avLst/>
          </a:prstGeom>
          <a:noFill/>
          <a:ln cap="flat" cmpd="sng" w="8025">
            <a:solidFill>
              <a:srgbClr val="000000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924" name="Google Shape;924;p77"/>
          <p:cNvCxnSpPr>
            <a:stCxn id="918" idx="3"/>
            <a:endCxn id="921" idx="1"/>
          </p:cNvCxnSpPr>
          <p:nvPr/>
        </p:nvCxnSpPr>
        <p:spPr>
          <a:xfrm>
            <a:off x="7401696" y="2121689"/>
            <a:ext cx="174600" cy="300"/>
          </a:xfrm>
          <a:prstGeom prst="straightConnector1">
            <a:avLst/>
          </a:prstGeom>
          <a:noFill/>
          <a:ln cap="flat" cmpd="sng" w="8025">
            <a:solidFill>
              <a:srgbClr val="000000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925" name="Google Shape;925;p77"/>
          <p:cNvCxnSpPr>
            <a:stCxn id="919" idx="3"/>
            <a:endCxn id="922" idx="1"/>
          </p:cNvCxnSpPr>
          <p:nvPr/>
        </p:nvCxnSpPr>
        <p:spPr>
          <a:xfrm>
            <a:off x="7401696" y="2368184"/>
            <a:ext cx="174600" cy="300"/>
          </a:xfrm>
          <a:prstGeom prst="straightConnector1">
            <a:avLst/>
          </a:prstGeom>
          <a:noFill/>
          <a:ln cap="flat" cmpd="sng" w="8025">
            <a:solidFill>
              <a:srgbClr val="000000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926" name="Google Shape;926;p77"/>
          <p:cNvSpPr/>
          <p:nvPr/>
        </p:nvSpPr>
        <p:spPr>
          <a:xfrm>
            <a:off x="6750712" y="2514648"/>
            <a:ext cx="651000" cy="2001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8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725" lIns="76725" spcFirstLastPara="1" rIns="76725" wrap="square" tIns="76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74">
                <a:latin typeface="Verdana"/>
                <a:ea typeface="Verdana"/>
                <a:cs typeface="Verdana"/>
                <a:sym typeface="Verdana"/>
              </a:rPr>
              <a:t>4, B</a:t>
            </a:r>
            <a:endParaRPr sz="1174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27" name="Google Shape;927;p77"/>
          <p:cNvSpPr/>
          <p:nvPr/>
        </p:nvSpPr>
        <p:spPr>
          <a:xfrm>
            <a:off x="7576231" y="2514648"/>
            <a:ext cx="726300" cy="2001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8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725" lIns="76725" spcFirstLastPara="1" rIns="76725" wrap="square" tIns="76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74"/>
              <a:t>T</a:t>
            </a:r>
            <a:endParaRPr sz="1174"/>
          </a:p>
        </p:txBody>
      </p:sp>
      <p:cxnSp>
        <p:nvCxnSpPr>
          <p:cNvPr id="928" name="Google Shape;928;p77"/>
          <p:cNvCxnSpPr/>
          <p:nvPr/>
        </p:nvCxnSpPr>
        <p:spPr>
          <a:xfrm>
            <a:off x="7433092" y="2612619"/>
            <a:ext cx="174000" cy="0"/>
          </a:xfrm>
          <a:prstGeom prst="straightConnector1">
            <a:avLst/>
          </a:prstGeom>
          <a:noFill/>
          <a:ln cap="flat" cmpd="sng" w="8025">
            <a:solidFill>
              <a:srgbClr val="000000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929" name="Google Shape;929;p77"/>
          <p:cNvSpPr/>
          <p:nvPr/>
        </p:nvSpPr>
        <p:spPr>
          <a:xfrm>
            <a:off x="6753900" y="1337581"/>
            <a:ext cx="1532700" cy="325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9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850" lIns="91850" spcFirstLastPara="1" rIns="91850" wrap="square" tIns="91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79">
                <a:latin typeface="Verdana"/>
                <a:ea typeface="Verdana"/>
                <a:cs typeface="Verdana"/>
                <a:sym typeface="Verdana"/>
              </a:rPr>
              <a:t>Decision Tree</a:t>
            </a:r>
            <a:endParaRPr sz="1179"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930" name="Google Shape;930;p77"/>
          <p:cNvCxnSpPr>
            <a:endCxn id="929" idx="1"/>
          </p:cNvCxnSpPr>
          <p:nvPr/>
        </p:nvCxnSpPr>
        <p:spPr>
          <a:xfrm flipH="1" rot="10800000">
            <a:off x="6234000" y="1500331"/>
            <a:ext cx="519900" cy="4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31" name="Google Shape;931;p77"/>
          <p:cNvCxnSpPr/>
          <p:nvPr/>
        </p:nvCxnSpPr>
        <p:spPr>
          <a:xfrm>
            <a:off x="5883879" y="2299000"/>
            <a:ext cx="840600" cy="3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932" name="Google Shape;932;p77"/>
          <p:cNvSpPr/>
          <p:nvPr/>
        </p:nvSpPr>
        <p:spPr>
          <a:xfrm>
            <a:off x="4832454" y="2144500"/>
            <a:ext cx="1047300" cy="312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8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650" lIns="78650" spcFirstLastPara="1" rIns="78650" wrap="square" tIns="786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38">
                <a:latin typeface="Verdana"/>
                <a:ea typeface="Verdana"/>
                <a:cs typeface="Verdana"/>
                <a:sym typeface="Verdana"/>
              </a:rPr>
              <a:t>A2_pred = T</a:t>
            </a:r>
            <a:endParaRPr sz="1038">
              <a:latin typeface="Verdana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933" name="Google Shape;933;p77"/>
          <p:cNvGraphicFramePr/>
          <p:nvPr/>
        </p:nvGraphicFramePr>
        <p:xfrm>
          <a:off x="4340254" y="28414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{CABB4C81-0042-400D-8A47-4D123343D0ED}</a:tableStyleId>
              </a:tblPr>
              <a:tblGrid>
                <a:gridCol w="411225"/>
                <a:gridCol w="411225"/>
                <a:gridCol w="656350"/>
                <a:gridCol w="442700"/>
                <a:gridCol w="462725"/>
              </a:tblGrid>
              <a:tr h="248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ID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A1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A2_pred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A3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Class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  <p:cxnSp>
        <p:nvCxnSpPr>
          <p:cNvPr id="934" name="Google Shape;934;p77"/>
          <p:cNvCxnSpPr/>
          <p:nvPr/>
        </p:nvCxnSpPr>
        <p:spPr>
          <a:xfrm>
            <a:off x="5346654" y="2463900"/>
            <a:ext cx="18900" cy="390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35" name="Google Shape;935;p77"/>
          <p:cNvCxnSpPr/>
          <p:nvPr/>
        </p:nvCxnSpPr>
        <p:spPr>
          <a:xfrm>
            <a:off x="3605929" y="3049150"/>
            <a:ext cx="738300" cy="7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36" name="Google Shape;936;p77"/>
          <p:cNvSpPr/>
          <p:nvPr/>
        </p:nvSpPr>
        <p:spPr>
          <a:xfrm>
            <a:off x="4606416" y="3683775"/>
            <a:ext cx="1439700" cy="286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8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850" lIns="80850" spcFirstLastPara="1" rIns="80850" wrap="square" tIns="80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38">
                <a:latin typeface="Verdana"/>
                <a:ea typeface="Verdana"/>
                <a:cs typeface="Verdana"/>
                <a:sym typeface="Verdana"/>
              </a:rPr>
              <a:t>Regular Classifier</a:t>
            </a:r>
            <a:endParaRPr sz="1038"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937" name="Google Shape;937;p77"/>
          <p:cNvCxnSpPr>
            <a:endCxn id="936" idx="0"/>
          </p:cNvCxnSpPr>
          <p:nvPr/>
        </p:nvCxnSpPr>
        <p:spPr>
          <a:xfrm flipH="1">
            <a:off x="5326266" y="3300675"/>
            <a:ext cx="4800" cy="383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38" name="Google Shape;938;p77"/>
          <p:cNvSpPr/>
          <p:nvPr/>
        </p:nvSpPr>
        <p:spPr>
          <a:xfrm>
            <a:off x="6909151" y="3670725"/>
            <a:ext cx="726300" cy="312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8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650" lIns="78650" spcFirstLastPara="1" rIns="78650" wrap="square" tIns="786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38">
                <a:latin typeface="Verdana"/>
                <a:ea typeface="Verdana"/>
                <a:cs typeface="Verdana"/>
                <a:sym typeface="Verdana"/>
              </a:rPr>
              <a:t>T</a:t>
            </a:r>
            <a:endParaRPr sz="1038"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939" name="Google Shape;939;p77"/>
          <p:cNvCxnSpPr>
            <a:stCxn id="936" idx="3"/>
            <a:endCxn id="938" idx="1"/>
          </p:cNvCxnSpPr>
          <p:nvPr/>
        </p:nvCxnSpPr>
        <p:spPr>
          <a:xfrm>
            <a:off x="6046116" y="3827025"/>
            <a:ext cx="863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graphicFrame>
        <p:nvGraphicFramePr>
          <p:cNvPr id="940" name="Google Shape;940;p77"/>
          <p:cNvGraphicFramePr/>
          <p:nvPr/>
        </p:nvGraphicFramePr>
        <p:xfrm>
          <a:off x="2490504" y="1359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{CABB4C81-0042-400D-8A47-4D123343D0ED}</a:tableStyleId>
              </a:tblPr>
              <a:tblGrid>
                <a:gridCol w="257150"/>
                <a:gridCol w="448650"/>
                <a:gridCol w="257150"/>
                <a:gridCol w="440725"/>
              </a:tblGrid>
              <a:tr h="248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A1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A2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A3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Class</a:t>
                      </a:r>
                      <a:endParaRPr b="1" sz="9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198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1,2,3,4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  <p:cxnSp>
        <p:nvCxnSpPr>
          <p:cNvPr id="941" name="Google Shape;941;p77"/>
          <p:cNvCxnSpPr/>
          <p:nvPr/>
        </p:nvCxnSpPr>
        <p:spPr>
          <a:xfrm flipH="1" rot="10800000">
            <a:off x="2207799" y="1590888"/>
            <a:ext cx="286800" cy="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78"/>
          <p:cNvSpPr txBox="1"/>
          <p:nvPr>
            <p:ph idx="1" type="subTitle"/>
          </p:nvPr>
        </p:nvSpPr>
        <p:spPr>
          <a:xfrm>
            <a:off x="4417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78"/>
          <p:cNvSpPr txBox="1"/>
          <p:nvPr>
            <p:ph idx="2" type="subTitle"/>
          </p:nvPr>
        </p:nvSpPr>
        <p:spPr>
          <a:xfrm>
            <a:off x="28372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78"/>
          <p:cNvSpPr txBox="1"/>
          <p:nvPr>
            <p:ph idx="3" type="body"/>
          </p:nvPr>
        </p:nvSpPr>
        <p:spPr>
          <a:xfrm>
            <a:off x="365625" y="794977"/>
            <a:ext cx="8412600" cy="13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Various Attributes</a:t>
            </a:r>
            <a:endParaRPr/>
          </a:p>
        </p:txBody>
      </p:sp>
      <p:sp>
        <p:nvSpPr>
          <p:cNvPr id="949" name="Google Shape;949;p78"/>
          <p:cNvSpPr txBox="1"/>
          <p:nvPr/>
        </p:nvSpPr>
        <p:spPr>
          <a:xfrm>
            <a:off x="1284950" y="1792925"/>
            <a:ext cx="72969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rPr>
              <a:t>Column 5 - Arrestee Race </a:t>
            </a:r>
            <a:r>
              <a:rPr lang="en" sz="17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rPr>
              <a:t>[Arrestee, Demographic]</a:t>
            </a:r>
            <a:endParaRPr sz="1700">
              <a:solidFill>
                <a:schemeClr val="dk1"/>
              </a:solidFill>
              <a:latin typeface="Chakra Petch"/>
              <a:ea typeface="Chakra Petch"/>
              <a:cs typeface="Chakra Petch"/>
              <a:sym typeface="Chakra Petc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rPr>
              <a:t>Column 6 - Arrestee Sex </a:t>
            </a:r>
            <a:r>
              <a:rPr lang="en" sz="17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rPr>
              <a:t>[Arrestee, Demographic]</a:t>
            </a:r>
            <a:endParaRPr sz="2500">
              <a:solidFill>
                <a:schemeClr val="dk1"/>
              </a:solidFill>
              <a:latin typeface="Chakra Petch"/>
              <a:ea typeface="Chakra Petch"/>
              <a:cs typeface="Chakra Petch"/>
              <a:sym typeface="Chakra Petc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rPr>
              <a:t>Column 7 - Arrestee Age </a:t>
            </a:r>
            <a:r>
              <a:rPr lang="en" sz="17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rPr>
              <a:t>[Arrestee, Demographic]</a:t>
            </a:r>
            <a:endParaRPr sz="2500">
              <a:solidFill>
                <a:schemeClr val="dk1"/>
              </a:solidFill>
              <a:latin typeface="Chakra Petch"/>
              <a:ea typeface="Chakra Petch"/>
              <a:cs typeface="Chakra Petch"/>
              <a:sym typeface="Chakra Petc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rPr>
              <a:t>Column 10 - PSA </a:t>
            </a:r>
            <a:r>
              <a:rPr lang="en" sz="17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rPr>
              <a:t>[Location]</a:t>
            </a:r>
            <a:endParaRPr sz="2500">
              <a:solidFill>
                <a:schemeClr val="dk1"/>
              </a:solidFill>
              <a:latin typeface="Chakra Petch"/>
              <a:ea typeface="Chakra Petch"/>
              <a:cs typeface="Chakra Petch"/>
              <a:sym typeface="Chakra Petc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rPr>
              <a:t>Column 22 - Officer Sex </a:t>
            </a:r>
            <a:r>
              <a:rPr lang="en" sz="17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rPr>
              <a:t>[Officer, Demographic]</a:t>
            </a:r>
            <a:endParaRPr sz="1700">
              <a:solidFill>
                <a:schemeClr val="dk1"/>
              </a:solidFill>
              <a:latin typeface="Chakra Petch"/>
              <a:ea typeface="Chakra Petch"/>
              <a:cs typeface="Chakra Petch"/>
              <a:sym typeface="Chakra Petc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rPr>
              <a:t>Column 27 - Station Name </a:t>
            </a:r>
            <a:r>
              <a:rPr lang="en" sz="17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rPr>
              <a:t>[Location]</a:t>
            </a:r>
            <a:endParaRPr sz="2500">
              <a:solidFill>
                <a:schemeClr val="dk1"/>
              </a:solidFill>
              <a:latin typeface="Chakra Petch"/>
              <a:ea typeface="Chakra Petch"/>
              <a:cs typeface="Chakra Petch"/>
              <a:sym typeface="Chakra Petch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79"/>
          <p:cNvSpPr txBox="1"/>
          <p:nvPr>
            <p:ph type="title"/>
          </p:nvPr>
        </p:nvSpPr>
        <p:spPr>
          <a:xfrm>
            <a:off x="232050" y="2112300"/>
            <a:ext cx="4339800" cy="265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Worst</a:t>
            </a:r>
            <a:endParaRPr/>
          </a:p>
        </p:txBody>
      </p:sp>
      <p:grpSp>
        <p:nvGrpSpPr>
          <p:cNvPr id="955" name="Google Shape;955;p79"/>
          <p:cNvGrpSpPr/>
          <p:nvPr/>
        </p:nvGrpSpPr>
        <p:grpSpPr>
          <a:xfrm>
            <a:off x="4996251" y="2905250"/>
            <a:ext cx="3556889" cy="1656118"/>
            <a:chOff x="6746175" y="88175"/>
            <a:chExt cx="2318400" cy="1411504"/>
          </a:xfrm>
        </p:grpSpPr>
        <p:sp>
          <p:nvSpPr>
            <p:cNvPr id="956" name="Google Shape;956;p79"/>
            <p:cNvSpPr/>
            <p:nvPr/>
          </p:nvSpPr>
          <p:spPr>
            <a:xfrm>
              <a:off x="6746175" y="88179"/>
              <a:ext cx="2318400" cy="1411500"/>
            </a:xfrm>
            <a:prstGeom prst="rect">
              <a:avLst/>
            </a:prstGeom>
            <a:solidFill>
              <a:schemeClr val="dk1"/>
            </a:solidFill>
            <a:ln cap="flat" cmpd="sng" w="11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42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57" name="Google Shape;957;p79"/>
            <p:cNvSpPr txBox="1"/>
            <p:nvPr/>
          </p:nvSpPr>
          <p:spPr>
            <a:xfrm>
              <a:off x="6746175" y="88175"/>
              <a:ext cx="2318400" cy="232500"/>
            </a:xfrm>
            <a:prstGeom prst="rect">
              <a:avLst/>
            </a:prstGeom>
            <a:solidFill>
              <a:srgbClr val="FFFFFF">
                <a:alpha val="50000"/>
              </a:srgbClr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7250" lIns="107250" spcFirstLastPara="1" rIns="107250" wrap="square" tIns="107250">
              <a:noAutofit/>
            </a:bodyPr>
            <a:lstStyle/>
            <a:p>
              <a:pPr indent="0" lvl="0" marL="0" rtl="0" algn="l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7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COMPARISON </a:t>
              </a:r>
              <a:r>
                <a:rPr lang="en" sz="603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so you don’t have to remember</a:t>
              </a:r>
              <a:endParaRPr sz="60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958" name="Google Shape;958;p79"/>
          <p:cNvGrpSpPr/>
          <p:nvPr/>
        </p:nvGrpSpPr>
        <p:grpSpPr>
          <a:xfrm>
            <a:off x="5064296" y="3243411"/>
            <a:ext cx="3432520" cy="188700"/>
            <a:chOff x="2181936" y="3161368"/>
            <a:chExt cx="2607109" cy="188700"/>
          </a:xfrm>
        </p:grpSpPr>
        <p:sp>
          <p:nvSpPr>
            <p:cNvPr id="959" name="Google Shape;959;p79"/>
            <p:cNvSpPr/>
            <p:nvPr/>
          </p:nvSpPr>
          <p:spPr>
            <a:xfrm>
              <a:off x="2181936" y="3161368"/>
              <a:ext cx="792300" cy="188700"/>
            </a:xfrm>
            <a:prstGeom prst="rect">
              <a:avLst/>
            </a:prstGeom>
            <a:solidFill>
              <a:schemeClr val="lt2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Model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60" name="Google Shape;960;p79"/>
            <p:cNvSpPr/>
            <p:nvPr/>
          </p:nvSpPr>
          <p:spPr>
            <a:xfrm>
              <a:off x="3036764" y="3161368"/>
              <a:ext cx="542400" cy="188700"/>
            </a:xfrm>
            <a:prstGeom prst="rect">
              <a:avLst/>
            </a:prstGeom>
            <a:solidFill>
              <a:schemeClr val="lt2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Acc.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61" name="Google Shape;961;p79"/>
            <p:cNvSpPr/>
            <p:nvPr/>
          </p:nvSpPr>
          <p:spPr>
            <a:xfrm>
              <a:off x="3641697" y="3161368"/>
              <a:ext cx="542400" cy="188700"/>
            </a:xfrm>
            <a:prstGeom prst="rect">
              <a:avLst/>
            </a:prstGeom>
            <a:solidFill>
              <a:schemeClr val="lt2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Prec.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62" name="Google Shape;962;p79"/>
            <p:cNvSpPr/>
            <p:nvPr/>
          </p:nvSpPr>
          <p:spPr>
            <a:xfrm>
              <a:off x="4246645" y="3161368"/>
              <a:ext cx="542400" cy="188700"/>
            </a:xfrm>
            <a:prstGeom prst="rect">
              <a:avLst/>
            </a:prstGeom>
            <a:solidFill>
              <a:schemeClr val="lt2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Recall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963" name="Google Shape;963;p79"/>
          <p:cNvGrpSpPr/>
          <p:nvPr/>
        </p:nvGrpSpPr>
        <p:grpSpPr>
          <a:xfrm>
            <a:off x="5063757" y="3510277"/>
            <a:ext cx="3432800" cy="188667"/>
            <a:chOff x="-5078419" y="986625"/>
            <a:chExt cx="2222021" cy="160800"/>
          </a:xfrm>
        </p:grpSpPr>
        <p:sp>
          <p:nvSpPr>
            <p:cNvPr id="964" name="Google Shape;964;p79"/>
            <p:cNvSpPr/>
            <p:nvPr/>
          </p:nvSpPr>
          <p:spPr>
            <a:xfrm>
              <a:off x="-5078419" y="986625"/>
              <a:ext cx="675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J48 </a:t>
              </a: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Baseline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65" name="Google Shape;965;p79"/>
            <p:cNvSpPr/>
            <p:nvPr/>
          </p:nvSpPr>
          <p:spPr>
            <a:xfrm>
              <a:off x="-434984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70.3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66" name="Google Shape;966;p79"/>
            <p:cNvSpPr/>
            <p:nvPr/>
          </p:nvSpPr>
          <p:spPr>
            <a:xfrm>
              <a:off x="-3834273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0.705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67" name="Google Shape;967;p79"/>
            <p:cNvSpPr/>
            <p:nvPr/>
          </p:nvSpPr>
          <p:spPr>
            <a:xfrm>
              <a:off x="-331869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0.703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968" name="Google Shape;968;p79"/>
          <p:cNvGrpSpPr/>
          <p:nvPr/>
        </p:nvGrpSpPr>
        <p:grpSpPr>
          <a:xfrm>
            <a:off x="5058307" y="3777127"/>
            <a:ext cx="3432800" cy="188667"/>
            <a:chOff x="-5078419" y="986625"/>
            <a:chExt cx="2222021" cy="160800"/>
          </a:xfrm>
        </p:grpSpPr>
        <p:sp>
          <p:nvSpPr>
            <p:cNvPr id="969" name="Google Shape;969;p79"/>
            <p:cNvSpPr/>
            <p:nvPr/>
          </p:nvSpPr>
          <p:spPr>
            <a:xfrm>
              <a:off x="-5078419" y="986625"/>
              <a:ext cx="675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latin typeface="DM Sans"/>
                  <a:ea typeface="DM Sans"/>
                  <a:cs typeface="DM Sans"/>
                  <a:sym typeface="DM Sans"/>
                </a:rPr>
                <a:t>DTab </a:t>
              </a:r>
              <a:r>
                <a:rPr lang="en" sz="900">
                  <a:latin typeface="DM Sans"/>
                  <a:ea typeface="DM Sans"/>
                  <a:cs typeface="DM Sans"/>
                  <a:sym typeface="DM Sans"/>
                </a:rPr>
                <a:t>Baseline</a:t>
              </a:r>
              <a:endParaRPr sz="900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70" name="Google Shape;970;p79"/>
            <p:cNvSpPr/>
            <p:nvPr/>
          </p:nvSpPr>
          <p:spPr>
            <a:xfrm>
              <a:off x="-434984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68.15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71" name="Google Shape;971;p79"/>
            <p:cNvSpPr/>
            <p:nvPr/>
          </p:nvSpPr>
          <p:spPr>
            <a:xfrm>
              <a:off x="-3834273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0.697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72" name="Google Shape;972;p79"/>
            <p:cNvSpPr/>
            <p:nvPr/>
          </p:nvSpPr>
          <p:spPr>
            <a:xfrm>
              <a:off x="-331869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0.682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973" name="Google Shape;973;p79"/>
          <p:cNvGrpSpPr/>
          <p:nvPr/>
        </p:nvGrpSpPr>
        <p:grpSpPr>
          <a:xfrm>
            <a:off x="5064169" y="4043977"/>
            <a:ext cx="3432800" cy="188667"/>
            <a:chOff x="-5078419" y="986625"/>
            <a:chExt cx="2222021" cy="160800"/>
          </a:xfrm>
        </p:grpSpPr>
        <p:sp>
          <p:nvSpPr>
            <p:cNvPr id="974" name="Google Shape;974;p79"/>
            <p:cNvSpPr/>
            <p:nvPr/>
          </p:nvSpPr>
          <p:spPr>
            <a:xfrm>
              <a:off x="-5078419" y="986625"/>
              <a:ext cx="675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NB </a:t>
              </a: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Baseline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75" name="Google Shape;975;p79"/>
            <p:cNvSpPr/>
            <p:nvPr/>
          </p:nvSpPr>
          <p:spPr>
            <a:xfrm>
              <a:off x="-434984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63.48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76" name="Google Shape;976;p79"/>
            <p:cNvSpPr/>
            <p:nvPr/>
          </p:nvSpPr>
          <p:spPr>
            <a:xfrm>
              <a:off x="-3834273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0.657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77" name="Google Shape;977;p79"/>
            <p:cNvSpPr/>
            <p:nvPr/>
          </p:nvSpPr>
          <p:spPr>
            <a:xfrm>
              <a:off x="-331869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0.635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978" name="Google Shape;978;p79"/>
          <p:cNvGrpSpPr/>
          <p:nvPr/>
        </p:nvGrpSpPr>
        <p:grpSpPr>
          <a:xfrm>
            <a:off x="5064169" y="4310827"/>
            <a:ext cx="3432800" cy="188667"/>
            <a:chOff x="-5078419" y="986625"/>
            <a:chExt cx="2222021" cy="160800"/>
          </a:xfrm>
        </p:grpSpPr>
        <p:sp>
          <p:nvSpPr>
            <p:cNvPr id="979" name="Google Shape;979;p79"/>
            <p:cNvSpPr/>
            <p:nvPr/>
          </p:nvSpPr>
          <p:spPr>
            <a:xfrm>
              <a:off x="-5078419" y="986625"/>
              <a:ext cx="675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NB (OneR)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80" name="Google Shape;980;p79"/>
            <p:cNvSpPr/>
            <p:nvPr/>
          </p:nvSpPr>
          <p:spPr>
            <a:xfrm>
              <a:off x="-434984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63.09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81" name="Google Shape;981;p79"/>
            <p:cNvSpPr/>
            <p:nvPr/>
          </p:nvSpPr>
          <p:spPr>
            <a:xfrm>
              <a:off x="-3834273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.638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82" name="Google Shape;982;p79"/>
            <p:cNvSpPr/>
            <p:nvPr/>
          </p:nvSpPr>
          <p:spPr>
            <a:xfrm>
              <a:off x="-331869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0.631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80"/>
          <p:cNvSpPr txBox="1"/>
          <p:nvPr>
            <p:ph idx="3" type="body"/>
          </p:nvPr>
        </p:nvSpPr>
        <p:spPr>
          <a:xfrm>
            <a:off x="365700" y="377525"/>
            <a:ext cx="7745700" cy="9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Arrestee_Race, </a:t>
            </a:r>
            <a:r>
              <a:rPr lang="en" sz="3000"/>
              <a:t> </a:t>
            </a:r>
            <a:r>
              <a:rPr lang="en" sz="3000"/>
              <a:t>Arrestee_Age</a:t>
            </a:r>
            <a:r>
              <a:rPr lang="en" sz="3000"/>
              <a:t>, </a:t>
            </a:r>
            <a:r>
              <a:rPr lang="en" sz="3000"/>
              <a:t>STATION_NA</a:t>
            </a:r>
            <a:endParaRPr sz="3000"/>
          </a:p>
        </p:txBody>
      </p:sp>
      <p:graphicFrame>
        <p:nvGraphicFramePr>
          <p:cNvPr id="988" name="Google Shape;988;p80"/>
          <p:cNvGraphicFramePr/>
          <p:nvPr/>
        </p:nvGraphicFramePr>
        <p:xfrm>
          <a:off x="442600" y="1054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{CABB4C81-0042-400D-8A47-4D123343D0ED}</a:tableStyleId>
              </a:tblPr>
              <a:tblGrid>
                <a:gridCol w="664900"/>
                <a:gridCol w="514925"/>
                <a:gridCol w="589900"/>
                <a:gridCol w="709900"/>
                <a:gridCol w="334900"/>
                <a:gridCol w="724925"/>
                <a:gridCol w="589900"/>
                <a:gridCol w="589900"/>
                <a:gridCol w="589900"/>
                <a:gridCol w="329050"/>
                <a:gridCol w="740775"/>
                <a:gridCol w="699900"/>
                <a:gridCol w="589900"/>
                <a:gridCol w="589900"/>
              </a:tblGrid>
              <a:tr h="6507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75.37%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Predicted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76.00%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Predicted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68.34%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Predicted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574550">
                <a:tc row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Actual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6511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1540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813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Actual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6875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1277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712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Actual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6767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1146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951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752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868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5800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251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1064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5544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311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1997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4385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537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7455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705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703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2626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892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501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2641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1227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416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2391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574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J48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Decision Table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Naive Bayes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 hMerge="1"/>
                <a:tc hMerge="1"/>
              </a:tr>
            </a:tbl>
          </a:graphicData>
        </a:graphic>
      </p:graphicFrame>
      <p:graphicFrame>
        <p:nvGraphicFramePr>
          <p:cNvPr id="989" name="Google Shape;989;p80"/>
          <p:cNvGraphicFramePr/>
          <p:nvPr/>
        </p:nvGraphicFramePr>
        <p:xfrm>
          <a:off x="442625" y="4214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{CABB4C81-0042-400D-8A47-4D123343D0ED}</a:tableStyleId>
              </a:tblPr>
              <a:tblGrid>
                <a:gridCol w="1051500"/>
                <a:gridCol w="759225"/>
                <a:gridCol w="815600"/>
                <a:gridCol w="677175"/>
                <a:gridCol w="825875"/>
                <a:gridCol w="825875"/>
                <a:gridCol w="825875"/>
                <a:gridCol w="825875"/>
                <a:gridCol w="825875"/>
                <a:gridCol w="825875"/>
              </a:tblGrid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hakra Petch Medium"/>
                          <a:ea typeface="Chakra Petch Medium"/>
                          <a:cs typeface="Chakra Petch Medium"/>
                          <a:sym typeface="Chakra Petch Medium"/>
                        </a:rPr>
                        <a:t>Big Model</a:t>
                      </a:r>
                      <a:endParaRPr sz="1000">
                        <a:latin typeface="Chakra Petch Medium"/>
                        <a:ea typeface="Chakra Petch Medium"/>
                        <a:cs typeface="Chakra Petch Medium"/>
                        <a:sym typeface="Chakra Petch Medium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hakra Petch Medium"/>
                          <a:ea typeface="Chakra Petch Medium"/>
                          <a:cs typeface="Chakra Petch Medium"/>
                          <a:sym typeface="Chakra Petch Medium"/>
                        </a:rPr>
                        <a:t>Accuracy</a:t>
                      </a:r>
                      <a:endParaRPr sz="1000">
                        <a:latin typeface="Chakra Petch Medium"/>
                        <a:ea typeface="Chakra Petch Medium"/>
                        <a:cs typeface="Chakra Petch Medium"/>
                        <a:sym typeface="Chakra Petch Medium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hakra Petch Medium"/>
                          <a:ea typeface="Chakra Petch Medium"/>
                          <a:cs typeface="Chakra Petch Medium"/>
                          <a:sym typeface="Chakra Petch Medium"/>
                        </a:rPr>
                        <a:t>TP Rate</a:t>
                      </a:r>
                      <a:endParaRPr sz="1000">
                        <a:latin typeface="Chakra Petch Medium"/>
                        <a:ea typeface="Chakra Petch Medium"/>
                        <a:cs typeface="Chakra Petch Medium"/>
                        <a:sym typeface="Chakra Petch Medium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hakra Petch Medium"/>
                          <a:ea typeface="Chakra Petch Medium"/>
                          <a:cs typeface="Chakra Petch Medium"/>
                          <a:sym typeface="Chakra Petch Medium"/>
                        </a:rPr>
                        <a:t>FP Rate</a:t>
                      </a:r>
                      <a:endParaRPr sz="1000">
                        <a:latin typeface="Chakra Petch Medium"/>
                        <a:ea typeface="Chakra Petch Medium"/>
                        <a:cs typeface="Chakra Petch Medium"/>
                        <a:sym typeface="Chakra Petch Medium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hakra Petch Medium"/>
                          <a:ea typeface="Chakra Petch Medium"/>
                          <a:cs typeface="Chakra Petch Medium"/>
                          <a:sym typeface="Chakra Petch Medium"/>
                        </a:rPr>
                        <a:t>Precision</a:t>
                      </a:r>
                      <a:endParaRPr sz="1000">
                        <a:latin typeface="Chakra Petch Medium"/>
                        <a:ea typeface="Chakra Petch Medium"/>
                        <a:cs typeface="Chakra Petch Medium"/>
                        <a:sym typeface="Chakra Petch Medium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hakra Petch Medium"/>
                          <a:ea typeface="Chakra Petch Medium"/>
                          <a:cs typeface="Chakra Petch Medium"/>
                          <a:sym typeface="Chakra Petch Medium"/>
                        </a:rPr>
                        <a:t>Recall</a:t>
                      </a:r>
                      <a:endParaRPr sz="1000">
                        <a:latin typeface="Chakra Petch Medium"/>
                        <a:ea typeface="Chakra Petch Medium"/>
                        <a:cs typeface="Chakra Petch Medium"/>
                        <a:sym typeface="Chakra Petch Medium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hakra Petch Medium"/>
                          <a:ea typeface="Chakra Petch Medium"/>
                          <a:cs typeface="Chakra Petch Medium"/>
                          <a:sym typeface="Chakra Petch Medium"/>
                        </a:rPr>
                        <a:t>F-Measure</a:t>
                      </a:r>
                      <a:endParaRPr sz="1000">
                        <a:latin typeface="Chakra Petch Medium"/>
                        <a:ea typeface="Chakra Petch Medium"/>
                        <a:cs typeface="Chakra Petch Medium"/>
                        <a:sym typeface="Chakra Petch Medium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hakra Petch Medium"/>
                          <a:ea typeface="Chakra Petch Medium"/>
                          <a:cs typeface="Chakra Petch Medium"/>
                          <a:sym typeface="Chakra Petch Medium"/>
                        </a:rPr>
                        <a:t>MCC</a:t>
                      </a:r>
                      <a:endParaRPr sz="1000">
                        <a:latin typeface="Chakra Petch Medium"/>
                        <a:ea typeface="Chakra Petch Medium"/>
                        <a:cs typeface="Chakra Petch Medium"/>
                        <a:sym typeface="Chakra Petch Medium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hakra Petch Medium"/>
                          <a:ea typeface="Chakra Petch Medium"/>
                          <a:cs typeface="Chakra Petch Medium"/>
                          <a:sym typeface="Chakra Petch Medium"/>
                        </a:rPr>
                        <a:t>ROC Area</a:t>
                      </a:r>
                      <a:endParaRPr sz="1000">
                        <a:latin typeface="Chakra Petch Medium"/>
                        <a:ea typeface="Chakra Petch Medium"/>
                        <a:cs typeface="Chakra Petch Medium"/>
                        <a:sym typeface="Chakra Petch Medium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hakra Petch Medium"/>
                          <a:ea typeface="Chakra Petch Medium"/>
                          <a:cs typeface="Chakra Petch Medium"/>
                          <a:sym typeface="Chakra Petch Medium"/>
                        </a:rPr>
                        <a:t>PRC Area</a:t>
                      </a:r>
                      <a:endParaRPr sz="1000">
                        <a:latin typeface="Chakra Petch Medium"/>
                        <a:ea typeface="Chakra Petch Medium"/>
                        <a:cs typeface="Chakra Petch Medium"/>
                        <a:sym typeface="Chakra Petch Medium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40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Decision Table</a:t>
                      </a:r>
                      <a:endParaRPr sz="1000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76</a:t>
                      </a:r>
                      <a:endParaRPr sz="1000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0.76</a:t>
                      </a:r>
                      <a:endParaRPr sz="1000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0.141</a:t>
                      </a:r>
                      <a:endParaRPr sz="1000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0.759</a:t>
                      </a:r>
                      <a:endParaRPr sz="1000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0.76</a:t>
                      </a:r>
                      <a:endParaRPr sz="1000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0.759</a:t>
                      </a:r>
                      <a:endParaRPr sz="1000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0.62</a:t>
                      </a:r>
                      <a:endParaRPr sz="1000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0.875</a:t>
                      </a:r>
                      <a:endParaRPr sz="1000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0.797</a:t>
                      </a:r>
                      <a:endParaRPr sz="1000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81"/>
          <p:cNvSpPr txBox="1"/>
          <p:nvPr>
            <p:ph type="title"/>
          </p:nvPr>
        </p:nvSpPr>
        <p:spPr>
          <a:xfrm>
            <a:off x="232050" y="2112300"/>
            <a:ext cx="4309800" cy="265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</a:t>
            </a:r>
            <a:endParaRPr/>
          </a:p>
        </p:txBody>
      </p:sp>
      <p:grpSp>
        <p:nvGrpSpPr>
          <p:cNvPr id="995" name="Google Shape;995;p81"/>
          <p:cNvGrpSpPr/>
          <p:nvPr/>
        </p:nvGrpSpPr>
        <p:grpSpPr>
          <a:xfrm>
            <a:off x="4996251" y="2905250"/>
            <a:ext cx="3556889" cy="1656118"/>
            <a:chOff x="6746175" y="88175"/>
            <a:chExt cx="2318400" cy="1411504"/>
          </a:xfrm>
        </p:grpSpPr>
        <p:sp>
          <p:nvSpPr>
            <p:cNvPr id="996" name="Google Shape;996;p81"/>
            <p:cNvSpPr/>
            <p:nvPr/>
          </p:nvSpPr>
          <p:spPr>
            <a:xfrm>
              <a:off x="6746175" y="88179"/>
              <a:ext cx="2318400" cy="1411500"/>
            </a:xfrm>
            <a:prstGeom prst="rect">
              <a:avLst/>
            </a:prstGeom>
            <a:solidFill>
              <a:schemeClr val="dk1"/>
            </a:solidFill>
            <a:ln cap="flat" cmpd="sng" w="11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42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97" name="Google Shape;997;p81"/>
            <p:cNvSpPr txBox="1"/>
            <p:nvPr/>
          </p:nvSpPr>
          <p:spPr>
            <a:xfrm>
              <a:off x="6746175" y="88175"/>
              <a:ext cx="2318400" cy="232500"/>
            </a:xfrm>
            <a:prstGeom prst="rect">
              <a:avLst/>
            </a:prstGeom>
            <a:solidFill>
              <a:srgbClr val="FFFFFF">
                <a:alpha val="50000"/>
              </a:srgbClr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7250" lIns="107250" spcFirstLastPara="1" rIns="107250" wrap="square" tIns="107250">
              <a:noAutofit/>
            </a:bodyPr>
            <a:lstStyle/>
            <a:p>
              <a:pPr indent="0" lvl="0" marL="0" rtl="0" algn="l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7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COMPARISON </a:t>
              </a:r>
              <a:r>
                <a:rPr lang="en" sz="603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so you don’t have to remember</a:t>
              </a:r>
              <a:endParaRPr sz="60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998" name="Google Shape;998;p81"/>
          <p:cNvGrpSpPr/>
          <p:nvPr/>
        </p:nvGrpSpPr>
        <p:grpSpPr>
          <a:xfrm>
            <a:off x="5064296" y="3243411"/>
            <a:ext cx="3432520" cy="188700"/>
            <a:chOff x="2181936" y="3161368"/>
            <a:chExt cx="2607109" cy="188700"/>
          </a:xfrm>
        </p:grpSpPr>
        <p:sp>
          <p:nvSpPr>
            <p:cNvPr id="999" name="Google Shape;999;p81"/>
            <p:cNvSpPr/>
            <p:nvPr/>
          </p:nvSpPr>
          <p:spPr>
            <a:xfrm>
              <a:off x="2181936" y="3161368"/>
              <a:ext cx="792300" cy="188700"/>
            </a:xfrm>
            <a:prstGeom prst="rect">
              <a:avLst/>
            </a:prstGeom>
            <a:solidFill>
              <a:schemeClr val="lt2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Model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00" name="Google Shape;1000;p81"/>
            <p:cNvSpPr/>
            <p:nvPr/>
          </p:nvSpPr>
          <p:spPr>
            <a:xfrm>
              <a:off x="3036764" y="3161368"/>
              <a:ext cx="542400" cy="188700"/>
            </a:xfrm>
            <a:prstGeom prst="rect">
              <a:avLst/>
            </a:prstGeom>
            <a:solidFill>
              <a:schemeClr val="lt2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Acc.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01" name="Google Shape;1001;p81"/>
            <p:cNvSpPr/>
            <p:nvPr/>
          </p:nvSpPr>
          <p:spPr>
            <a:xfrm>
              <a:off x="3641697" y="3161368"/>
              <a:ext cx="542400" cy="188700"/>
            </a:xfrm>
            <a:prstGeom prst="rect">
              <a:avLst/>
            </a:prstGeom>
            <a:solidFill>
              <a:schemeClr val="lt2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Prec.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02" name="Google Shape;1002;p81"/>
            <p:cNvSpPr/>
            <p:nvPr/>
          </p:nvSpPr>
          <p:spPr>
            <a:xfrm>
              <a:off x="4246645" y="3161368"/>
              <a:ext cx="542400" cy="188700"/>
            </a:xfrm>
            <a:prstGeom prst="rect">
              <a:avLst/>
            </a:prstGeom>
            <a:solidFill>
              <a:schemeClr val="lt2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Recall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003" name="Google Shape;1003;p81"/>
          <p:cNvGrpSpPr/>
          <p:nvPr/>
        </p:nvGrpSpPr>
        <p:grpSpPr>
          <a:xfrm>
            <a:off x="5063757" y="3510277"/>
            <a:ext cx="3432800" cy="188667"/>
            <a:chOff x="-5078419" y="986625"/>
            <a:chExt cx="2222021" cy="160800"/>
          </a:xfrm>
        </p:grpSpPr>
        <p:sp>
          <p:nvSpPr>
            <p:cNvPr id="1004" name="Google Shape;1004;p81"/>
            <p:cNvSpPr/>
            <p:nvPr/>
          </p:nvSpPr>
          <p:spPr>
            <a:xfrm>
              <a:off x="-5078419" y="986625"/>
              <a:ext cx="675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J48 </a:t>
              </a: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Baseline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05" name="Google Shape;1005;p81"/>
            <p:cNvSpPr/>
            <p:nvPr/>
          </p:nvSpPr>
          <p:spPr>
            <a:xfrm>
              <a:off x="-434984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70.3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06" name="Google Shape;1006;p81"/>
            <p:cNvSpPr/>
            <p:nvPr/>
          </p:nvSpPr>
          <p:spPr>
            <a:xfrm>
              <a:off x="-3834273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0.705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07" name="Google Shape;1007;p81"/>
            <p:cNvSpPr/>
            <p:nvPr/>
          </p:nvSpPr>
          <p:spPr>
            <a:xfrm>
              <a:off x="-331869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0.703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008" name="Google Shape;1008;p81"/>
          <p:cNvGrpSpPr/>
          <p:nvPr/>
        </p:nvGrpSpPr>
        <p:grpSpPr>
          <a:xfrm>
            <a:off x="5058307" y="3777127"/>
            <a:ext cx="3432800" cy="188667"/>
            <a:chOff x="-5078419" y="986625"/>
            <a:chExt cx="2222021" cy="160800"/>
          </a:xfrm>
        </p:grpSpPr>
        <p:sp>
          <p:nvSpPr>
            <p:cNvPr id="1009" name="Google Shape;1009;p81"/>
            <p:cNvSpPr/>
            <p:nvPr/>
          </p:nvSpPr>
          <p:spPr>
            <a:xfrm>
              <a:off x="-5078419" y="986625"/>
              <a:ext cx="675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latin typeface="DM Sans"/>
                  <a:ea typeface="DM Sans"/>
                  <a:cs typeface="DM Sans"/>
                  <a:sym typeface="DM Sans"/>
                </a:rPr>
                <a:t>DTab </a:t>
              </a:r>
              <a:r>
                <a:rPr lang="en" sz="900">
                  <a:latin typeface="DM Sans"/>
                  <a:ea typeface="DM Sans"/>
                  <a:cs typeface="DM Sans"/>
                  <a:sym typeface="DM Sans"/>
                </a:rPr>
                <a:t>Baseline</a:t>
              </a:r>
              <a:endParaRPr sz="900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10" name="Google Shape;1010;p81"/>
            <p:cNvSpPr/>
            <p:nvPr/>
          </p:nvSpPr>
          <p:spPr>
            <a:xfrm>
              <a:off x="-434984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68.15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11" name="Google Shape;1011;p81"/>
            <p:cNvSpPr/>
            <p:nvPr/>
          </p:nvSpPr>
          <p:spPr>
            <a:xfrm>
              <a:off x="-3834273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0.697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12" name="Google Shape;1012;p81"/>
            <p:cNvSpPr/>
            <p:nvPr/>
          </p:nvSpPr>
          <p:spPr>
            <a:xfrm>
              <a:off x="-331869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0.682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013" name="Google Shape;1013;p81"/>
          <p:cNvGrpSpPr/>
          <p:nvPr/>
        </p:nvGrpSpPr>
        <p:grpSpPr>
          <a:xfrm>
            <a:off x="5064169" y="4043977"/>
            <a:ext cx="3432800" cy="188667"/>
            <a:chOff x="-5078419" y="986625"/>
            <a:chExt cx="2222021" cy="160800"/>
          </a:xfrm>
        </p:grpSpPr>
        <p:sp>
          <p:nvSpPr>
            <p:cNvPr id="1014" name="Google Shape;1014;p81"/>
            <p:cNvSpPr/>
            <p:nvPr/>
          </p:nvSpPr>
          <p:spPr>
            <a:xfrm>
              <a:off x="-5078419" y="986625"/>
              <a:ext cx="675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NB </a:t>
              </a: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Baseline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15" name="Google Shape;1015;p81"/>
            <p:cNvSpPr/>
            <p:nvPr/>
          </p:nvSpPr>
          <p:spPr>
            <a:xfrm>
              <a:off x="-434984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63.48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16" name="Google Shape;1016;p81"/>
            <p:cNvSpPr/>
            <p:nvPr/>
          </p:nvSpPr>
          <p:spPr>
            <a:xfrm>
              <a:off x="-3834273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0.657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17" name="Google Shape;1017;p81"/>
            <p:cNvSpPr/>
            <p:nvPr/>
          </p:nvSpPr>
          <p:spPr>
            <a:xfrm>
              <a:off x="-331869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0.635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018" name="Google Shape;1018;p81"/>
          <p:cNvGrpSpPr/>
          <p:nvPr/>
        </p:nvGrpSpPr>
        <p:grpSpPr>
          <a:xfrm>
            <a:off x="5058294" y="4310827"/>
            <a:ext cx="3432800" cy="188667"/>
            <a:chOff x="-5078419" y="986625"/>
            <a:chExt cx="2222021" cy="160800"/>
          </a:xfrm>
        </p:grpSpPr>
        <p:sp>
          <p:nvSpPr>
            <p:cNvPr id="1019" name="Google Shape;1019;p81"/>
            <p:cNvSpPr/>
            <p:nvPr/>
          </p:nvSpPr>
          <p:spPr>
            <a:xfrm>
              <a:off x="-5078419" y="986625"/>
              <a:ext cx="675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latin typeface="DM Sans"/>
                  <a:ea typeface="DM Sans"/>
                  <a:cs typeface="DM Sans"/>
                  <a:sym typeface="DM Sans"/>
                </a:rPr>
                <a:t>DTab (NB)</a:t>
              </a:r>
              <a:endParaRPr sz="900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20" name="Google Shape;1020;p81"/>
            <p:cNvSpPr/>
            <p:nvPr/>
          </p:nvSpPr>
          <p:spPr>
            <a:xfrm>
              <a:off x="-434984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70.51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21" name="Google Shape;1021;p81"/>
            <p:cNvSpPr/>
            <p:nvPr/>
          </p:nvSpPr>
          <p:spPr>
            <a:xfrm>
              <a:off x="-3834273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0.678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22" name="Google Shape;1022;p81"/>
            <p:cNvSpPr/>
            <p:nvPr/>
          </p:nvSpPr>
          <p:spPr>
            <a:xfrm>
              <a:off x="-331869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0.679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82"/>
          <p:cNvSpPr txBox="1"/>
          <p:nvPr>
            <p:ph idx="3" type="body"/>
          </p:nvPr>
        </p:nvSpPr>
        <p:spPr>
          <a:xfrm>
            <a:off x="365700" y="377525"/>
            <a:ext cx="7475400" cy="9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Arrestee_Race</a:t>
            </a:r>
            <a:r>
              <a:rPr lang="en" sz="3000"/>
              <a:t>,</a:t>
            </a:r>
            <a:r>
              <a:rPr lang="en" sz="3000"/>
              <a:t> Arrestee_Sex</a:t>
            </a:r>
            <a:r>
              <a:rPr lang="en" sz="3000"/>
              <a:t>,</a:t>
            </a:r>
            <a:r>
              <a:rPr lang="en" sz="3000"/>
              <a:t> PSA</a:t>
            </a:r>
            <a:endParaRPr sz="3000"/>
          </a:p>
        </p:txBody>
      </p:sp>
      <p:graphicFrame>
        <p:nvGraphicFramePr>
          <p:cNvPr id="1028" name="Google Shape;1028;p82"/>
          <p:cNvGraphicFramePr/>
          <p:nvPr/>
        </p:nvGraphicFramePr>
        <p:xfrm>
          <a:off x="442600" y="1054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{CABB4C81-0042-400D-8A47-4D123343D0ED}</a:tableStyleId>
              </a:tblPr>
              <a:tblGrid>
                <a:gridCol w="664900"/>
                <a:gridCol w="514925"/>
                <a:gridCol w="589900"/>
                <a:gridCol w="709900"/>
                <a:gridCol w="334900"/>
                <a:gridCol w="724925"/>
                <a:gridCol w="589900"/>
                <a:gridCol w="589900"/>
                <a:gridCol w="589900"/>
                <a:gridCol w="329050"/>
                <a:gridCol w="740775"/>
                <a:gridCol w="699900"/>
                <a:gridCol w="589900"/>
                <a:gridCol w="589900"/>
              </a:tblGrid>
              <a:tr h="6507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83.59%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Predicted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83.70%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Predicted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80.98%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Predicted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574550">
                <a:tc row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Actual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7898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613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353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Actual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7925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565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374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Actual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7429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857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578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752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1097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5669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153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1093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5638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188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1084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5597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238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7455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739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297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2998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724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287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3023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669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344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3021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574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J48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Decision Table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Naive Bayes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 hMerge="1"/>
                <a:tc hMerge="1"/>
              </a:tr>
            </a:tbl>
          </a:graphicData>
        </a:graphic>
      </p:graphicFrame>
      <p:graphicFrame>
        <p:nvGraphicFramePr>
          <p:cNvPr id="1029" name="Google Shape;1029;p82"/>
          <p:cNvGraphicFramePr/>
          <p:nvPr/>
        </p:nvGraphicFramePr>
        <p:xfrm>
          <a:off x="442625" y="4214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{CABB4C81-0042-400D-8A47-4D123343D0ED}</a:tableStyleId>
              </a:tblPr>
              <a:tblGrid>
                <a:gridCol w="1051500"/>
                <a:gridCol w="759225"/>
                <a:gridCol w="815600"/>
                <a:gridCol w="677175"/>
                <a:gridCol w="825875"/>
                <a:gridCol w="825875"/>
                <a:gridCol w="825875"/>
                <a:gridCol w="825875"/>
                <a:gridCol w="825875"/>
                <a:gridCol w="825875"/>
              </a:tblGrid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hakra Petch Medium"/>
                          <a:ea typeface="Chakra Petch Medium"/>
                          <a:cs typeface="Chakra Petch Medium"/>
                          <a:sym typeface="Chakra Petch Medium"/>
                        </a:rPr>
                        <a:t>Big Model</a:t>
                      </a:r>
                      <a:endParaRPr sz="1000">
                        <a:latin typeface="Chakra Petch Medium"/>
                        <a:ea typeface="Chakra Petch Medium"/>
                        <a:cs typeface="Chakra Petch Medium"/>
                        <a:sym typeface="Chakra Petch Medium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hakra Petch Medium"/>
                          <a:ea typeface="Chakra Petch Medium"/>
                          <a:cs typeface="Chakra Petch Medium"/>
                          <a:sym typeface="Chakra Petch Medium"/>
                        </a:rPr>
                        <a:t>Accuracy</a:t>
                      </a:r>
                      <a:endParaRPr sz="1000">
                        <a:latin typeface="Chakra Petch Medium"/>
                        <a:ea typeface="Chakra Petch Medium"/>
                        <a:cs typeface="Chakra Petch Medium"/>
                        <a:sym typeface="Chakra Petch Medium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hakra Petch Medium"/>
                          <a:ea typeface="Chakra Petch Medium"/>
                          <a:cs typeface="Chakra Petch Medium"/>
                          <a:sym typeface="Chakra Petch Medium"/>
                        </a:rPr>
                        <a:t>TP Rate</a:t>
                      </a:r>
                      <a:endParaRPr sz="1000">
                        <a:latin typeface="Chakra Petch Medium"/>
                        <a:ea typeface="Chakra Petch Medium"/>
                        <a:cs typeface="Chakra Petch Medium"/>
                        <a:sym typeface="Chakra Petch Medium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hakra Petch Medium"/>
                          <a:ea typeface="Chakra Petch Medium"/>
                          <a:cs typeface="Chakra Petch Medium"/>
                          <a:sym typeface="Chakra Petch Medium"/>
                        </a:rPr>
                        <a:t>FP Rate</a:t>
                      </a:r>
                      <a:endParaRPr sz="1000">
                        <a:latin typeface="Chakra Petch Medium"/>
                        <a:ea typeface="Chakra Petch Medium"/>
                        <a:cs typeface="Chakra Petch Medium"/>
                        <a:sym typeface="Chakra Petch Medium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hakra Petch Medium"/>
                          <a:ea typeface="Chakra Petch Medium"/>
                          <a:cs typeface="Chakra Petch Medium"/>
                          <a:sym typeface="Chakra Petch Medium"/>
                        </a:rPr>
                        <a:t>Precision</a:t>
                      </a:r>
                      <a:endParaRPr sz="1000">
                        <a:latin typeface="Chakra Petch Medium"/>
                        <a:ea typeface="Chakra Petch Medium"/>
                        <a:cs typeface="Chakra Petch Medium"/>
                        <a:sym typeface="Chakra Petch Medium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hakra Petch Medium"/>
                          <a:ea typeface="Chakra Petch Medium"/>
                          <a:cs typeface="Chakra Petch Medium"/>
                          <a:sym typeface="Chakra Petch Medium"/>
                        </a:rPr>
                        <a:t>Recall</a:t>
                      </a:r>
                      <a:endParaRPr sz="1000">
                        <a:latin typeface="Chakra Petch Medium"/>
                        <a:ea typeface="Chakra Petch Medium"/>
                        <a:cs typeface="Chakra Petch Medium"/>
                        <a:sym typeface="Chakra Petch Medium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hakra Petch Medium"/>
                          <a:ea typeface="Chakra Petch Medium"/>
                          <a:cs typeface="Chakra Petch Medium"/>
                          <a:sym typeface="Chakra Petch Medium"/>
                        </a:rPr>
                        <a:t>F-Measure</a:t>
                      </a:r>
                      <a:endParaRPr sz="1000">
                        <a:latin typeface="Chakra Petch Medium"/>
                        <a:ea typeface="Chakra Petch Medium"/>
                        <a:cs typeface="Chakra Petch Medium"/>
                        <a:sym typeface="Chakra Petch Medium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hakra Petch Medium"/>
                          <a:ea typeface="Chakra Petch Medium"/>
                          <a:cs typeface="Chakra Petch Medium"/>
                          <a:sym typeface="Chakra Petch Medium"/>
                        </a:rPr>
                        <a:t>MCC</a:t>
                      </a:r>
                      <a:endParaRPr sz="1000">
                        <a:latin typeface="Chakra Petch Medium"/>
                        <a:ea typeface="Chakra Petch Medium"/>
                        <a:cs typeface="Chakra Petch Medium"/>
                        <a:sym typeface="Chakra Petch Medium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hakra Petch Medium"/>
                          <a:ea typeface="Chakra Petch Medium"/>
                          <a:cs typeface="Chakra Petch Medium"/>
                          <a:sym typeface="Chakra Petch Medium"/>
                        </a:rPr>
                        <a:t>ROC Area</a:t>
                      </a:r>
                      <a:endParaRPr sz="1000">
                        <a:latin typeface="Chakra Petch Medium"/>
                        <a:ea typeface="Chakra Petch Medium"/>
                        <a:cs typeface="Chakra Petch Medium"/>
                        <a:sym typeface="Chakra Petch Medium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hakra Petch Medium"/>
                          <a:ea typeface="Chakra Petch Medium"/>
                          <a:cs typeface="Chakra Petch Medium"/>
                          <a:sym typeface="Chakra Petch Medium"/>
                        </a:rPr>
                        <a:t>PRC Area</a:t>
                      </a:r>
                      <a:endParaRPr sz="1000">
                        <a:latin typeface="Chakra Petch Medium"/>
                        <a:ea typeface="Chakra Petch Medium"/>
                        <a:cs typeface="Chakra Petch Medium"/>
                        <a:sym typeface="Chakra Petch Medium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40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Decision Table</a:t>
                      </a:r>
                      <a:endParaRPr sz="1000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83.7</a:t>
                      </a:r>
                      <a:endParaRPr sz="1000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0.837</a:t>
                      </a:r>
                      <a:endParaRPr sz="1000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0.105</a:t>
                      </a:r>
                      <a:endParaRPr sz="1000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0.839</a:t>
                      </a:r>
                      <a:endParaRPr sz="1000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0.837</a:t>
                      </a:r>
                      <a:endParaRPr sz="1000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0.836</a:t>
                      </a:r>
                      <a:endParaRPr sz="1000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0.741</a:t>
                      </a:r>
                      <a:endParaRPr sz="1000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0.918</a:t>
                      </a:r>
                      <a:endParaRPr sz="1000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0.864</a:t>
                      </a:r>
                      <a:endParaRPr sz="1000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  <p:sp>
        <p:nvSpPr>
          <p:cNvPr id="1030" name="Google Shape;1030;p82"/>
          <p:cNvSpPr/>
          <p:nvPr/>
        </p:nvSpPr>
        <p:spPr>
          <a:xfrm rot="399181">
            <a:off x="6787968" y="444430"/>
            <a:ext cx="1820358" cy="440959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Best Model!</a:t>
            </a:r>
            <a:endParaRPr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(and first attb. set chosen)</a:t>
            </a:r>
            <a:endParaRPr sz="10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83"/>
          <p:cNvSpPr txBox="1"/>
          <p:nvPr>
            <p:ph type="title"/>
          </p:nvPr>
        </p:nvSpPr>
        <p:spPr>
          <a:xfrm>
            <a:off x="664525" y="2164800"/>
            <a:ext cx="7941000" cy="81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84"/>
          <p:cNvSpPr txBox="1"/>
          <p:nvPr>
            <p:ph idx="3" type="body"/>
          </p:nvPr>
        </p:nvSpPr>
        <p:spPr>
          <a:xfrm>
            <a:off x="363275" y="384925"/>
            <a:ext cx="3987900" cy="9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Model Results</a:t>
            </a:r>
            <a:endParaRPr sz="4600"/>
          </a:p>
        </p:txBody>
      </p:sp>
      <p:sp>
        <p:nvSpPr>
          <p:cNvPr id="1041" name="Google Shape;1041;p84"/>
          <p:cNvSpPr txBox="1"/>
          <p:nvPr/>
        </p:nvSpPr>
        <p:spPr>
          <a:xfrm>
            <a:off x="423925" y="1157525"/>
            <a:ext cx="4070400" cy="30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M Sans"/>
              <a:buChar char="-"/>
            </a:pPr>
            <a:r>
              <a:rPr lang="en" sz="2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NB large model poor</a:t>
            </a:r>
            <a:endParaRPr sz="2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M Sans"/>
              <a:buChar char="-"/>
            </a:pPr>
            <a:r>
              <a:rPr lang="en" sz="2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Dtab best large model, J48 close behind</a:t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DM Sans"/>
              <a:buChar char="-"/>
            </a:pPr>
            <a:r>
              <a:rPr lang="en" sz="2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OneR &amp; NB submodels minimal improvement</a:t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M Sans"/>
              <a:buChar char="-"/>
            </a:pPr>
            <a:r>
              <a:rPr lang="en" sz="2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DT significant improvement</a:t>
            </a:r>
            <a:endParaRPr sz="2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042" name="Google Shape;1042;p84"/>
          <p:cNvGrpSpPr/>
          <p:nvPr/>
        </p:nvGrpSpPr>
        <p:grpSpPr>
          <a:xfrm>
            <a:off x="4572009" y="431763"/>
            <a:ext cx="4070493" cy="4279979"/>
            <a:chOff x="9446713" y="247783"/>
            <a:chExt cx="4318825" cy="4279979"/>
          </a:xfrm>
        </p:grpSpPr>
        <p:sp>
          <p:nvSpPr>
            <p:cNvPr id="1043" name="Google Shape;1043;p84"/>
            <p:cNvSpPr/>
            <p:nvPr/>
          </p:nvSpPr>
          <p:spPr>
            <a:xfrm>
              <a:off x="9446738" y="254862"/>
              <a:ext cx="4318800" cy="4272900"/>
            </a:xfrm>
            <a:prstGeom prst="rect">
              <a:avLst/>
            </a:prstGeom>
            <a:solidFill>
              <a:schemeClr val="dk1"/>
            </a:solidFill>
            <a:ln cap="flat" cmpd="sng" w="20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92400" lIns="192400" spcFirstLastPara="1" rIns="192400" wrap="square" tIns="1924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46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44" name="Google Shape;1044;p84"/>
            <p:cNvSpPr txBox="1"/>
            <p:nvPr/>
          </p:nvSpPr>
          <p:spPr>
            <a:xfrm>
              <a:off x="9446713" y="247783"/>
              <a:ext cx="4318800" cy="538500"/>
            </a:xfrm>
            <a:prstGeom prst="rect">
              <a:avLst/>
            </a:prstGeom>
            <a:solidFill>
              <a:srgbClr val="FFFFFF">
                <a:alpha val="50000"/>
              </a:srgbClr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92400" lIns="192400" spcFirstLastPara="1" rIns="192400" wrap="square" tIns="192400">
              <a:noAutofit/>
            </a:bodyPr>
            <a:lstStyle/>
            <a:p>
              <a:pPr indent="0" lvl="0" marL="0" rtl="0" algn="l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25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COMPARISON</a:t>
              </a:r>
              <a:r>
                <a:rPr lang="en" sz="983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 so you don’t have to remember</a:t>
              </a:r>
              <a:endParaRPr sz="98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045" name="Google Shape;1045;p84"/>
          <p:cNvGrpSpPr/>
          <p:nvPr/>
        </p:nvGrpSpPr>
        <p:grpSpPr>
          <a:xfrm>
            <a:off x="4639752" y="1047213"/>
            <a:ext cx="3934910" cy="223062"/>
            <a:chOff x="2181936" y="3161368"/>
            <a:chExt cx="2607109" cy="188700"/>
          </a:xfrm>
        </p:grpSpPr>
        <p:sp>
          <p:nvSpPr>
            <p:cNvPr id="1046" name="Google Shape;1046;p84"/>
            <p:cNvSpPr/>
            <p:nvPr/>
          </p:nvSpPr>
          <p:spPr>
            <a:xfrm>
              <a:off x="2181936" y="3161368"/>
              <a:ext cx="792300" cy="188700"/>
            </a:xfrm>
            <a:prstGeom prst="rect">
              <a:avLst/>
            </a:prstGeom>
            <a:solidFill>
              <a:schemeClr val="lt2"/>
            </a:solidFill>
            <a:ln cap="flat" cmpd="sng" w="136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0450" lIns="130450" spcFirstLastPara="1" rIns="130450" wrap="square" tIns="130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41">
                  <a:latin typeface="DM Sans"/>
                  <a:ea typeface="DM Sans"/>
                  <a:cs typeface="DM Sans"/>
                  <a:sym typeface="DM Sans"/>
                </a:rPr>
                <a:t>Model</a:t>
              </a:r>
              <a:endParaRPr sz="1141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47" name="Google Shape;1047;p84"/>
            <p:cNvSpPr/>
            <p:nvPr/>
          </p:nvSpPr>
          <p:spPr>
            <a:xfrm>
              <a:off x="3036764" y="3161368"/>
              <a:ext cx="542400" cy="188700"/>
            </a:xfrm>
            <a:prstGeom prst="rect">
              <a:avLst/>
            </a:prstGeom>
            <a:solidFill>
              <a:schemeClr val="lt2"/>
            </a:solidFill>
            <a:ln cap="flat" cmpd="sng" w="136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0450" lIns="130450" spcFirstLastPara="1" rIns="130450" wrap="square" tIns="130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41">
                  <a:latin typeface="DM Sans"/>
                  <a:ea typeface="DM Sans"/>
                  <a:cs typeface="DM Sans"/>
                  <a:sym typeface="DM Sans"/>
                </a:rPr>
                <a:t>Acc.</a:t>
              </a:r>
              <a:endParaRPr sz="1141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48" name="Google Shape;1048;p84"/>
            <p:cNvSpPr/>
            <p:nvPr/>
          </p:nvSpPr>
          <p:spPr>
            <a:xfrm>
              <a:off x="3641697" y="3161368"/>
              <a:ext cx="542400" cy="188700"/>
            </a:xfrm>
            <a:prstGeom prst="rect">
              <a:avLst/>
            </a:prstGeom>
            <a:solidFill>
              <a:schemeClr val="lt2"/>
            </a:solidFill>
            <a:ln cap="flat" cmpd="sng" w="136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0450" lIns="130450" spcFirstLastPara="1" rIns="130450" wrap="square" tIns="130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41">
                  <a:latin typeface="DM Sans"/>
                  <a:ea typeface="DM Sans"/>
                  <a:cs typeface="DM Sans"/>
                  <a:sym typeface="DM Sans"/>
                </a:rPr>
                <a:t>Prec.</a:t>
              </a:r>
              <a:endParaRPr sz="1141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49" name="Google Shape;1049;p84"/>
            <p:cNvSpPr/>
            <p:nvPr/>
          </p:nvSpPr>
          <p:spPr>
            <a:xfrm>
              <a:off x="4246645" y="3161368"/>
              <a:ext cx="542400" cy="188700"/>
            </a:xfrm>
            <a:prstGeom prst="rect">
              <a:avLst/>
            </a:prstGeom>
            <a:solidFill>
              <a:schemeClr val="lt2"/>
            </a:solidFill>
            <a:ln cap="flat" cmpd="sng" w="136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0450" lIns="130450" spcFirstLastPara="1" rIns="130450" wrap="square" tIns="130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41">
                  <a:latin typeface="DM Sans"/>
                  <a:ea typeface="DM Sans"/>
                  <a:cs typeface="DM Sans"/>
                  <a:sym typeface="DM Sans"/>
                </a:rPr>
                <a:t>Recall</a:t>
              </a:r>
              <a:endParaRPr sz="1141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050" name="Google Shape;1050;p84"/>
          <p:cNvGrpSpPr/>
          <p:nvPr/>
        </p:nvGrpSpPr>
        <p:grpSpPr>
          <a:xfrm>
            <a:off x="4639396" y="2178319"/>
            <a:ext cx="3935421" cy="223030"/>
            <a:chOff x="-5078419" y="986625"/>
            <a:chExt cx="2222021" cy="160800"/>
          </a:xfrm>
        </p:grpSpPr>
        <p:sp>
          <p:nvSpPr>
            <p:cNvPr id="1051" name="Google Shape;1051;p84"/>
            <p:cNvSpPr/>
            <p:nvPr/>
          </p:nvSpPr>
          <p:spPr>
            <a:xfrm>
              <a:off x="-5078419" y="986625"/>
              <a:ext cx="675300" cy="160800"/>
            </a:xfrm>
            <a:prstGeom prst="rect">
              <a:avLst/>
            </a:prstGeom>
            <a:solidFill>
              <a:srgbClr val="FFD4CB"/>
            </a:solidFill>
            <a:ln cap="flat" cmpd="sng" w="136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0450" lIns="130450" spcFirstLastPara="1" rIns="130450" wrap="square" tIns="130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41">
                  <a:latin typeface="DM Sans"/>
                  <a:ea typeface="DM Sans"/>
                  <a:cs typeface="DM Sans"/>
                  <a:sym typeface="DM Sans"/>
                </a:rPr>
                <a:t>J48 (OneR)</a:t>
              </a:r>
              <a:endParaRPr sz="1141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52" name="Google Shape;1052;p84"/>
            <p:cNvSpPr/>
            <p:nvPr/>
          </p:nvSpPr>
          <p:spPr>
            <a:xfrm>
              <a:off x="-434984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36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0450" lIns="130450" spcFirstLastPara="1" rIns="130450" wrap="square" tIns="130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41">
                  <a:latin typeface="DM Sans"/>
                  <a:ea typeface="DM Sans"/>
                  <a:cs typeface="DM Sans"/>
                  <a:sym typeface="DM Sans"/>
                </a:rPr>
                <a:t>69.2</a:t>
              </a:r>
              <a:endParaRPr sz="1141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53" name="Google Shape;1053;p84"/>
            <p:cNvSpPr/>
            <p:nvPr/>
          </p:nvSpPr>
          <p:spPr>
            <a:xfrm>
              <a:off x="-3834273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36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0450" lIns="130450" spcFirstLastPara="1" rIns="130450" wrap="square" tIns="130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41">
                  <a:latin typeface="DM Sans"/>
                  <a:ea typeface="DM Sans"/>
                  <a:cs typeface="DM Sans"/>
                  <a:sym typeface="DM Sans"/>
                </a:rPr>
                <a:t>0.694</a:t>
              </a:r>
              <a:endParaRPr sz="1141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54" name="Google Shape;1054;p84"/>
            <p:cNvSpPr/>
            <p:nvPr/>
          </p:nvSpPr>
          <p:spPr>
            <a:xfrm>
              <a:off x="-331869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36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0450" lIns="130450" spcFirstLastPara="1" rIns="130450" wrap="square" tIns="130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41">
                  <a:latin typeface="DM Sans"/>
                  <a:ea typeface="DM Sans"/>
                  <a:cs typeface="DM Sans"/>
                  <a:sym typeface="DM Sans"/>
                </a:rPr>
                <a:t>0.692</a:t>
              </a:r>
              <a:endParaRPr sz="1141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055" name="Google Shape;1055;p84"/>
          <p:cNvGrpSpPr/>
          <p:nvPr/>
        </p:nvGrpSpPr>
        <p:grpSpPr>
          <a:xfrm>
            <a:off x="4639396" y="2461365"/>
            <a:ext cx="3935421" cy="223030"/>
            <a:chOff x="-5078419" y="986625"/>
            <a:chExt cx="2222021" cy="160800"/>
          </a:xfrm>
        </p:grpSpPr>
        <p:sp>
          <p:nvSpPr>
            <p:cNvPr id="1056" name="Google Shape;1056;p84"/>
            <p:cNvSpPr/>
            <p:nvPr/>
          </p:nvSpPr>
          <p:spPr>
            <a:xfrm>
              <a:off x="-5078419" y="986625"/>
              <a:ext cx="675300" cy="160800"/>
            </a:xfrm>
            <a:prstGeom prst="rect">
              <a:avLst/>
            </a:prstGeom>
            <a:solidFill>
              <a:srgbClr val="FFD4CB"/>
            </a:solidFill>
            <a:ln cap="flat" cmpd="sng" w="136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0450" lIns="130450" spcFirstLastPara="1" rIns="130450" wrap="square" tIns="130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41">
                  <a:latin typeface="DM Sans"/>
                  <a:ea typeface="DM Sans"/>
                  <a:cs typeface="DM Sans"/>
                  <a:sym typeface="DM Sans"/>
                </a:rPr>
                <a:t>DTab (OneR)</a:t>
              </a:r>
              <a:endParaRPr sz="1141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57" name="Google Shape;1057;p84"/>
            <p:cNvSpPr/>
            <p:nvPr/>
          </p:nvSpPr>
          <p:spPr>
            <a:xfrm>
              <a:off x="-434984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36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0450" lIns="130450" spcFirstLastPara="1" rIns="130450" wrap="square" tIns="130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41">
                  <a:latin typeface="DM Sans"/>
                  <a:ea typeface="DM Sans"/>
                  <a:cs typeface="DM Sans"/>
                  <a:sym typeface="DM Sans"/>
                </a:rPr>
                <a:t>69.67</a:t>
              </a:r>
              <a:endParaRPr sz="1141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58" name="Google Shape;1058;p84"/>
            <p:cNvSpPr/>
            <p:nvPr/>
          </p:nvSpPr>
          <p:spPr>
            <a:xfrm>
              <a:off x="-3834273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36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0450" lIns="130450" spcFirstLastPara="1" rIns="130450" wrap="square" tIns="130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41">
                  <a:latin typeface="DM Sans"/>
                  <a:ea typeface="DM Sans"/>
                  <a:cs typeface="DM Sans"/>
                  <a:sym typeface="DM Sans"/>
                </a:rPr>
                <a:t>0.700</a:t>
              </a:r>
              <a:endParaRPr sz="1141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59" name="Google Shape;1059;p84"/>
            <p:cNvSpPr/>
            <p:nvPr/>
          </p:nvSpPr>
          <p:spPr>
            <a:xfrm>
              <a:off x="-331869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36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0450" lIns="130450" spcFirstLastPara="1" rIns="130450" wrap="square" tIns="130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41">
                  <a:latin typeface="DM Sans"/>
                  <a:ea typeface="DM Sans"/>
                  <a:cs typeface="DM Sans"/>
                  <a:sym typeface="DM Sans"/>
                </a:rPr>
                <a:t>0.697</a:t>
              </a:r>
              <a:endParaRPr sz="1141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060" name="Google Shape;1060;p84"/>
          <p:cNvGrpSpPr/>
          <p:nvPr/>
        </p:nvGrpSpPr>
        <p:grpSpPr>
          <a:xfrm>
            <a:off x="4639396" y="2744411"/>
            <a:ext cx="3935421" cy="223030"/>
            <a:chOff x="-5078419" y="986625"/>
            <a:chExt cx="2222021" cy="160800"/>
          </a:xfrm>
        </p:grpSpPr>
        <p:sp>
          <p:nvSpPr>
            <p:cNvPr id="1061" name="Google Shape;1061;p84"/>
            <p:cNvSpPr/>
            <p:nvPr/>
          </p:nvSpPr>
          <p:spPr>
            <a:xfrm>
              <a:off x="-5078419" y="986625"/>
              <a:ext cx="675300" cy="160800"/>
            </a:xfrm>
            <a:prstGeom prst="rect">
              <a:avLst/>
            </a:prstGeom>
            <a:solidFill>
              <a:srgbClr val="FFD4CB"/>
            </a:solidFill>
            <a:ln cap="flat" cmpd="sng" w="136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0450" lIns="130450" spcFirstLastPara="1" rIns="130450" wrap="square" tIns="130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41">
                  <a:latin typeface="DM Sans"/>
                  <a:ea typeface="DM Sans"/>
                  <a:cs typeface="DM Sans"/>
                  <a:sym typeface="DM Sans"/>
                </a:rPr>
                <a:t>NB (OneR)</a:t>
              </a:r>
              <a:endParaRPr sz="1141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62" name="Google Shape;1062;p84"/>
            <p:cNvSpPr/>
            <p:nvPr/>
          </p:nvSpPr>
          <p:spPr>
            <a:xfrm>
              <a:off x="-434984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36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0450" lIns="130450" spcFirstLastPara="1" rIns="130450" wrap="square" tIns="130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41">
                  <a:latin typeface="DM Sans"/>
                  <a:ea typeface="DM Sans"/>
                  <a:cs typeface="DM Sans"/>
                  <a:sym typeface="DM Sans"/>
                </a:rPr>
                <a:t>63.09</a:t>
              </a:r>
              <a:endParaRPr sz="1141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63" name="Google Shape;1063;p84"/>
            <p:cNvSpPr/>
            <p:nvPr/>
          </p:nvSpPr>
          <p:spPr>
            <a:xfrm>
              <a:off x="-3834273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36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0450" lIns="130450" spcFirstLastPara="1" rIns="130450" wrap="square" tIns="130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41">
                  <a:latin typeface="DM Sans"/>
                  <a:ea typeface="DM Sans"/>
                  <a:cs typeface="DM Sans"/>
                  <a:sym typeface="DM Sans"/>
                </a:rPr>
                <a:t>.638</a:t>
              </a:r>
              <a:endParaRPr sz="1141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64" name="Google Shape;1064;p84"/>
            <p:cNvSpPr/>
            <p:nvPr/>
          </p:nvSpPr>
          <p:spPr>
            <a:xfrm>
              <a:off x="-331869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36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0450" lIns="130450" spcFirstLastPara="1" rIns="130450" wrap="square" tIns="130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41">
                  <a:latin typeface="DM Sans"/>
                  <a:ea typeface="DM Sans"/>
                  <a:cs typeface="DM Sans"/>
                  <a:sym typeface="DM Sans"/>
                </a:rPr>
                <a:t>0.631</a:t>
              </a:r>
              <a:endParaRPr sz="1141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065" name="Google Shape;1065;p84"/>
          <p:cNvGrpSpPr/>
          <p:nvPr/>
        </p:nvGrpSpPr>
        <p:grpSpPr>
          <a:xfrm>
            <a:off x="4643173" y="1330290"/>
            <a:ext cx="3928532" cy="222660"/>
            <a:chOff x="-5078419" y="986625"/>
            <a:chExt cx="2222021" cy="160800"/>
          </a:xfrm>
        </p:grpSpPr>
        <p:sp>
          <p:nvSpPr>
            <p:cNvPr id="1066" name="Google Shape;1066;p84"/>
            <p:cNvSpPr/>
            <p:nvPr/>
          </p:nvSpPr>
          <p:spPr>
            <a:xfrm>
              <a:off x="-5078419" y="986625"/>
              <a:ext cx="675300" cy="160800"/>
            </a:xfrm>
            <a:prstGeom prst="rect">
              <a:avLst/>
            </a:prstGeom>
            <a:solidFill>
              <a:srgbClr val="FFD4CB"/>
            </a:solidFill>
            <a:ln cap="flat" cmpd="sng" w="13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0225" lIns="130225" spcFirstLastPara="1" rIns="130225" wrap="square" tIns="130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39">
                  <a:latin typeface="DM Sans"/>
                  <a:ea typeface="DM Sans"/>
                  <a:cs typeface="DM Sans"/>
                  <a:sym typeface="DM Sans"/>
                </a:rPr>
                <a:t>J48 Baseline</a:t>
              </a:r>
              <a:endParaRPr sz="1139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67" name="Google Shape;1067;p84"/>
            <p:cNvSpPr/>
            <p:nvPr/>
          </p:nvSpPr>
          <p:spPr>
            <a:xfrm>
              <a:off x="-434984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3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0225" lIns="130225" spcFirstLastPara="1" rIns="130225" wrap="square" tIns="130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39">
                  <a:latin typeface="DM Sans"/>
                  <a:ea typeface="DM Sans"/>
                  <a:cs typeface="DM Sans"/>
                  <a:sym typeface="DM Sans"/>
                </a:rPr>
                <a:t>70.3</a:t>
              </a:r>
              <a:endParaRPr sz="1139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68" name="Google Shape;1068;p84"/>
            <p:cNvSpPr/>
            <p:nvPr/>
          </p:nvSpPr>
          <p:spPr>
            <a:xfrm>
              <a:off x="-3834273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3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0225" lIns="130225" spcFirstLastPara="1" rIns="130225" wrap="square" tIns="130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39">
                  <a:latin typeface="DM Sans"/>
                  <a:ea typeface="DM Sans"/>
                  <a:cs typeface="DM Sans"/>
                  <a:sym typeface="DM Sans"/>
                </a:rPr>
                <a:t>0.705</a:t>
              </a:r>
              <a:endParaRPr sz="1139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69" name="Google Shape;1069;p84"/>
            <p:cNvSpPr/>
            <p:nvPr/>
          </p:nvSpPr>
          <p:spPr>
            <a:xfrm>
              <a:off x="-331869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3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0225" lIns="130225" spcFirstLastPara="1" rIns="130225" wrap="square" tIns="130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39">
                  <a:latin typeface="DM Sans"/>
                  <a:ea typeface="DM Sans"/>
                  <a:cs typeface="DM Sans"/>
                  <a:sym typeface="DM Sans"/>
                </a:rPr>
                <a:t>0.703</a:t>
              </a:r>
              <a:endParaRPr sz="1139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070" name="Google Shape;1070;p84"/>
          <p:cNvGrpSpPr/>
          <p:nvPr/>
        </p:nvGrpSpPr>
        <p:grpSpPr>
          <a:xfrm>
            <a:off x="4643173" y="1612966"/>
            <a:ext cx="3928532" cy="222660"/>
            <a:chOff x="-5078419" y="986625"/>
            <a:chExt cx="2222021" cy="160800"/>
          </a:xfrm>
        </p:grpSpPr>
        <p:sp>
          <p:nvSpPr>
            <p:cNvPr id="1071" name="Google Shape;1071;p84"/>
            <p:cNvSpPr/>
            <p:nvPr/>
          </p:nvSpPr>
          <p:spPr>
            <a:xfrm>
              <a:off x="-5078419" y="986625"/>
              <a:ext cx="675300" cy="160800"/>
            </a:xfrm>
            <a:prstGeom prst="rect">
              <a:avLst/>
            </a:prstGeom>
            <a:solidFill>
              <a:srgbClr val="FFD4CB"/>
            </a:solidFill>
            <a:ln cap="flat" cmpd="sng" w="13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0225" lIns="130225" spcFirstLastPara="1" rIns="130225" wrap="square" tIns="130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39">
                  <a:latin typeface="DM Sans"/>
                  <a:ea typeface="DM Sans"/>
                  <a:cs typeface="DM Sans"/>
                  <a:sym typeface="DM Sans"/>
                </a:rPr>
                <a:t>DTab Baseline</a:t>
              </a:r>
              <a:endParaRPr sz="1139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72" name="Google Shape;1072;p84"/>
            <p:cNvSpPr/>
            <p:nvPr/>
          </p:nvSpPr>
          <p:spPr>
            <a:xfrm>
              <a:off x="-434984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3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0225" lIns="130225" spcFirstLastPara="1" rIns="130225" wrap="square" tIns="130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39">
                  <a:latin typeface="DM Sans"/>
                  <a:ea typeface="DM Sans"/>
                  <a:cs typeface="DM Sans"/>
                  <a:sym typeface="DM Sans"/>
                </a:rPr>
                <a:t>68.15</a:t>
              </a:r>
              <a:endParaRPr sz="1139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73" name="Google Shape;1073;p84"/>
            <p:cNvSpPr/>
            <p:nvPr/>
          </p:nvSpPr>
          <p:spPr>
            <a:xfrm>
              <a:off x="-3834273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3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0225" lIns="130225" spcFirstLastPara="1" rIns="130225" wrap="square" tIns="130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39">
                  <a:latin typeface="DM Sans"/>
                  <a:ea typeface="DM Sans"/>
                  <a:cs typeface="DM Sans"/>
                  <a:sym typeface="DM Sans"/>
                </a:rPr>
                <a:t>0.697</a:t>
              </a:r>
              <a:endParaRPr sz="1139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74" name="Google Shape;1074;p84"/>
            <p:cNvSpPr/>
            <p:nvPr/>
          </p:nvSpPr>
          <p:spPr>
            <a:xfrm>
              <a:off x="-331869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3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0225" lIns="130225" spcFirstLastPara="1" rIns="130225" wrap="square" tIns="130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39">
                  <a:latin typeface="DM Sans"/>
                  <a:ea typeface="DM Sans"/>
                  <a:cs typeface="DM Sans"/>
                  <a:sym typeface="DM Sans"/>
                </a:rPr>
                <a:t>0.682</a:t>
              </a:r>
              <a:endParaRPr sz="1139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075" name="Google Shape;1075;p84"/>
          <p:cNvGrpSpPr/>
          <p:nvPr/>
        </p:nvGrpSpPr>
        <p:grpSpPr>
          <a:xfrm>
            <a:off x="4643173" y="1895642"/>
            <a:ext cx="3928532" cy="222660"/>
            <a:chOff x="-5078419" y="986625"/>
            <a:chExt cx="2222021" cy="160800"/>
          </a:xfrm>
        </p:grpSpPr>
        <p:sp>
          <p:nvSpPr>
            <p:cNvPr id="1076" name="Google Shape;1076;p84"/>
            <p:cNvSpPr/>
            <p:nvPr/>
          </p:nvSpPr>
          <p:spPr>
            <a:xfrm>
              <a:off x="-5078419" y="986625"/>
              <a:ext cx="675300" cy="160800"/>
            </a:xfrm>
            <a:prstGeom prst="rect">
              <a:avLst/>
            </a:prstGeom>
            <a:solidFill>
              <a:srgbClr val="FFD4CB"/>
            </a:solidFill>
            <a:ln cap="flat" cmpd="sng" w="13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0225" lIns="130225" spcFirstLastPara="1" rIns="130225" wrap="square" tIns="130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39">
                  <a:latin typeface="DM Sans"/>
                  <a:ea typeface="DM Sans"/>
                  <a:cs typeface="DM Sans"/>
                  <a:sym typeface="DM Sans"/>
                </a:rPr>
                <a:t>NB Baseline </a:t>
              </a:r>
              <a:endParaRPr sz="1139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77" name="Google Shape;1077;p84"/>
            <p:cNvSpPr/>
            <p:nvPr/>
          </p:nvSpPr>
          <p:spPr>
            <a:xfrm>
              <a:off x="-434984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3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0225" lIns="130225" spcFirstLastPara="1" rIns="130225" wrap="square" tIns="130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39">
                  <a:latin typeface="DM Sans"/>
                  <a:ea typeface="DM Sans"/>
                  <a:cs typeface="DM Sans"/>
                  <a:sym typeface="DM Sans"/>
                </a:rPr>
                <a:t>63.48</a:t>
              </a:r>
              <a:endParaRPr sz="1139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78" name="Google Shape;1078;p84"/>
            <p:cNvSpPr/>
            <p:nvPr/>
          </p:nvSpPr>
          <p:spPr>
            <a:xfrm>
              <a:off x="-3834273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3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0225" lIns="130225" spcFirstLastPara="1" rIns="130225" wrap="square" tIns="130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39">
                  <a:latin typeface="DM Sans"/>
                  <a:ea typeface="DM Sans"/>
                  <a:cs typeface="DM Sans"/>
                  <a:sym typeface="DM Sans"/>
                </a:rPr>
                <a:t>0.657</a:t>
              </a:r>
              <a:endParaRPr sz="1139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79" name="Google Shape;1079;p84"/>
            <p:cNvSpPr/>
            <p:nvPr/>
          </p:nvSpPr>
          <p:spPr>
            <a:xfrm>
              <a:off x="-331869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3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0225" lIns="130225" spcFirstLastPara="1" rIns="130225" wrap="square" tIns="130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39">
                  <a:latin typeface="DM Sans"/>
                  <a:ea typeface="DM Sans"/>
                  <a:cs typeface="DM Sans"/>
                  <a:sym typeface="DM Sans"/>
                </a:rPr>
                <a:t>0.635</a:t>
              </a:r>
              <a:endParaRPr sz="1139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080" name="Google Shape;1080;p84"/>
          <p:cNvGrpSpPr/>
          <p:nvPr/>
        </p:nvGrpSpPr>
        <p:grpSpPr>
          <a:xfrm>
            <a:off x="4643173" y="3027457"/>
            <a:ext cx="3928532" cy="222660"/>
            <a:chOff x="-5078419" y="986625"/>
            <a:chExt cx="2222021" cy="160800"/>
          </a:xfrm>
        </p:grpSpPr>
        <p:sp>
          <p:nvSpPr>
            <p:cNvPr id="1081" name="Google Shape;1081;p84"/>
            <p:cNvSpPr/>
            <p:nvPr/>
          </p:nvSpPr>
          <p:spPr>
            <a:xfrm>
              <a:off x="-5078419" y="986625"/>
              <a:ext cx="675300" cy="160800"/>
            </a:xfrm>
            <a:prstGeom prst="rect">
              <a:avLst/>
            </a:prstGeom>
            <a:solidFill>
              <a:srgbClr val="FFD4CB"/>
            </a:solidFill>
            <a:ln cap="flat" cmpd="sng" w="135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0225" lIns="130225" spcFirstLastPara="1" rIns="130225" wrap="square" tIns="130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92">
                  <a:latin typeface="DM Sans"/>
                  <a:ea typeface="DM Sans"/>
                  <a:cs typeface="DM Sans"/>
                  <a:sym typeface="DM Sans"/>
                </a:rPr>
                <a:t>J48 (NB)</a:t>
              </a:r>
              <a:endParaRPr sz="1092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82" name="Google Shape;1082;p84"/>
            <p:cNvSpPr/>
            <p:nvPr/>
          </p:nvSpPr>
          <p:spPr>
            <a:xfrm>
              <a:off x="-434984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35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0225" lIns="130225" spcFirstLastPara="1" rIns="130225" wrap="square" tIns="130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39">
                  <a:latin typeface="DM Sans"/>
                  <a:ea typeface="DM Sans"/>
                  <a:cs typeface="DM Sans"/>
                  <a:sym typeface="DM Sans"/>
                </a:rPr>
                <a:t>67.85</a:t>
              </a:r>
              <a:endParaRPr sz="1139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83" name="Google Shape;1083;p84"/>
            <p:cNvSpPr/>
            <p:nvPr/>
          </p:nvSpPr>
          <p:spPr>
            <a:xfrm>
              <a:off x="-3834273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35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0225" lIns="130225" spcFirstLastPara="1" rIns="130225" wrap="square" tIns="130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39">
                  <a:latin typeface="DM Sans"/>
                  <a:ea typeface="DM Sans"/>
                  <a:cs typeface="DM Sans"/>
                  <a:sym typeface="DM Sans"/>
                </a:rPr>
                <a:t>0.678</a:t>
              </a:r>
              <a:endParaRPr sz="1139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84" name="Google Shape;1084;p84"/>
            <p:cNvSpPr/>
            <p:nvPr/>
          </p:nvSpPr>
          <p:spPr>
            <a:xfrm>
              <a:off x="-331869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35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0225" lIns="130225" spcFirstLastPara="1" rIns="130225" wrap="square" tIns="130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39">
                  <a:latin typeface="DM Sans"/>
                  <a:ea typeface="DM Sans"/>
                  <a:cs typeface="DM Sans"/>
                  <a:sym typeface="DM Sans"/>
                </a:rPr>
                <a:t>0.679</a:t>
              </a:r>
              <a:endParaRPr sz="1139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085" name="Google Shape;1085;p84"/>
          <p:cNvGrpSpPr/>
          <p:nvPr/>
        </p:nvGrpSpPr>
        <p:grpSpPr>
          <a:xfrm>
            <a:off x="4643173" y="3310133"/>
            <a:ext cx="3928532" cy="222660"/>
            <a:chOff x="-5078419" y="986625"/>
            <a:chExt cx="2222021" cy="160800"/>
          </a:xfrm>
        </p:grpSpPr>
        <p:sp>
          <p:nvSpPr>
            <p:cNvPr id="1086" name="Google Shape;1086;p84"/>
            <p:cNvSpPr/>
            <p:nvPr/>
          </p:nvSpPr>
          <p:spPr>
            <a:xfrm>
              <a:off x="-5078419" y="986625"/>
              <a:ext cx="675300" cy="160800"/>
            </a:xfrm>
            <a:prstGeom prst="rect">
              <a:avLst/>
            </a:prstGeom>
            <a:solidFill>
              <a:srgbClr val="FFD4CB"/>
            </a:solidFill>
            <a:ln cap="flat" cmpd="sng" w="135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0225" lIns="130225" spcFirstLastPara="1" rIns="130225" wrap="square" tIns="130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92">
                  <a:latin typeface="DM Sans"/>
                  <a:ea typeface="DM Sans"/>
                  <a:cs typeface="DM Sans"/>
                  <a:sym typeface="DM Sans"/>
                </a:rPr>
                <a:t>DTab (NB)</a:t>
              </a:r>
              <a:endParaRPr sz="1092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87" name="Google Shape;1087;p84"/>
            <p:cNvSpPr/>
            <p:nvPr/>
          </p:nvSpPr>
          <p:spPr>
            <a:xfrm>
              <a:off x="-434984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35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0225" lIns="130225" spcFirstLastPara="1" rIns="130225" wrap="square" tIns="130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39">
                  <a:latin typeface="DM Sans"/>
                  <a:ea typeface="DM Sans"/>
                  <a:cs typeface="DM Sans"/>
                  <a:sym typeface="DM Sans"/>
                </a:rPr>
                <a:t>70.51</a:t>
              </a:r>
              <a:endParaRPr sz="1139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88" name="Google Shape;1088;p84"/>
            <p:cNvSpPr/>
            <p:nvPr/>
          </p:nvSpPr>
          <p:spPr>
            <a:xfrm>
              <a:off x="-3834273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35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0225" lIns="130225" spcFirstLastPara="1" rIns="130225" wrap="square" tIns="130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39">
                  <a:latin typeface="DM Sans"/>
                  <a:ea typeface="DM Sans"/>
                  <a:cs typeface="DM Sans"/>
                  <a:sym typeface="DM Sans"/>
                </a:rPr>
                <a:t>0.678</a:t>
              </a:r>
              <a:endParaRPr sz="1139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89" name="Google Shape;1089;p84"/>
            <p:cNvSpPr/>
            <p:nvPr/>
          </p:nvSpPr>
          <p:spPr>
            <a:xfrm>
              <a:off x="-331869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35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0225" lIns="130225" spcFirstLastPara="1" rIns="130225" wrap="square" tIns="130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39">
                  <a:latin typeface="DM Sans"/>
                  <a:ea typeface="DM Sans"/>
                  <a:cs typeface="DM Sans"/>
                  <a:sym typeface="DM Sans"/>
                </a:rPr>
                <a:t>0.679</a:t>
              </a:r>
              <a:endParaRPr sz="1139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090" name="Google Shape;1090;p84"/>
          <p:cNvGrpSpPr/>
          <p:nvPr/>
        </p:nvGrpSpPr>
        <p:grpSpPr>
          <a:xfrm>
            <a:off x="4643173" y="3592810"/>
            <a:ext cx="3928532" cy="222660"/>
            <a:chOff x="-5078419" y="986625"/>
            <a:chExt cx="2222021" cy="160800"/>
          </a:xfrm>
        </p:grpSpPr>
        <p:sp>
          <p:nvSpPr>
            <p:cNvPr id="1091" name="Google Shape;1091;p84"/>
            <p:cNvSpPr/>
            <p:nvPr/>
          </p:nvSpPr>
          <p:spPr>
            <a:xfrm>
              <a:off x="-5078419" y="986625"/>
              <a:ext cx="675300" cy="160800"/>
            </a:xfrm>
            <a:prstGeom prst="rect">
              <a:avLst/>
            </a:prstGeom>
            <a:solidFill>
              <a:srgbClr val="FFD4CB"/>
            </a:solidFill>
            <a:ln cap="flat" cmpd="sng" w="135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0225" lIns="130225" spcFirstLastPara="1" rIns="130225" wrap="square" tIns="130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92">
                  <a:latin typeface="DM Sans"/>
                  <a:ea typeface="DM Sans"/>
                  <a:cs typeface="DM Sans"/>
                  <a:sym typeface="DM Sans"/>
                </a:rPr>
                <a:t>NB</a:t>
              </a:r>
              <a:r>
                <a:rPr lang="en" sz="1092">
                  <a:latin typeface="DM Sans"/>
                  <a:ea typeface="DM Sans"/>
                  <a:cs typeface="DM Sans"/>
                  <a:sym typeface="DM Sans"/>
                </a:rPr>
                <a:t> (NB)</a:t>
              </a:r>
              <a:endParaRPr sz="1092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92" name="Google Shape;1092;p84"/>
            <p:cNvSpPr/>
            <p:nvPr/>
          </p:nvSpPr>
          <p:spPr>
            <a:xfrm>
              <a:off x="-434984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35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0225" lIns="130225" spcFirstLastPara="1" rIns="130225" wrap="square" tIns="130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39">
                  <a:latin typeface="DM Sans"/>
                  <a:ea typeface="DM Sans"/>
                  <a:cs typeface="DM Sans"/>
                  <a:sym typeface="DM Sans"/>
                </a:rPr>
                <a:t>63.33</a:t>
              </a:r>
              <a:endParaRPr sz="1139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93" name="Google Shape;1093;p84"/>
            <p:cNvSpPr/>
            <p:nvPr/>
          </p:nvSpPr>
          <p:spPr>
            <a:xfrm>
              <a:off x="-3834273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35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0225" lIns="130225" spcFirstLastPara="1" rIns="130225" wrap="square" tIns="130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39">
                  <a:latin typeface="DM Sans"/>
                  <a:ea typeface="DM Sans"/>
                  <a:cs typeface="DM Sans"/>
                  <a:sym typeface="DM Sans"/>
                </a:rPr>
                <a:t>0.640</a:t>
              </a:r>
              <a:endParaRPr sz="1139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94" name="Google Shape;1094;p84"/>
            <p:cNvSpPr/>
            <p:nvPr/>
          </p:nvSpPr>
          <p:spPr>
            <a:xfrm>
              <a:off x="-331869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35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0225" lIns="130225" spcFirstLastPara="1" rIns="130225" wrap="square" tIns="130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39">
                  <a:latin typeface="DM Sans"/>
                  <a:ea typeface="DM Sans"/>
                  <a:cs typeface="DM Sans"/>
                  <a:sym typeface="DM Sans"/>
                </a:rPr>
                <a:t>0.633</a:t>
              </a:r>
              <a:endParaRPr sz="1139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095" name="Google Shape;1095;p84"/>
          <p:cNvGrpSpPr/>
          <p:nvPr/>
        </p:nvGrpSpPr>
        <p:grpSpPr>
          <a:xfrm>
            <a:off x="4643173" y="3875486"/>
            <a:ext cx="3928532" cy="222660"/>
            <a:chOff x="-5078419" y="986625"/>
            <a:chExt cx="2222021" cy="160800"/>
          </a:xfrm>
        </p:grpSpPr>
        <p:sp>
          <p:nvSpPr>
            <p:cNvPr id="1096" name="Google Shape;1096;p84"/>
            <p:cNvSpPr/>
            <p:nvPr/>
          </p:nvSpPr>
          <p:spPr>
            <a:xfrm>
              <a:off x="-5078419" y="986625"/>
              <a:ext cx="675300" cy="160800"/>
            </a:xfrm>
            <a:prstGeom prst="rect">
              <a:avLst/>
            </a:prstGeom>
            <a:solidFill>
              <a:srgbClr val="FFD4CB"/>
            </a:solidFill>
            <a:ln cap="flat" cmpd="sng" w="135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0225" lIns="130225" spcFirstLastPara="1" rIns="130225" wrap="square" tIns="130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92">
                  <a:latin typeface="DM Sans"/>
                  <a:ea typeface="DM Sans"/>
                  <a:cs typeface="DM Sans"/>
                  <a:sym typeface="DM Sans"/>
                </a:rPr>
                <a:t>J48 (Best DT)</a:t>
              </a:r>
              <a:endParaRPr sz="1092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97" name="Google Shape;1097;p84"/>
            <p:cNvSpPr/>
            <p:nvPr/>
          </p:nvSpPr>
          <p:spPr>
            <a:xfrm>
              <a:off x="-434984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35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0225" lIns="130225" spcFirstLastPara="1" rIns="130225" wrap="square" tIns="130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39">
                  <a:latin typeface="DM Sans"/>
                  <a:ea typeface="DM Sans"/>
                  <a:cs typeface="DM Sans"/>
                  <a:sym typeface="DM Sans"/>
                </a:rPr>
                <a:t>83.59</a:t>
              </a:r>
              <a:endParaRPr sz="1139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98" name="Google Shape;1098;p84"/>
            <p:cNvSpPr/>
            <p:nvPr/>
          </p:nvSpPr>
          <p:spPr>
            <a:xfrm>
              <a:off x="-3834273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35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0225" lIns="130225" spcFirstLastPara="1" rIns="130225" wrap="square" tIns="130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39">
                  <a:latin typeface="DM Sans"/>
                  <a:ea typeface="DM Sans"/>
                  <a:cs typeface="DM Sans"/>
                  <a:sym typeface="DM Sans"/>
                </a:rPr>
                <a:t>0.838</a:t>
              </a:r>
              <a:endParaRPr sz="1139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99" name="Google Shape;1099;p84"/>
            <p:cNvSpPr/>
            <p:nvPr/>
          </p:nvSpPr>
          <p:spPr>
            <a:xfrm>
              <a:off x="-331869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35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0225" lIns="130225" spcFirstLastPara="1" rIns="130225" wrap="square" tIns="130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39">
                  <a:latin typeface="DM Sans"/>
                  <a:ea typeface="DM Sans"/>
                  <a:cs typeface="DM Sans"/>
                  <a:sym typeface="DM Sans"/>
                </a:rPr>
                <a:t>0.836</a:t>
              </a:r>
              <a:endParaRPr sz="1139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100" name="Google Shape;1100;p84"/>
          <p:cNvGrpSpPr/>
          <p:nvPr/>
        </p:nvGrpSpPr>
        <p:grpSpPr>
          <a:xfrm>
            <a:off x="4643173" y="4158162"/>
            <a:ext cx="3928532" cy="222660"/>
            <a:chOff x="-5078419" y="986625"/>
            <a:chExt cx="2222021" cy="160800"/>
          </a:xfrm>
        </p:grpSpPr>
        <p:sp>
          <p:nvSpPr>
            <p:cNvPr id="1101" name="Google Shape;1101;p84"/>
            <p:cNvSpPr/>
            <p:nvPr/>
          </p:nvSpPr>
          <p:spPr>
            <a:xfrm>
              <a:off x="-5078419" y="986625"/>
              <a:ext cx="675300" cy="160800"/>
            </a:xfrm>
            <a:prstGeom prst="rect">
              <a:avLst/>
            </a:prstGeom>
            <a:solidFill>
              <a:srgbClr val="FFD4CB"/>
            </a:solidFill>
            <a:ln cap="flat" cmpd="sng" w="135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0225" lIns="130225" spcFirstLastPara="1" rIns="130225" wrap="square" tIns="130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92">
                  <a:latin typeface="DM Sans"/>
                  <a:ea typeface="DM Sans"/>
                  <a:cs typeface="DM Sans"/>
                  <a:sym typeface="DM Sans"/>
                </a:rPr>
                <a:t>DTab (</a:t>
              </a:r>
              <a:r>
                <a:rPr lang="en" sz="1000">
                  <a:latin typeface="DM Sans"/>
                  <a:ea typeface="DM Sans"/>
                  <a:cs typeface="DM Sans"/>
                  <a:sym typeface="DM Sans"/>
                </a:rPr>
                <a:t>Best DT</a:t>
              </a:r>
              <a:r>
                <a:rPr lang="en" sz="1092">
                  <a:latin typeface="DM Sans"/>
                  <a:ea typeface="DM Sans"/>
                  <a:cs typeface="DM Sans"/>
                  <a:sym typeface="DM Sans"/>
                </a:rPr>
                <a:t>)</a:t>
              </a:r>
              <a:endParaRPr sz="1092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02" name="Google Shape;1102;p84"/>
            <p:cNvSpPr/>
            <p:nvPr/>
          </p:nvSpPr>
          <p:spPr>
            <a:xfrm>
              <a:off x="-434984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35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0225" lIns="130225" spcFirstLastPara="1" rIns="130225" wrap="square" tIns="130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39">
                  <a:latin typeface="DM Sans"/>
                  <a:ea typeface="DM Sans"/>
                  <a:cs typeface="DM Sans"/>
                  <a:sym typeface="DM Sans"/>
                </a:rPr>
                <a:t>83.70</a:t>
              </a:r>
              <a:endParaRPr sz="1139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03" name="Google Shape;1103;p84"/>
            <p:cNvSpPr/>
            <p:nvPr/>
          </p:nvSpPr>
          <p:spPr>
            <a:xfrm>
              <a:off x="-3834273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35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0225" lIns="130225" spcFirstLastPara="1" rIns="130225" wrap="square" tIns="130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39">
                  <a:latin typeface="DM Sans"/>
                  <a:ea typeface="DM Sans"/>
                  <a:cs typeface="DM Sans"/>
                  <a:sym typeface="DM Sans"/>
                </a:rPr>
                <a:t>0.839</a:t>
              </a:r>
              <a:endParaRPr sz="1139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04" name="Google Shape;1104;p84"/>
            <p:cNvSpPr/>
            <p:nvPr/>
          </p:nvSpPr>
          <p:spPr>
            <a:xfrm>
              <a:off x="-331869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35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0225" lIns="130225" spcFirstLastPara="1" rIns="130225" wrap="square" tIns="130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39">
                  <a:latin typeface="DM Sans"/>
                  <a:ea typeface="DM Sans"/>
                  <a:cs typeface="DM Sans"/>
                  <a:sym typeface="DM Sans"/>
                </a:rPr>
                <a:t>0.837</a:t>
              </a:r>
              <a:endParaRPr sz="1139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105" name="Google Shape;1105;p84"/>
          <p:cNvGrpSpPr/>
          <p:nvPr/>
        </p:nvGrpSpPr>
        <p:grpSpPr>
          <a:xfrm>
            <a:off x="4643173" y="4440838"/>
            <a:ext cx="3928532" cy="222660"/>
            <a:chOff x="-5078419" y="986625"/>
            <a:chExt cx="2222021" cy="160800"/>
          </a:xfrm>
        </p:grpSpPr>
        <p:sp>
          <p:nvSpPr>
            <p:cNvPr id="1106" name="Google Shape;1106;p84"/>
            <p:cNvSpPr/>
            <p:nvPr/>
          </p:nvSpPr>
          <p:spPr>
            <a:xfrm>
              <a:off x="-5078419" y="986625"/>
              <a:ext cx="675300" cy="160800"/>
            </a:xfrm>
            <a:prstGeom prst="rect">
              <a:avLst/>
            </a:prstGeom>
            <a:solidFill>
              <a:srgbClr val="FFD4CB"/>
            </a:solidFill>
            <a:ln cap="flat" cmpd="sng" w="135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0225" lIns="130225" spcFirstLastPara="1" rIns="130225" wrap="square" tIns="130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92">
                  <a:latin typeface="DM Sans"/>
                  <a:ea typeface="DM Sans"/>
                  <a:cs typeface="DM Sans"/>
                  <a:sym typeface="DM Sans"/>
                </a:rPr>
                <a:t>NB (Best DT)</a:t>
              </a:r>
              <a:endParaRPr sz="1092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07" name="Google Shape;1107;p84"/>
            <p:cNvSpPr/>
            <p:nvPr/>
          </p:nvSpPr>
          <p:spPr>
            <a:xfrm>
              <a:off x="-434984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35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0225" lIns="130225" spcFirstLastPara="1" rIns="130225" wrap="square" tIns="130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39">
                  <a:latin typeface="DM Sans"/>
                  <a:ea typeface="DM Sans"/>
                  <a:cs typeface="DM Sans"/>
                  <a:sym typeface="DM Sans"/>
                </a:rPr>
                <a:t>80.98</a:t>
              </a:r>
              <a:endParaRPr sz="1139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08" name="Google Shape;1108;p84"/>
            <p:cNvSpPr/>
            <p:nvPr/>
          </p:nvSpPr>
          <p:spPr>
            <a:xfrm>
              <a:off x="-3834273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35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0225" lIns="130225" spcFirstLastPara="1" rIns="130225" wrap="square" tIns="130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39">
                  <a:latin typeface="DM Sans"/>
                  <a:ea typeface="DM Sans"/>
                  <a:cs typeface="DM Sans"/>
                  <a:sym typeface="DM Sans"/>
                </a:rPr>
                <a:t>0.810</a:t>
              </a:r>
              <a:endParaRPr sz="1139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09" name="Google Shape;1109;p84"/>
            <p:cNvSpPr/>
            <p:nvPr/>
          </p:nvSpPr>
          <p:spPr>
            <a:xfrm>
              <a:off x="-331869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35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0225" lIns="130225" spcFirstLastPara="1" rIns="130225" wrap="square" tIns="130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39">
                  <a:latin typeface="DM Sans"/>
                  <a:ea typeface="DM Sans"/>
                  <a:cs typeface="DM Sans"/>
                  <a:sym typeface="DM Sans"/>
                </a:rPr>
                <a:t>0.810</a:t>
              </a:r>
              <a:endParaRPr sz="1139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p85"/>
          <p:cNvSpPr txBox="1"/>
          <p:nvPr/>
        </p:nvSpPr>
        <p:spPr>
          <a:xfrm rot="-5400000">
            <a:off x="-2086050" y="2095500"/>
            <a:ext cx="5124600" cy="95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rPr>
              <a:t>Attribute</a:t>
            </a:r>
            <a:r>
              <a:rPr lang="en" sz="4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rPr>
              <a:t> Results</a:t>
            </a:r>
            <a:endParaRPr sz="4500">
              <a:solidFill>
                <a:schemeClr val="dk1"/>
              </a:solidFill>
              <a:latin typeface="Chakra Petch Medium"/>
              <a:ea typeface="Chakra Petch Medium"/>
              <a:cs typeface="Chakra Petch Medium"/>
              <a:sym typeface="Chakra Petch Medium"/>
            </a:endParaRPr>
          </a:p>
        </p:txBody>
      </p:sp>
      <p:cxnSp>
        <p:nvCxnSpPr>
          <p:cNvPr id="1115" name="Google Shape;1115;p85"/>
          <p:cNvCxnSpPr/>
          <p:nvPr/>
        </p:nvCxnSpPr>
        <p:spPr>
          <a:xfrm>
            <a:off x="966600" y="350450"/>
            <a:ext cx="600" cy="4113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116" name="Google Shape;1116;p85"/>
          <p:cNvGraphicFramePr/>
          <p:nvPr/>
        </p:nvGraphicFramePr>
        <p:xfrm>
          <a:off x="1130025" y="350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{CABB4C81-0042-400D-8A47-4D123343D0ED}</a:tableStyleId>
              </a:tblPr>
              <a:tblGrid>
                <a:gridCol w="952500"/>
                <a:gridCol w="952500"/>
                <a:gridCol w="952500"/>
                <a:gridCol w="952500"/>
                <a:gridCol w="9525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Model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Best Acc, Rank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Best Acc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Avg Acc. Rank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Avg Acc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 &amp; 6 &amp; 10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83.70%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82.76%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 &amp; 7 &amp; 10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83.59%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82.71%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 &amp; 10 &amp; 22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83.67%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82.68%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 &amp; 10 &amp; 27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82.64%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81.66%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 &amp; 22 &amp; 27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81.77%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80.05%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 &amp; 7 &amp; 27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81.94%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80.01%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 &amp; 6 &amp; 22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82.25%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79.85%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 &amp; 7 &amp; 22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81.90%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79.68%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 &amp; 6 &amp; 27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81.74%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79.67%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 &amp; 6 &amp; 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81.56%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79.21%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 &amp; 10 &amp; 22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11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78.23%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11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76.63%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 &amp; 10 &amp; 22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12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78.10%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12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76.63%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 &amp; 22 &amp; 27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13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77.42%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13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75.76%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 &amp; 7 &amp; 10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14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77.26%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14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75.71%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 &amp; 10 &amp; 27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18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76.62%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15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74.88%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 &amp; 10 &amp; 27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19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76.36%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16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74.49%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 &amp; 7 &amp; 22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16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76.84%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17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74.49%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 &amp; 22 &amp; 27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15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76.97%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18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73.96%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 &amp; 22 &amp; 27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17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76.63%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19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73.64%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 &amp; 7 &amp; 27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76.00%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73.24%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grpSp>
        <p:nvGrpSpPr>
          <p:cNvPr id="1117" name="Google Shape;1117;p85"/>
          <p:cNvGrpSpPr/>
          <p:nvPr/>
        </p:nvGrpSpPr>
        <p:grpSpPr>
          <a:xfrm>
            <a:off x="5980409" y="3340370"/>
            <a:ext cx="2875512" cy="1338812"/>
            <a:chOff x="6746175" y="88175"/>
            <a:chExt cx="2318400" cy="1411504"/>
          </a:xfrm>
        </p:grpSpPr>
        <p:sp>
          <p:nvSpPr>
            <p:cNvPr id="1118" name="Google Shape;1118;p85"/>
            <p:cNvSpPr/>
            <p:nvPr/>
          </p:nvSpPr>
          <p:spPr>
            <a:xfrm>
              <a:off x="6746175" y="88179"/>
              <a:ext cx="2318400" cy="1411500"/>
            </a:xfrm>
            <a:prstGeom prst="rect">
              <a:avLst/>
            </a:prstGeom>
            <a:solidFill>
              <a:schemeClr val="dk1"/>
            </a:solidFill>
            <a:ln cap="flat" cmpd="sng" w="90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6700" lIns="86700" spcFirstLastPara="1" rIns="86700" wrap="square" tIns="86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27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19" name="Google Shape;1119;p85"/>
            <p:cNvSpPr txBox="1"/>
            <p:nvPr/>
          </p:nvSpPr>
          <p:spPr>
            <a:xfrm>
              <a:off x="6746175" y="88175"/>
              <a:ext cx="2318400" cy="232500"/>
            </a:xfrm>
            <a:prstGeom prst="rect">
              <a:avLst/>
            </a:prstGeom>
            <a:solidFill>
              <a:srgbClr val="FFFFFF">
                <a:alpha val="50000"/>
              </a:srgbClr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86700" lIns="86700" spcFirstLastPara="1" rIns="86700" wrap="square" tIns="86700">
              <a:noAutofit/>
            </a:bodyPr>
            <a:lstStyle/>
            <a:p>
              <a:pPr indent="0" lvl="0" marL="0" rtl="0" algn="l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38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COMPARISON </a:t>
              </a:r>
              <a:r>
                <a:rPr lang="en" sz="488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so you don’t have to remember</a:t>
              </a:r>
              <a:endParaRPr sz="48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120" name="Google Shape;1120;p85"/>
          <p:cNvGrpSpPr/>
          <p:nvPr/>
        </p:nvGrpSpPr>
        <p:grpSpPr>
          <a:xfrm>
            <a:off x="6035427" y="3613625"/>
            <a:ext cx="2775007" cy="152545"/>
            <a:chOff x="2181936" y="3161368"/>
            <a:chExt cx="2607109" cy="188700"/>
          </a:xfrm>
        </p:grpSpPr>
        <p:sp>
          <p:nvSpPr>
            <p:cNvPr id="1121" name="Google Shape;1121;p85"/>
            <p:cNvSpPr/>
            <p:nvPr/>
          </p:nvSpPr>
          <p:spPr>
            <a:xfrm>
              <a:off x="2181936" y="3161368"/>
              <a:ext cx="792300" cy="188700"/>
            </a:xfrm>
            <a:prstGeom prst="rect">
              <a:avLst/>
            </a:prstGeom>
            <a:solidFill>
              <a:schemeClr val="lt2"/>
            </a:solidFill>
            <a:ln cap="flat" cmpd="sng" w="90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6700" lIns="86700" spcFirstLastPara="1" rIns="86700" wrap="square" tIns="86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8">
                  <a:latin typeface="DM Sans"/>
                  <a:ea typeface="DM Sans"/>
                  <a:cs typeface="DM Sans"/>
                  <a:sym typeface="DM Sans"/>
                </a:rPr>
                <a:t>Model</a:t>
              </a:r>
              <a:endParaRPr sz="75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22" name="Google Shape;1122;p85"/>
            <p:cNvSpPr/>
            <p:nvPr/>
          </p:nvSpPr>
          <p:spPr>
            <a:xfrm>
              <a:off x="3036764" y="3161368"/>
              <a:ext cx="542400" cy="188700"/>
            </a:xfrm>
            <a:prstGeom prst="rect">
              <a:avLst/>
            </a:prstGeom>
            <a:solidFill>
              <a:schemeClr val="lt2"/>
            </a:solidFill>
            <a:ln cap="flat" cmpd="sng" w="90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6700" lIns="86700" spcFirstLastPara="1" rIns="86700" wrap="square" tIns="86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8">
                  <a:latin typeface="DM Sans"/>
                  <a:ea typeface="DM Sans"/>
                  <a:cs typeface="DM Sans"/>
                  <a:sym typeface="DM Sans"/>
                </a:rPr>
                <a:t>Acc.</a:t>
              </a:r>
              <a:endParaRPr sz="75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23" name="Google Shape;1123;p85"/>
            <p:cNvSpPr/>
            <p:nvPr/>
          </p:nvSpPr>
          <p:spPr>
            <a:xfrm>
              <a:off x="3641697" y="3161368"/>
              <a:ext cx="542400" cy="188700"/>
            </a:xfrm>
            <a:prstGeom prst="rect">
              <a:avLst/>
            </a:prstGeom>
            <a:solidFill>
              <a:schemeClr val="lt2"/>
            </a:solidFill>
            <a:ln cap="flat" cmpd="sng" w="90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6700" lIns="86700" spcFirstLastPara="1" rIns="86700" wrap="square" tIns="86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8">
                  <a:latin typeface="DM Sans"/>
                  <a:ea typeface="DM Sans"/>
                  <a:cs typeface="DM Sans"/>
                  <a:sym typeface="DM Sans"/>
                </a:rPr>
                <a:t>Prec.</a:t>
              </a:r>
              <a:endParaRPr sz="75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24" name="Google Shape;1124;p85"/>
            <p:cNvSpPr/>
            <p:nvPr/>
          </p:nvSpPr>
          <p:spPr>
            <a:xfrm>
              <a:off x="4246645" y="3161368"/>
              <a:ext cx="542400" cy="188700"/>
            </a:xfrm>
            <a:prstGeom prst="rect">
              <a:avLst/>
            </a:prstGeom>
            <a:solidFill>
              <a:schemeClr val="lt2"/>
            </a:solidFill>
            <a:ln cap="flat" cmpd="sng" w="90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6700" lIns="86700" spcFirstLastPara="1" rIns="86700" wrap="square" tIns="86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8">
                  <a:latin typeface="DM Sans"/>
                  <a:ea typeface="DM Sans"/>
                  <a:cs typeface="DM Sans"/>
                  <a:sym typeface="DM Sans"/>
                </a:rPr>
                <a:t>Recall</a:t>
              </a:r>
              <a:endParaRPr sz="758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125" name="Google Shape;1125;p85"/>
          <p:cNvGrpSpPr/>
          <p:nvPr/>
        </p:nvGrpSpPr>
        <p:grpSpPr>
          <a:xfrm>
            <a:off x="6035179" y="3829459"/>
            <a:ext cx="2775081" cy="152519"/>
            <a:chOff x="-5078419" y="986625"/>
            <a:chExt cx="2222021" cy="160800"/>
          </a:xfrm>
        </p:grpSpPr>
        <p:sp>
          <p:nvSpPr>
            <p:cNvPr id="1126" name="Google Shape;1126;p85"/>
            <p:cNvSpPr/>
            <p:nvPr/>
          </p:nvSpPr>
          <p:spPr>
            <a:xfrm>
              <a:off x="-5078419" y="986625"/>
              <a:ext cx="675300" cy="160800"/>
            </a:xfrm>
            <a:prstGeom prst="rect">
              <a:avLst/>
            </a:prstGeom>
            <a:solidFill>
              <a:srgbClr val="FFD4CB"/>
            </a:solidFill>
            <a:ln cap="flat" cmpd="sng" w="90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6700" lIns="86700" spcFirstLastPara="1" rIns="86700" wrap="square" tIns="86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8">
                  <a:latin typeface="DM Sans"/>
                  <a:ea typeface="DM Sans"/>
                  <a:cs typeface="DM Sans"/>
                  <a:sym typeface="DM Sans"/>
                </a:rPr>
                <a:t>J48 Baseline</a:t>
              </a:r>
              <a:endParaRPr sz="75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27" name="Google Shape;1127;p85"/>
            <p:cNvSpPr/>
            <p:nvPr/>
          </p:nvSpPr>
          <p:spPr>
            <a:xfrm>
              <a:off x="-434984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90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6700" lIns="86700" spcFirstLastPara="1" rIns="86700" wrap="square" tIns="86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8">
                  <a:latin typeface="DM Sans"/>
                  <a:ea typeface="DM Sans"/>
                  <a:cs typeface="DM Sans"/>
                  <a:sym typeface="DM Sans"/>
                </a:rPr>
                <a:t>70.3</a:t>
              </a:r>
              <a:endParaRPr sz="75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28" name="Google Shape;1128;p85"/>
            <p:cNvSpPr/>
            <p:nvPr/>
          </p:nvSpPr>
          <p:spPr>
            <a:xfrm>
              <a:off x="-3834273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90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6700" lIns="86700" spcFirstLastPara="1" rIns="86700" wrap="square" tIns="86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8">
                  <a:latin typeface="DM Sans"/>
                  <a:ea typeface="DM Sans"/>
                  <a:cs typeface="DM Sans"/>
                  <a:sym typeface="DM Sans"/>
                </a:rPr>
                <a:t>0.705</a:t>
              </a:r>
              <a:endParaRPr sz="75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29" name="Google Shape;1129;p85"/>
            <p:cNvSpPr/>
            <p:nvPr/>
          </p:nvSpPr>
          <p:spPr>
            <a:xfrm>
              <a:off x="-331869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90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6700" lIns="86700" spcFirstLastPara="1" rIns="86700" wrap="square" tIns="86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8">
                  <a:latin typeface="DM Sans"/>
                  <a:ea typeface="DM Sans"/>
                  <a:cs typeface="DM Sans"/>
                  <a:sym typeface="DM Sans"/>
                </a:rPr>
                <a:t>0.703</a:t>
              </a:r>
              <a:endParaRPr sz="758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130" name="Google Shape;1130;p85"/>
          <p:cNvGrpSpPr/>
          <p:nvPr/>
        </p:nvGrpSpPr>
        <p:grpSpPr>
          <a:xfrm>
            <a:off x="6030773" y="4045192"/>
            <a:ext cx="2775081" cy="152519"/>
            <a:chOff x="-5078419" y="986625"/>
            <a:chExt cx="2222021" cy="160800"/>
          </a:xfrm>
        </p:grpSpPr>
        <p:sp>
          <p:nvSpPr>
            <p:cNvPr id="1131" name="Google Shape;1131;p85"/>
            <p:cNvSpPr/>
            <p:nvPr/>
          </p:nvSpPr>
          <p:spPr>
            <a:xfrm>
              <a:off x="-5078419" y="986625"/>
              <a:ext cx="675300" cy="160800"/>
            </a:xfrm>
            <a:prstGeom prst="rect">
              <a:avLst/>
            </a:prstGeom>
            <a:solidFill>
              <a:srgbClr val="FFD4CB"/>
            </a:solidFill>
            <a:ln cap="flat" cmpd="sng" w="90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6700" lIns="86700" spcFirstLastPara="1" rIns="86700" wrap="square" tIns="86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8">
                  <a:latin typeface="DM Sans"/>
                  <a:ea typeface="DM Sans"/>
                  <a:cs typeface="DM Sans"/>
                  <a:sym typeface="DM Sans"/>
                </a:rPr>
                <a:t>DTab Baseline</a:t>
              </a:r>
              <a:endParaRPr sz="75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32" name="Google Shape;1132;p85"/>
            <p:cNvSpPr/>
            <p:nvPr/>
          </p:nvSpPr>
          <p:spPr>
            <a:xfrm>
              <a:off x="-434984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90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6700" lIns="86700" spcFirstLastPara="1" rIns="86700" wrap="square" tIns="86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8">
                  <a:latin typeface="DM Sans"/>
                  <a:ea typeface="DM Sans"/>
                  <a:cs typeface="DM Sans"/>
                  <a:sym typeface="DM Sans"/>
                </a:rPr>
                <a:t>68.15</a:t>
              </a:r>
              <a:endParaRPr sz="75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33" name="Google Shape;1133;p85"/>
            <p:cNvSpPr/>
            <p:nvPr/>
          </p:nvSpPr>
          <p:spPr>
            <a:xfrm>
              <a:off x="-3834273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90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6700" lIns="86700" spcFirstLastPara="1" rIns="86700" wrap="square" tIns="86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8">
                  <a:latin typeface="DM Sans"/>
                  <a:ea typeface="DM Sans"/>
                  <a:cs typeface="DM Sans"/>
                  <a:sym typeface="DM Sans"/>
                </a:rPr>
                <a:t>0.697</a:t>
              </a:r>
              <a:endParaRPr sz="75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34" name="Google Shape;1134;p85"/>
            <p:cNvSpPr/>
            <p:nvPr/>
          </p:nvSpPr>
          <p:spPr>
            <a:xfrm>
              <a:off x="-331869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90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6700" lIns="86700" spcFirstLastPara="1" rIns="86700" wrap="square" tIns="86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8">
                  <a:latin typeface="DM Sans"/>
                  <a:ea typeface="DM Sans"/>
                  <a:cs typeface="DM Sans"/>
                  <a:sym typeface="DM Sans"/>
                </a:rPr>
                <a:t>0.682</a:t>
              </a:r>
              <a:endParaRPr sz="758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135" name="Google Shape;1135;p85"/>
          <p:cNvGrpSpPr/>
          <p:nvPr/>
        </p:nvGrpSpPr>
        <p:grpSpPr>
          <a:xfrm>
            <a:off x="6035512" y="4260925"/>
            <a:ext cx="2775081" cy="152519"/>
            <a:chOff x="-5078419" y="986625"/>
            <a:chExt cx="2222021" cy="160800"/>
          </a:xfrm>
        </p:grpSpPr>
        <p:sp>
          <p:nvSpPr>
            <p:cNvPr id="1136" name="Google Shape;1136;p85"/>
            <p:cNvSpPr/>
            <p:nvPr/>
          </p:nvSpPr>
          <p:spPr>
            <a:xfrm>
              <a:off x="-5078419" y="986625"/>
              <a:ext cx="675300" cy="160800"/>
            </a:xfrm>
            <a:prstGeom prst="rect">
              <a:avLst/>
            </a:prstGeom>
            <a:solidFill>
              <a:srgbClr val="FFD4CB"/>
            </a:solidFill>
            <a:ln cap="flat" cmpd="sng" w="90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6700" lIns="86700" spcFirstLastPara="1" rIns="86700" wrap="square" tIns="86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8">
                  <a:latin typeface="DM Sans"/>
                  <a:ea typeface="DM Sans"/>
                  <a:cs typeface="DM Sans"/>
                  <a:sym typeface="DM Sans"/>
                </a:rPr>
                <a:t>NB Baseline </a:t>
              </a:r>
              <a:endParaRPr sz="75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37" name="Google Shape;1137;p85"/>
            <p:cNvSpPr/>
            <p:nvPr/>
          </p:nvSpPr>
          <p:spPr>
            <a:xfrm>
              <a:off x="-434984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90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6700" lIns="86700" spcFirstLastPara="1" rIns="86700" wrap="square" tIns="86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8">
                  <a:latin typeface="DM Sans"/>
                  <a:ea typeface="DM Sans"/>
                  <a:cs typeface="DM Sans"/>
                  <a:sym typeface="DM Sans"/>
                </a:rPr>
                <a:t>63.48</a:t>
              </a:r>
              <a:endParaRPr sz="75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38" name="Google Shape;1138;p85"/>
            <p:cNvSpPr/>
            <p:nvPr/>
          </p:nvSpPr>
          <p:spPr>
            <a:xfrm>
              <a:off x="-3834273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90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6700" lIns="86700" spcFirstLastPara="1" rIns="86700" wrap="square" tIns="86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8">
                  <a:latin typeface="DM Sans"/>
                  <a:ea typeface="DM Sans"/>
                  <a:cs typeface="DM Sans"/>
                  <a:sym typeface="DM Sans"/>
                </a:rPr>
                <a:t>0.657</a:t>
              </a:r>
              <a:endParaRPr sz="75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39" name="Google Shape;1139;p85"/>
            <p:cNvSpPr/>
            <p:nvPr/>
          </p:nvSpPr>
          <p:spPr>
            <a:xfrm>
              <a:off x="-331869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90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6700" lIns="86700" spcFirstLastPara="1" rIns="86700" wrap="square" tIns="86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8">
                  <a:latin typeface="DM Sans"/>
                  <a:ea typeface="DM Sans"/>
                  <a:cs typeface="DM Sans"/>
                  <a:sym typeface="DM Sans"/>
                </a:rPr>
                <a:t>0.635</a:t>
              </a:r>
              <a:endParaRPr sz="758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p86"/>
          <p:cNvSpPr txBox="1"/>
          <p:nvPr/>
        </p:nvSpPr>
        <p:spPr>
          <a:xfrm rot="-5400000">
            <a:off x="-2086050" y="2095500"/>
            <a:ext cx="5124600" cy="95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rPr>
              <a:t>Attribute</a:t>
            </a:r>
            <a:r>
              <a:rPr lang="en" sz="4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rPr>
              <a:t> Results</a:t>
            </a:r>
            <a:endParaRPr sz="4500">
              <a:solidFill>
                <a:schemeClr val="dk1"/>
              </a:solidFill>
              <a:latin typeface="Chakra Petch Medium"/>
              <a:ea typeface="Chakra Petch Medium"/>
              <a:cs typeface="Chakra Petch Medium"/>
              <a:sym typeface="Chakra Petch Medium"/>
            </a:endParaRPr>
          </a:p>
        </p:txBody>
      </p:sp>
      <p:cxnSp>
        <p:nvCxnSpPr>
          <p:cNvPr id="1145" name="Google Shape;1145;p86"/>
          <p:cNvCxnSpPr/>
          <p:nvPr/>
        </p:nvCxnSpPr>
        <p:spPr>
          <a:xfrm>
            <a:off x="966600" y="350450"/>
            <a:ext cx="600" cy="4113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146" name="Google Shape;1146;p86"/>
          <p:cNvGraphicFramePr/>
          <p:nvPr/>
        </p:nvGraphicFramePr>
        <p:xfrm>
          <a:off x="1164650" y="352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{CABB4C81-0042-400D-8A47-4D123343D0ED}</a:tableStyleId>
              </a:tblPr>
              <a:tblGrid>
                <a:gridCol w="562250"/>
                <a:gridCol w="549250"/>
                <a:gridCol w="575675"/>
                <a:gridCol w="445350"/>
                <a:gridCol w="580925"/>
                <a:gridCol w="693900"/>
                <a:gridCol w="401300"/>
                <a:gridCol w="585125"/>
                <a:gridCol w="591025"/>
                <a:gridCol w="612500"/>
                <a:gridCol w="496525"/>
                <a:gridCol w="570550"/>
                <a:gridCol w="734650"/>
              </a:tblGrid>
              <a:tr h="350800">
                <a:tc gridSpan="6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Attribute Distribution Across Combinations </a:t>
                      </a:r>
                      <a:endParaRPr sz="1000"/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(best model accuracy)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rowSpan="2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gridSpan="6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Attribute Distribution Across Combinations </a:t>
                      </a:r>
                      <a:endParaRPr sz="1000"/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(avg accuracy)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</a:tr>
              <a:tr h="184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5</a:t>
                      </a:r>
                      <a:endParaRPr sz="5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 rowSpan="10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6</a:t>
                      </a:r>
                      <a:endParaRPr sz="5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FE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10</a:t>
                      </a:r>
                      <a:endParaRPr sz="5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FE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5</a:t>
                      </a:r>
                      <a:endParaRPr sz="5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 rowSpan="10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6</a:t>
                      </a:r>
                      <a:endParaRPr sz="5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FE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10</a:t>
                      </a:r>
                      <a:endParaRPr sz="5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FE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184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22</a:t>
                      </a:r>
                      <a:endParaRPr sz="5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7</a:t>
                      </a:r>
                      <a:endParaRPr sz="5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184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7</a:t>
                      </a:r>
                      <a:endParaRPr sz="5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22</a:t>
                      </a:r>
                      <a:endParaRPr sz="5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27</a:t>
                      </a:r>
                      <a:endParaRPr sz="5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27</a:t>
                      </a:r>
                      <a:endParaRPr sz="5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184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5</a:t>
                      </a:r>
                      <a:endParaRPr sz="5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22</a:t>
                      </a:r>
                      <a:endParaRPr sz="5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22</a:t>
                      </a:r>
                      <a:endParaRPr sz="5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 vMerge="1"/>
              </a:tr>
              <a:tr h="18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 vMerge="1"/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7</a:t>
                      </a:r>
                      <a:endParaRPr sz="5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7</a:t>
                      </a:r>
                      <a:endParaRPr sz="5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 vMerge="1"/>
              </a:tr>
              <a:tr h="18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22</a:t>
                      </a:r>
                      <a:endParaRPr sz="5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5</a:t>
                      </a:r>
                      <a:endParaRPr sz="5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22</a:t>
                      </a:r>
                      <a:endParaRPr sz="500">
                        <a:highlight>
                          <a:srgbClr val="FFF2CC"/>
                        </a:highlight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18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 vMerge="1"/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27</a:t>
                      </a:r>
                      <a:endParaRPr sz="5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7</a:t>
                      </a:r>
                      <a:endParaRPr sz="5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184300">
                <a:tc row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5</a:t>
                      </a:r>
                      <a:endParaRPr sz="5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 vMerge="1"/>
                <a:tc vMerge="1"/>
                <a:tc row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5</a:t>
                      </a:r>
                      <a:endParaRPr sz="5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27</a:t>
                      </a:r>
                      <a:endParaRPr sz="5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84300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7</a:t>
                      </a:r>
                      <a:endParaRPr sz="5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7</a:t>
                      </a:r>
                      <a:endParaRPr sz="5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1843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10</a:t>
                      </a:r>
                      <a:endParaRPr sz="5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22</a:t>
                      </a:r>
                      <a:endParaRPr sz="5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 rowSpan="6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10</a:t>
                      </a:r>
                      <a:endParaRPr sz="5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22</a:t>
                      </a:r>
                      <a:endParaRPr sz="5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18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7</a:t>
                      </a:r>
                      <a:endParaRPr sz="5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7</a:t>
                      </a:r>
                      <a:endParaRPr sz="5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18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27</a:t>
                      </a:r>
                      <a:endParaRPr sz="5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27</a:t>
                      </a:r>
                      <a:endParaRPr sz="5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84300">
                <a:tc row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5</a:t>
                      </a:r>
                      <a:endParaRPr sz="5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7</a:t>
                      </a:r>
                      <a:endParaRPr sz="5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5</a:t>
                      </a:r>
                      <a:endParaRPr sz="5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7</a:t>
                      </a:r>
                      <a:endParaRPr sz="5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1843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22</a:t>
                      </a:r>
                      <a:endParaRPr sz="5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27</a:t>
                      </a:r>
                      <a:endParaRPr sz="5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27</a:t>
                      </a:r>
                      <a:endParaRPr sz="5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1843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7</a:t>
                      </a:r>
                      <a:endParaRPr sz="5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 vMerge="1"/>
                <a:tc row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5</a:t>
                      </a:r>
                      <a:endParaRPr sz="5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C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 vMerge="1"/>
              </a:tr>
              <a:tr h="18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 vMerge="1"/>
                <a:tc row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27</a:t>
                      </a:r>
                      <a:endParaRPr sz="5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C9C"/>
                    </a:solidFill>
                  </a:tcPr>
                </a:tc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7</a:t>
                      </a:r>
                      <a:endParaRPr sz="5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22</a:t>
                      </a:r>
                      <a:endParaRPr sz="5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C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18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 vMerge="1"/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10</a:t>
                      </a:r>
                      <a:endParaRPr sz="5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 vMerge="1"/>
                <a:tc row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27</a:t>
                      </a:r>
                      <a:endParaRPr sz="5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184300"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5</a:t>
                      </a:r>
                      <a:endParaRPr sz="5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7</a:t>
                      </a:r>
                      <a:endParaRPr sz="5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 vMerge="1"/>
                <a:tc vMerge="1"/>
              </a:tr>
              <a:tr h="1843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7</a:t>
                      </a:r>
                      <a:endParaRPr sz="5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5</a:t>
                      </a:r>
                      <a:endParaRPr sz="5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 vMerge="1"/>
              </a:tr>
              <a:tr h="350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Arrestee_Race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Arrestee_Sex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Arrestee_Age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PSA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Officer</a:t>
                      </a:r>
                      <a:endParaRPr sz="1000"/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Sex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STATION_NA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Arrestee_Race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Arrestee_Sex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Arrestee_Age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PSA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Officer</a:t>
                      </a:r>
                      <a:endParaRPr sz="1000"/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Sex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STATION_NA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87"/>
          <p:cNvSpPr txBox="1"/>
          <p:nvPr>
            <p:ph idx="3" type="body"/>
          </p:nvPr>
        </p:nvSpPr>
        <p:spPr>
          <a:xfrm>
            <a:off x="363275" y="384926"/>
            <a:ext cx="8412600" cy="9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&amp; Worst Models</a:t>
            </a:r>
            <a:endParaRPr/>
          </a:p>
        </p:txBody>
      </p:sp>
      <p:sp>
        <p:nvSpPr>
          <p:cNvPr id="1152" name="Google Shape;1152;p87"/>
          <p:cNvSpPr/>
          <p:nvPr/>
        </p:nvSpPr>
        <p:spPr>
          <a:xfrm>
            <a:off x="1184225" y="1261425"/>
            <a:ext cx="2969100" cy="6435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DM Sans"/>
                <a:ea typeface="DM Sans"/>
                <a:cs typeface="DM Sans"/>
                <a:sym typeface="DM Sans"/>
              </a:rPr>
              <a:t>Best</a:t>
            </a:r>
            <a:endParaRPr sz="3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53" name="Google Shape;1153;p87"/>
          <p:cNvSpPr/>
          <p:nvPr/>
        </p:nvSpPr>
        <p:spPr>
          <a:xfrm>
            <a:off x="5241025" y="1261425"/>
            <a:ext cx="2969100" cy="643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DM Sans"/>
                <a:ea typeface="DM Sans"/>
                <a:cs typeface="DM Sans"/>
                <a:sym typeface="DM Sans"/>
              </a:rPr>
              <a:t>Worst</a:t>
            </a:r>
            <a:endParaRPr sz="3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54" name="Google Shape;1154;p87"/>
          <p:cNvSpPr/>
          <p:nvPr/>
        </p:nvSpPr>
        <p:spPr>
          <a:xfrm>
            <a:off x="832475" y="1904925"/>
            <a:ext cx="3672600" cy="2462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55" name="Google Shape;1155;p87"/>
          <p:cNvSpPr/>
          <p:nvPr/>
        </p:nvSpPr>
        <p:spPr>
          <a:xfrm>
            <a:off x="4889275" y="1904925"/>
            <a:ext cx="3672600" cy="2462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56" name="Google Shape;1156;p87"/>
          <p:cNvSpPr/>
          <p:nvPr/>
        </p:nvSpPr>
        <p:spPr>
          <a:xfrm>
            <a:off x="1012575" y="2068050"/>
            <a:ext cx="3346500" cy="6435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DM Sans"/>
                <a:ea typeface="DM Sans"/>
                <a:cs typeface="DM Sans"/>
                <a:sym typeface="DM Sans"/>
              </a:rPr>
              <a:t>Decision Table</a:t>
            </a:r>
            <a:r>
              <a:rPr lang="en">
                <a:latin typeface="DM Sans"/>
                <a:ea typeface="DM Sans"/>
                <a:cs typeface="DM Sans"/>
                <a:sym typeface="DM Sans"/>
              </a:rPr>
              <a:t> with </a:t>
            </a:r>
            <a:r>
              <a:rPr b="1" lang="en">
                <a:latin typeface="DM Sans"/>
                <a:ea typeface="DM Sans"/>
                <a:cs typeface="DM Sans"/>
                <a:sym typeface="DM Sans"/>
              </a:rPr>
              <a:t>J48</a:t>
            </a:r>
            <a:r>
              <a:rPr lang="en">
                <a:latin typeface="DM Sans"/>
                <a:ea typeface="DM Sans"/>
                <a:cs typeface="DM Sans"/>
                <a:sym typeface="DM Sans"/>
              </a:rPr>
              <a:t> passing Arrestee_Race, Arrestee_Sex, PSA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57" name="Google Shape;1157;p87"/>
          <p:cNvSpPr/>
          <p:nvPr/>
        </p:nvSpPr>
        <p:spPr>
          <a:xfrm>
            <a:off x="5052325" y="2068050"/>
            <a:ext cx="3346500" cy="643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DM Sans"/>
                <a:ea typeface="DM Sans"/>
                <a:cs typeface="DM Sans"/>
                <a:sym typeface="DM Sans"/>
              </a:rPr>
              <a:t>Naïve Bayes</a:t>
            </a:r>
            <a:r>
              <a:rPr lang="en">
                <a:latin typeface="DM Sans"/>
                <a:ea typeface="DM Sans"/>
                <a:cs typeface="DM Sans"/>
                <a:sym typeface="DM Sans"/>
              </a:rPr>
              <a:t> with </a:t>
            </a:r>
            <a:r>
              <a:rPr b="1" lang="en">
                <a:latin typeface="DM Sans"/>
                <a:ea typeface="DM Sans"/>
                <a:cs typeface="DM Sans"/>
                <a:sym typeface="DM Sans"/>
              </a:rPr>
              <a:t>OneR</a:t>
            </a:r>
            <a:endParaRPr b="1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58" name="Google Shape;1158;p87"/>
          <p:cNvSpPr/>
          <p:nvPr/>
        </p:nvSpPr>
        <p:spPr>
          <a:xfrm>
            <a:off x="895025" y="2814525"/>
            <a:ext cx="3547500" cy="1426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83.7% Accuracy ⇒ That’s </a:t>
            </a:r>
            <a:r>
              <a:rPr b="1" lang="en"/>
              <a:t>15.55% higher accuracy</a:t>
            </a:r>
            <a:r>
              <a:rPr lang="en"/>
              <a:t> than the Decision Table baseline!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0.839 precision; 0.837 recall ⇒ Balanced</a:t>
            </a:r>
            <a:endParaRPr/>
          </a:p>
        </p:txBody>
      </p:sp>
      <p:sp>
        <p:nvSpPr>
          <p:cNvPr id="1159" name="Google Shape;1159;p87"/>
          <p:cNvSpPr/>
          <p:nvPr/>
        </p:nvSpPr>
        <p:spPr>
          <a:xfrm>
            <a:off x="4951825" y="2814525"/>
            <a:ext cx="3547500" cy="14268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63.09% Accuracy ⇒ That’s </a:t>
            </a:r>
            <a:r>
              <a:rPr b="1" lang="en"/>
              <a:t>0.385% worse</a:t>
            </a:r>
            <a:r>
              <a:rPr lang="en"/>
              <a:t> than the Naïve Bayes baseline.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Naïve Assumption + Weakness of OneR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88"/>
          <p:cNvSpPr txBox="1"/>
          <p:nvPr>
            <p:ph type="title"/>
          </p:nvPr>
        </p:nvSpPr>
        <p:spPr>
          <a:xfrm>
            <a:off x="396550" y="2104825"/>
            <a:ext cx="8384700" cy="265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&amp; Future Work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p89"/>
          <p:cNvSpPr txBox="1"/>
          <p:nvPr>
            <p:ph idx="3" type="body"/>
          </p:nvPr>
        </p:nvSpPr>
        <p:spPr>
          <a:xfrm>
            <a:off x="363275" y="384926"/>
            <a:ext cx="8412600" cy="9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170" name="Google Shape;1170;p89"/>
          <p:cNvSpPr txBox="1"/>
          <p:nvPr/>
        </p:nvSpPr>
        <p:spPr>
          <a:xfrm>
            <a:off x="743100" y="1206600"/>
            <a:ext cx="7957500" cy="34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M Sans"/>
              <a:buChar char="-"/>
            </a:pPr>
            <a:r>
              <a:rPr lang="en" sz="2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The best permutation of this method saw substantial improvement from the baseline</a:t>
            </a:r>
            <a:endParaRPr sz="2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Char char="-"/>
            </a:pPr>
            <a:r>
              <a:rPr lang="en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original postulation proven: information IS gained when using information from every arrest charge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M Sans"/>
              <a:buChar char="-"/>
            </a:pPr>
            <a:r>
              <a:rPr lang="en" sz="2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DT was the only submodel (of the 3 attempted) which saw improvement</a:t>
            </a:r>
            <a:endParaRPr sz="2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M Sans"/>
              <a:buChar char="-"/>
            </a:pPr>
            <a:r>
              <a:rPr lang="en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OneR, while quick, gains minimal info. Naive assumption does not hold</a:t>
            </a:r>
            <a:endParaRPr sz="2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M Sans"/>
              <a:buChar char="-"/>
            </a:pPr>
            <a:r>
              <a:rPr lang="en" sz="2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The attributes used in the submodel matter</a:t>
            </a:r>
            <a:endParaRPr sz="2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90"/>
          <p:cNvSpPr txBox="1"/>
          <p:nvPr>
            <p:ph idx="1" type="body"/>
          </p:nvPr>
        </p:nvSpPr>
        <p:spPr>
          <a:xfrm>
            <a:off x="538825" y="1751750"/>
            <a:ext cx="3699300" cy="2277000"/>
          </a:xfrm>
          <a:prstGeom prst="rect">
            <a:avLst/>
          </a:prstGeom>
          <a:solidFill>
            <a:srgbClr val="000000">
              <a:alpha val="20000"/>
            </a:srgbClr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D9EAD3"/>
              </a:buClr>
              <a:buSzPts val="2000"/>
              <a:buChar char="-"/>
            </a:pPr>
            <a:r>
              <a:rPr lang="en">
                <a:solidFill>
                  <a:srgbClr val="D9EAD3"/>
                </a:solidFill>
              </a:rPr>
              <a:t>Condensing data </a:t>
            </a:r>
            <a:r>
              <a:rPr lang="en" sz="1800">
                <a:solidFill>
                  <a:srgbClr val="D9EAD3"/>
                </a:solidFill>
              </a:rPr>
              <a:t>(not increasing dimensionality)</a:t>
            </a:r>
            <a:endParaRPr sz="1800">
              <a:solidFill>
                <a:srgbClr val="D9EAD3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D9EAD3"/>
              </a:buClr>
              <a:buSzPts val="2000"/>
              <a:buChar char="-"/>
            </a:pPr>
            <a:r>
              <a:rPr lang="en">
                <a:solidFill>
                  <a:srgbClr val="D9EAD3"/>
                </a:solidFill>
              </a:rPr>
              <a:t>Substantial accuracy improvement</a:t>
            </a:r>
            <a:endParaRPr>
              <a:solidFill>
                <a:srgbClr val="D9EAD3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D9EAD3"/>
              </a:buClr>
              <a:buSzPts val="2000"/>
              <a:buChar char="-"/>
            </a:pPr>
            <a:r>
              <a:rPr lang="en">
                <a:solidFill>
                  <a:srgbClr val="D9EAD3"/>
                </a:solidFill>
              </a:rPr>
              <a:t>Process multivalued data w/o increasing dimension</a:t>
            </a:r>
            <a:endParaRPr>
              <a:solidFill>
                <a:srgbClr val="D9EAD3"/>
              </a:solidFill>
            </a:endParaRPr>
          </a:p>
        </p:txBody>
      </p:sp>
      <p:sp>
        <p:nvSpPr>
          <p:cNvPr id="1176" name="Google Shape;1176;p90"/>
          <p:cNvSpPr txBox="1"/>
          <p:nvPr>
            <p:ph idx="1" type="body"/>
          </p:nvPr>
        </p:nvSpPr>
        <p:spPr>
          <a:xfrm>
            <a:off x="4905900" y="1751750"/>
            <a:ext cx="3699300" cy="2277000"/>
          </a:xfrm>
          <a:prstGeom prst="rect">
            <a:avLst/>
          </a:prstGeom>
          <a:solidFill>
            <a:srgbClr val="000000">
              <a:alpha val="20000"/>
            </a:srgbClr>
          </a:solidFill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4CCCC"/>
              </a:buClr>
              <a:buSzPts val="2000"/>
              <a:buChar char="-"/>
            </a:pPr>
            <a:r>
              <a:rPr lang="en">
                <a:solidFill>
                  <a:srgbClr val="F4CCCC"/>
                </a:solidFill>
              </a:rPr>
              <a:t>Runtime (multi-valued attribute processing w/ a Decision tree took ~1m45s w/ 3 addl. attributes)</a:t>
            </a:r>
            <a:endParaRPr>
              <a:solidFill>
                <a:srgbClr val="F4CCCC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4CCCC"/>
              </a:buClr>
              <a:buSzPts val="2000"/>
              <a:buChar char="-"/>
            </a:pPr>
            <a:r>
              <a:rPr lang="en">
                <a:solidFill>
                  <a:srgbClr val="F4CCCC"/>
                </a:solidFill>
              </a:rPr>
              <a:t>Difficulty selecting best attributes for step 1 </a:t>
            </a:r>
            <a:endParaRPr>
              <a:solidFill>
                <a:srgbClr val="F4CCCC"/>
              </a:solidFill>
            </a:endParaRPr>
          </a:p>
        </p:txBody>
      </p:sp>
      <p:sp>
        <p:nvSpPr>
          <p:cNvPr id="1177" name="Google Shape;1177;p90"/>
          <p:cNvSpPr txBox="1"/>
          <p:nvPr/>
        </p:nvSpPr>
        <p:spPr>
          <a:xfrm>
            <a:off x="538825" y="951350"/>
            <a:ext cx="3699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rPr>
              <a:t>Benefits </a:t>
            </a:r>
            <a:endParaRPr/>
          </a:p>
        </p:txBody>
      </p:sp>
      <p:sp>
        <p:nvSpPr>
          <p:cNvPr id="1178" name="Google Shape;1178;p90"/>
          <p:cNvSpPr txBox="1"/>
          <p:nvPr/>
        </p:nvSpPr>
        <p:spPr>
          <a:xfrm>
            <a:off x="4856700" y="951350"/>
            <a:ext cx="3797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rPr>
              <a:t>Drawbacks</a:t>
            </a:r>
            <a:endParaRPr/>
          </a:p>
        </p:txBody>
      </p:sp>
      <p:sp>
        <p:nvSpPr>
          <p:cNvPr id="1179" name="Google Shape;1179;p90"/>
          <p:cNvSpPr txBox="1"/>
          <p:nvPr/>
        </p:nvSpPr>
        <p:spPr>
          <a:xfrm>
            <a:off x="3131100" y="951350"/>
            <a:ext cx="1725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rPr>
              <a:t>&amp;</a:t>
            </a:r>
            <a:endParaRPr/>
          </a:p>
        </p:txBody>
      </p:sp>
      <p:sp>
        <p:nvSpPr>
          <p:cNvPr id="1180" name="Google Shape;1180;p90"/>
          <p:cNvSpPr txBox="1"/>
          <p:nvPr/>
        </p:nvSpPr>
        <p:spPr>
          <a:xfrm>
            <a:off x="593400" y="4095900"/>
            <a:ext cx="7957200" cy="6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19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Conclusion: Information gained only when condensing using other situational details</a:t>
            </a:r>
            <a:endParaRPr sz="19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91"/>
          <p:cNvSpPr txBox="1"/>
          <p:nvPr>
            <p:ph idx="3" type="body"/>
          </p:nvPr>
        </p:nvSpPr>
        <p:spPr>
          <a:xfrm>
            <a:off x="363275" y="384926"/>
            <a:ext cx="8412600" cy="9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</a:t>
            </a:r>
            <a:endParaRPr/>
          </a:p>
        </p:txBody>
      </p:sp>
      <p:sp>
        <p:nvSpPr>
          <p:cNvPr id="1186" name="Google Shape;1186;p91"/>
          <p:cNvSpPr txBox="1"/>
          <p:nvPr/>
        </p:nvSpPr>
        <p:spPr>
          <a:xfrm>
            <a:off x="740400" y="1176550"/>
            <a:ext cx="7663200" cy="30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To improve/expand upon this concept…</a:t>
            </a:r>
            <a:endParaRPr sz="2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M Sans"/>
              <a:buChar char="-"/>
            </a:pPr>
            <a:r>
              <a:rPr lang="en" sz="2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try different types &amp; combinations of models</a:t>
            </a:r>
            <a:endParaRPr sz="2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M Sans"/>
              <a:buChar char="-"/>
            </a:pPr>
            <a:r>
              <a:rPr lang="en" sz="2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using formal attribute selection after step 1</a:t>
            </a:r>
            <a:endParaRPr sz="2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M Sans"/>
              <a:buChar char="-"/>
            </a:pPr>
            <a:r>
              <a:rPr lang="en" sz="2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direct comparison to one-hot (on simpler dataset that would require less dimensionality increase)</a:t>
            </a:r>
            <a:endParaRPr sz="2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DM Sans"/>
              <a:buChar char="-"/>
            </a:pPr>
            <a:r>
              <a:rPr lang="en" sz="2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is this only good when one hot isn’t applicable?</a:t>
            </a:r>
            <a:endParaRPr sz="2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M Sans"/>
              <a:buChar char="-"/>
            </a:pPr>
            <a:r>
              <a:rPr lang="en" sz="2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apply to other datasets -- is it generalizable?</a:t>
            </a:r>
            <a:endParaRPr sz="2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92"/>
          <p:cNvSpPr txBox="1"/>
          <p:nvPr>
            <p:ph idx="3" type="body"/>
          </p:nvPr>
        </p:nvSpPr>
        <p:spPr>
          <a:xfrm>
            <a:off x="363275" y="384926"/>
            <a:ext cx="8412600" cy="9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1192" name="Google Shape;1192;p92"/>
          <p:cNvSpPr txBox="1"/>
          <p:nvPr/>
        </p:nvSpPr>
        <p:spPr>
          <a:xfrm>
            <a:off x="737975" y="1319425"/>
            <a:ext cx="7663200" cy="30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[1] Ahmad, A., &amp; Brown, G. (2015). Random ordinality ensembles: Ensemble methods for multi-valued categorical data. Information Sciences, 296, 75-94. https://doi.org/10.1016/j.ins.2014.10.064</a:t>
            </a:r>
            <a:endParaRPr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5720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[2] Li, H., Guo, Y.-J., Wu, M., Li, P., &amp; Xiang, Y. (2010). Combine multi-valued attribute decomposition with multi-label learning. Expert Systems With Applications, 37(12), 8721-8728. https://doi.org/10.1016/j.eswa.2010.06.044</a:t>
            </a:r>
            <a:endParaRPr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5720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[3] Papčo, M., Rodríguez-Martínez, I., Fumanal-Idocin, J., Altalhi, A. H., &amp; Bustince, H. (2021). A fusion method for multi-valued data. Information Fusion, 71, 1-10. https://doi.org/10.1016/j.inffus.2021.01.001</a:t>
            </a:r>
            <a:endParaRPr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5720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[4] Zhou, W., Lu, Y., Liu, M., &amp; Zhang, K. (2021). Machine learning methods based on probabilistic decision tree under the multi-valued preference environment. Economic Research-Ekonomska Istraživanja, 35(1), 38-59. </a:t>
            </a:r>
            <a:r>
              <a:rPr lang="en" sz="1300" u="sng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3"/>
              </a:rPr>
              <a:t>https://doi.org/10.1080/1331677x.2021.1875866</a:t>
            </a:r>
            <a:endParaRPr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5720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[5] Fairfax County Police Department, Mar. 2025, “2024 Arrest Data,” Fairfax County Police Department. [Online]. Available: https://www.fcpod.org/pages/crime-data</a:t>
            </a:r>
            <a:endParaRPr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p93"/>
          <p:cNvSpPr txBox="1"/>
          <p:nvPr>
            <p:ph type="title"/>
          </p:nvPr>
        </p:nvSpPr>
        <p:spPr>
          <a:xfrm>
            <a:off x="232050" y="2112300"/>
            <a:ext cx="8321100" cy="265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Questions?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94"/>
          <p:cNvSpPr txBox="1"/>
          <p:nvPr>
            <p:ph idx="3" type="body"/>
          </p:nvPr>
        </p:nvSpPr>
        <p:spPr>
          <a:xfrm>
            <a:off x="365700" y="377525"/>
            <a:ext cx="6380400" cy="9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Template</a:t>
            </a:r>
            <a:r>
              <a:rPr lang="en" sz="3500"/>
              <a:t>		null w/ null</a:t>
            </a:r>
            <a:endParaRPr sz="3500"/>
          </a:p>
        </p:txBody>
      </p:sp>
      <p:grpSp>
        <p:nvGrpSpPr>
          <p:cNvPr id="1203" name="Google Shape;1203;p94"/>
          <p:cNvGrpSpPr/>
          <p:nvPr/>
        </p:nvGrpSpPr>
        <p:grpSpPr>
          <a:xfrm>
            <a:off x="2125287" y="2823209"/>
            <a:ext cx="2720411" cy="1656118"/>
            <a:chOff x="6746175" y="88175"/>
            <a:chExt cx="2318400" cy="1411504"/>
          </a:xfrm>
        </p:grpSpPr>
        <p:sp>
          <p:nvSpPr>
            <p:cNvPr id="1204" name="Google Shape;1204;p94"/>
            <p:cNvSpPr/>
            <p:nvPr/>
          </p:nvSpPr>
          <p:spPr>
            <a:xfrm>
              <a:off x="6746175" y="88179"/>
              <a:ext cx="2318400" cy="1411500"/>
            </a:xfrm>
            <a:prstGeom prst="rect">
              <a:avLst/>
            </a:prstGeom>
            <a:solidFill>
              <a:schemeClr val="dk1"/>
            </a:solidFill>
            <a:ln cap="flat" cmpd="sng" w="11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42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05" name="Google Shape;1205;p94"/>
            <p:cNvSpPr txBox="1"/>
            <p:nvPr/>
          </p:nvSpPr>
          <p:spPr>
            <a:xfrm>
              <a:off x="6746175" y="88175"/>
              <a:ext cx="2318400" cy="232500"/>
            </a:xfrm>
            <a:prstGeom prst="rect">
              <a:avLst/>
            </a:prstGeom>
            <a:solidFill>
              <a:srgbClr val="FFFFFF">
                <a:alpha val="50000"/>
              </a:srgbClr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7250" lIns="107250" spcFirstLastPara="1" rIns="107250" wrap="square" tIns="107250">
              <a:noAutofit/>
            </a:bodyPr>
            <a:lstStyle/>
            <a:p>
              <a:pPr indent="0" lvl="0" marL="0" rtl="0" algn="l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7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COMPARISON </a:t>
              </a:r>
              <a:r>
                <a:rPr lang="en" sz="603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so you don’t have to remember</a:t>
              </a:r>
              <a:endParaRPr sz="60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206" name="Google Shape;1206;p94"/>
          <p:cNvGrpSpPr/>
          <p:nvPr/>
        </p:nvGrpSpPr>
        <p:grpSpPr>
          <a:xfrm>
            <a:off x="2181936" y="3161368"/>
            <a:ext cx="2607109" cy="188700"/>
            <a:chOff x="2181936" y="3161368"/>
            <a:chExt cx="2607109" cy="188700"/>
          </a:xfrm>
        </p:grpSpPr>
        <p:sp>
          <p:nvSpPr>
            <p:cNvPr id="1207" name="Google Shape;1207;p94"/>
            <p:cNvSpPr/>
            <p:nvPr/>
          </p:nvSpPr>
          <p:spPr>
            <a:xfrm>
              <a:off x="2181936" y="3161368"/>
              <a:ext cx="792300" cy="188700"/>
            </a:xfrm>
            <a:prstGeom prst="rect">
              <a:avLst/>
            </a:prstGeom>
            <a:solidFill>
              <a:schemeClr val="lt2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Model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08" name="Google Shape;1208;p94"/>
            <p:cNvSpPr/>
            <p:nvPr/>
          </p:nvSpPr>
          <p:spPr>
            <a:xfrm>
              <a:off x="3036764" y="3161368"/>
              <a:ext cx="542400" cy="188700"/>
            </a:xfrm>
            <a:prstGeom prst="rect">
              <a:avLst/>
            </a:prstGeom>
            <a:solidFill>
              <a:schemeClr val="lt2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Acc.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09" name="Google Shape;1209;p94"/>
            <p:cNvSpPr/>
            <p:nvPr/>
          </p:nvSpPr>
          <p:spPr>
            <a:xfrm>
              <a:off x="3641697" y="3161368"/>
              <a:ext cx="542400" cy="188700"/>
            </a:xfrm>
            <a:prstGeom prst="rect">
              <a:avLst/>
            </a:prstGeom>
            <a:solidFill>
              <a:schemeClr val="lt2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Prec.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10" name="Google Shape;1210;p94"/>
            <p:cNvSpPr/>
            <p:nvPr/>
          </p:nvSpPr>
          <p:spPr>
            <a:xfrm>
              <a:off x="4246645" y="3161368"/>
              <a:ext cx="542400" cy="188700"/>
            </a:xfrm>
            <a:prstGeom prst="rect">
              <a:avLst/>
            </a:prstGeom>
            <a:solidFill>
              <a:schemeClr val="lt2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Recall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211" name="Google Shape;1211;p94"/>
          <p:cNvGrpSpPr/>
          <p:nvPr/>
        </p:nvGrpSpPr>
        <p:grpSpPr>
          <a:xfrm>
            <a:off x="2181519" y="3428224"/>
            <a:ext cx="2607319" cy="188667"/>
            <a:chOff x="-5078419" y="986625"/>
            <a:chExt cx="2222021" cy="160800"/>
          </a:xfrm>
        </p:grpSpPr>
        <p:sp>
          <p:nvSpPr>
            <p:cNvPr id="1212" name="Google Shape;1212;p94"/>
            <p:cNvSpPr/>
            <p:nvPr/>
          </p:nvSpPr>
          <p:spPr>
            <a:xfrm>
              <a:off x="-5078419" y="986625"/>
              <a:ext cx="675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8">
                  <a:latin typeface="DM Sans"/>
                  <a:ea typeface="DM Sans"/>
                  <a:cs typeface="DM Sans"/>
                  <a:sym typeface="DM Sans"/>
                </a:rPr>
                <a:t>Baseline</a:t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13" name="Google Shape;1213;p94"/>
            <p:cNvSpPr/>
            <p:nvPr/>
          </p:nvSpPr>
          <p:spPr>
            <a:xfrm>
              <a:off x="-434984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14" name="Google Shape;1214;p94"/>
            <p:cNvSpPr/>
            <p:nvPr/>
          </p:nvSpPr>
          <p:spPr>
            <a:xfrm>
              <a:off x="-3834273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15" name="Google Shape;1215;p94"/>
            <p:cNvSpPr/>
            <p:nvPr/>
          </p:nvSpPr>
          <p:spPr>
            <a:xfrm>
              <a:off x="-3318698" y="986625"/>
              <a:ext cx="462300" cy="160800"/>
            </a:xfrm>
            <a:prstGeom prst="rect">
              <a:avLst/>
            </a:prstGeom>
            <a:solidFill>
              <a:srgbClr val="FFD4CB"/>
            </a:solidFill>
            <a:ln cap="flat" cmpd="sng" w="11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250" lIns="107250" spcFirstLastPara="1" rIns="107250" wrap="square" tIns="10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38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aphicFrame>
        <p:nvGraphicFramePr>
          <p:cNvPr id="1216" name="Google Shape;1216;p94"/>
          <p:cNvGraphicFramePr/>
          <p:nvPr/>
        </p:nvGraphicFramePr>
        <p:xfrm>
          <a:off x="5222075" y="1457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{CABB4C81-0042-400D-8A47-4D123343D0ED}</a:tableStyleId>
              </a:tblPr>
              <a:tblGrid>
                <a:gridCol w="1107275"/>
                <a:gridCol w="719150"/>
                <a:gridCol w="719150"/>
                <a:gridCol w="719150"/>
              </a:tblGrid>
              <a:tr h="705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% Accuracy</a:t>
                      </a:r>
                      <a:endParaRPr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Predicted</a:t>
                      </a:r>
                      <a:endParaRPr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692575">
                <a:tc row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Actual</a:t>
                      </a:r>
                      <a:endParaRPr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925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925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17" name="Google Shape;1217;p94"/>
          <p:cNvGraphicFramePr/>
          <p:nvPr/>
        </p:nvGraphicFramePr>
        <p:xfrm>
          <a:off x="878150" y="1457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{CABB4C81-0042-400D-8A47-4D123343D0ED}</a:tableStyleId>
              </a:tblPr>
              <a:tblGrid>
                <a:gridCol w="419400"/>
                <a:gridCol w="827525"/>
                <a:gridCol w="827525"/>
                <a:gridCol w="654500"/>
                <a:gridCol w="654500"/>
                <a:gridCol w="654500"/>
              </a:tblGrid>
              <a:tr h="324275">
                <a:tc row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</a:tr>
              <a:tr h="3242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3242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1C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CEC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ducational Games #4">
  <a:themeElements>
    <a:clrScheme name="Simple Light">
      <a:dk1>
        <a:srgbClr val="FFA38F"/>
      </a:dk1>
      <a:lt1>
        <a:srgbClr val="631212"/>
      </a:lt1>
      <a:dk2>
        <a:srgbClr val="FFFFFF"/>
      </a:dk2>
      <a:lt2>
        <a:srgbClr val="DDDDD8"/>
      </a:lt2>
      <a:accent1>
        <a:srgbClr val="2F4550"/>
      </a:accent1>
      <a:accent2>
        <a:srgbClr val="586F7C"/>
      </a:accent2>
      <a:accent3>
        <a:srgbClr val="9AC4F8"/>
      </a:accent3>
      <a:accent4>
        <a:srgbClr val="FFFECB"/>
      </a:accent4>
      <a:accent5>
        <a:srgbClr val="638475"/>
      </a:accent5>
      <a:accent6>
        <a:srgbClr val="635380"/>
      </a:accent6>
      <a:hlink>
        <a:srgbClr val="FFA38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